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Chào thầy/cô, nhóm chúng em là 4 Hollows. Nhóm đăng ký đề tài xây dựng chatbot RAG hỏi đáp lore Elden Ring base game bằng tiếng Việt và tiếng Anh. Sản phẩm dự kiến có web và Discord dùng chung một backend. Hôm nay nhóm trình bày bài toán, khảo sát ban đầu, phân công và kế hoạch 9 tuần. Thời lượng đề xuất: 10–12 phút cho slide 1–14, slide 15–16 để tham khảo khi hỏi đáp. Thay TV1–TV4 bằng họ tên và MSSV trước khi nộp.</a:t>
            </a:r>
          </a:p>
          <a:p>
            <a:endParaRPr/>
          </a:p>
          <a:p>
            <a:r>
              <a:t>Nguồn tham khảo / hình ảnh:</a:t>
            </a:r>
          </a:p>
          <a:p>
            <a:r>
              <a:t>https://en.bandainamcoent.eu/elden-ring/elden-ring</a:t>
            </a:r>
          </a:p>
          <a:p>
            <a:r>
              <a:t>https://static.bandainamcoent.eu/high/elden-ring/elden-ring/00-page-setup/Elden-Ring-KF01.jpg</a:t>
            </a:r>
          </a:p>
          <a:p>
            <a:r>
              <a:t>Hình ảnh thuộc quyền của chủ sở hữu Elden Ring, sử dụng minh họa học thuật.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mô tả bài toán dự kiến, chưa phải kết quả khảo sát người dùng. Ví dụ đầu vào là “Godrick the Grafted là ai?”. Đầu ra cần trả lời ngắn, đúng ngôn ngữ người hỏi, giữ tên riêng và dẫn đến đoạn nguồn. Khi không đủ bằng chứng, chatbot cần nói rõ giới hạn thay vì suy đoán.</a:t>
            </a:r>
          </a:p>
          <a:p>
            <a:endParaRPr/>
          </a:p>
          <a:p>
            <a:r>
              <a:t>Nguồn tham khảo / hình ảnh:</a:t>
            </a:r>
          </a:p>
          <a:p>
            <a:r>
              <a:t>https://en.bandainamcoent.eu/elden-ring/elden-ring</a:t>
            </a:r>
          </a:p>
          <a:p>
            <a:r>
              <a:t>https://static.bandainamcoent.eu/high/elden-ring/elden-ring/00-page-setup/Elden-Ring-KF02.jpg</a:t>
            </a:r>
          </a:p>
          <a:p>
            <a:r>
              <a:t>Hình ảnh thuộc quyền của chủ sở hữu Elden Ring, sử dụng minh họa học thuật.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tập trung hỏi đáp lore. Bài toán tính sát thương, tối ưu build và voice chat nằm ngoài mục tiêu sản phẩm. Web và Discord là hai giao diện kiểm thử cho cùng hệ thống NLP. Những sản phẩm liệt kê ở đây là đầu ra dự kiến, không tuyên bố đã hoàn thành.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Giữ cố định corpus, tập test và cấu hình sinh khi so sánh. Chúng em sẽ đo mức cải thiện thực tế, không mặc định hybrid hay rerank chắc chắn tốt hơn. Khía cạnh nghiên cứu nằm ở thiết kế đối chứng, đánh giá và phân tích lỗi, không chỉ ở việc gọi API LLM.</a:t>
            </a:r>
          </a:p>
          <a:p>
            <a:endParaRPr/>
          </a:p>
          <a:p>
            <a:r>
              <a:t>Nguồn tham khảo / hình ảnh:</a:t>
            </a:r>
          </a:p>
          <a:p>
            <a:r>
              <a:t>https://arxiv.org/abs/2005.11401</a:t>
            </a:r>
          </a:p>
          <a:p>
            <a:r>
              <a:t>https://qdrant.tech/documentation/search/hybrid-queries/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Survey ban đầu dựa trên bài RAG của Lewis và cộng sự, model card multilingual-e5-small và tài liệu hybrid queries của Qdrant. Bảng này tóm tắt hướng áp dụng, không phải kết quả benchmark của nhóm. Tuần 1 mỗi thành viên phải đọc tài liệu gốc và ghi bài toán, phương pháp, dữ liệu, metric, hạn chế và ý nghĩa đối với IndexBeast.</a:t>
            </a:r>
          </a:p>
          <a:p>
            <a:endParaRPr/>
          </a:p>
          <a:p>
            <a:r>
              <a:t>Nguồn tham khảo / hình ảnh:</a:t>
            </a:r>
          </a:p>
          <a:p>
            <a:r>
              <a:t>https://arxiv.org/abs/2005.11401</a:t>
            </a:r>
          </a:p>
          <a:p>
            <a:r>
              <a:t>https://huggingface.co/intfloat/multilingual-e5-small</a:t>
            </a:r>
          </a:p>
          <a:p>
            <a:r>
              <a:t>https://qdrant.tech/documentation/search/hybrid-queries/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Chưa có thống kê corpus đã crawl trong repo. Không nêu số trang toàn bộ khi chưa đo. Tuần 1 lấy mẫu 20–30 trang, kiểm tra API, quyền sử dụng, cách ghi nguồn và độ sạch. Fan APIs là nguồn ứng viên cho danh sách thực thể, không mặc định đủ lore. wiki.gg chưa truy cập được bằng công cụ khảo sát trong lần chuẩn bị này, nên việc xác minh nguồn vẫn là công việc cần làm. Ảnh minh họa game không phải ảnh dữ liệu đã thu thập.</a:t>
            </a:r>
          </a:p>
          <a:p>
            <a:endParaRPr/>
          </a:p>
          <a:p>
            <a:r>
              <a:t>Nguồn tham khảo / hình ảnh:</a:t>
            </a:r>
          </a:p>
          <a:p>
            <a:r>
              <a:t>https://en.bandainamcoent.eu/elden-ring/elden-ring</a:t>
            </a:r>
          </a:p>
          <a:p>
            <a:r>
              <a:t>https://eldenring.wiki.gg/</a:t>
            </a:r>
          </a:p>
          <a:p>
            <a:r>
              <a:t>https://en.wikipedia.org/wiki/Elden_Ring</a:t>
            </a:r>
          </a:p>
          <a:p>
            <a:r>
              <a:t>https://eldenring.fanapis.com/</a:t>
            </a:r>
          </a:p>
          <a:p>
            <a:r>
              <a:t>https://en.bandainamcoent.eu/elden-ring/elden-ring</a:t>
            </a:r>
          </a:p>
          <a:p>
            <a:r>
              <a:t>https://static.bandainamcoent.eu/high/elden-ring/elden-ring/00-page-setup/Elden-Ring-KF03.jpg</a:t>
            </a:r>
          </a:p>
          <a:p>
            <a:r>
              <a:t>Hình ảnh thuộc quyền của chủ sở hữu Elden Ring, sử dụng minh họa học thuật.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Pipeline offline có thể chạy lại từ artifact từng bước. Pipeline online tìm bằng chứng trước khi sinh. Nguồn số [1], [2] trong câu trả lời phải ánh xạ tới chunk thật; việc có số trích dẫn chưa chứng minh câu trả lời đúng. Luồng này sẽ triển khai dần: dense baseline trước, hybrid và rerank sau.</a:t>
            </a:r>
          </a:p>
          <a:p>
            <a:endParaRPr/>
          </a:p>
          <a:p>
            <a:r>
              <a:t>Nguồn tham khảo / hình ảnh:</a:t>
            </a:r>
          </a:p>
          <a:p>
            <a:r>
              <a:t>https://arxiv.org/abs/2005.11401</a:t>
            </a:r>
          </a:p>
          <a:p>
            <a:r>
              <a:t>https://qdrant.tech/documentation/search/hybrid-queries/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lựa chọn kiến trúc, chưa phải công suất hệ thống đã kiểm chứng. API LLM giúp nhóm có baseline sớm. Adapter gom lời gọi model để đổi nhà cung cấp. Không chốt tên model, giá hoặc RAM khi chưa kiểm tra. Với local, llama.cpp là phương án khảo sát; phải đo tốc độ và chất lượng trên máy thật trước khi chọn.</a:t>
            </a:r>
          </a:p>
          <a:p>
            <a:endParaRPr/>
          </a:p>
          <a:p>
            <a:r>
              <a:t>Nguồn tham khảo / hình ảnh:</a:t>
            </a:r>
          </a:p>
          <a:p>
            <a:r>
              <a:t>https://github.com/ggml-org/llama.cpp/tree/master/tools/server</a:t>
            </a:r>
          </a:p>
          <a:p>
            <a:r>
              <a:t>D:/Index-Beast/docs/04_ARCHITECTURE.md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quy mô đề xuất. Các biến thể câu hỏi gần trùng phải cùng một phía của split để tránh rò rỉ. Tập test chỉ mở sau khi chốt cấu hình. Định nghĩa Recall@k bằng tỷ lệ nguồn liên quan được tìm thấy trong k kết quả trên các câu có nhãn nguồn. MRR là trung bình nghịch đảo hạng của kết quả đúng đầu tiên. Người chấm đối chiếu câu trả lời với nguồn. Nếu dùng LLM-as-judge phải kiểm tra chéo bằng người và ghi rubric.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 định tuần 1 bắt đầu ngày 19/10/2026. Kế hoạch này là đề xuất 9 tuần cho học phần, thay cho mốc 6 tuần khi trình bày. Tuần 1 hoàn tất đăng ký, phân công, bài toán, dữ liệu và survey. Mỗi tuần có sản phẩm bàn giao kiểm tra được, không chỉ ghi “tìm hiểu” hoặc “code”. Tuần 3 có baseline; tuần 5 có pipeline sinh câu trả lời.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Cuối tuần 6 có MVP web và Discord. Tuần 7 tập trung đánh giá, tuần 8 triển khai và lấy feedback. Tuần 9 dành cho sửa lỗi, báo cáo và tập dượt. Nếu chậm tiến độ, giảm trang admin, cache và các tính năng giao diện phụ để giữ đủ thời gian đánh giá NLP.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Điền tên và MSSV trước khi nộp. Mỗi hạng mục có một người chịu trách nhiệm chính và một người review. TV2 và TV3 thống nhất schema chunk; TV1 và TV4 thống nhất API sớm. Cả nhóm cùng đóng góp câu hỏi và review đáp án. Quy trình Git theo docs/quy_uoc.md: feature từ develop, PR và Mentor review trước khi merge.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Tuần 1 không cần tuyên bố hệ thống đã chạy. Đến ngày 25/10, mỗi đầu ra phải có link hoặc file minh chứng. Các số lượng 20–30 trang và 30 câu là mục tiêu tuần 1. Cả nhóm review chéo cuối tuần để chốt phạm vi, dữ liệu, câu hỏi nghiên cứu và kế hoạch. Họp giữa tuần ngắn để gỡ vướng.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ngưỡng chất lượng trong tài liệu cũ là mục tiêu, không phải kết quả đã đạt. Nhóm sẽ hiệu chỉnh sau baseline và công khai cấu hình, phiên bản dữ liệu, giới hạn và các nhóm câu còn sai. Kết bài: nhóm xin đăng ký đề tài và xin góp ý về phạm vi cùng thiết kế đánh giá. Không cần hứa khả năng tải lớn trước khi có số đo.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đọc chi tiết bên dưới. Survey tuần 1 cần bảng so sánh có dẫn nguồn, không chỉ danh sách tên thư viện. Bổ sung tài liệu chính thức về BM25, cross-encoder và hệ thống RAG có đánh giá. Lưu ngày đọc và phân biệt nhận xét của nhóm với kết quả tác giả công bố.</a:t>
            </a:r>
          </a:p>
          <a:p>
            <a:endParaRPr/>
          </a:p>
          <a:p>
            <a:r>
              <a:t>Nguồn tham khảo / hình ảnh:</a:t>
            </a:r>
          </a:p>
          <a:p>
            <a:r>
              <a:t>https://arxiv.org/abs/2005.11401</a:t>
            </a:r>
          </a:p>
          <a:p>
            <a:r>
              <a:t>https://huggingface.co/intfloat/multilingual-e5-small</a:t>
            </a:r>
          </a:p>
          <a:p>
            <a:r>
              <a:t>https://qdrant.tech/documentation/search/hybrid-queries/</a:t>
            </a:r>
          </a:p>
          <a:p>
            <a:r>
              <a:t>https://github.com/ggml-org/llama.cpp/tree/master/tools/server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Trả lời đúng trạng thái thực tế của nhóm. Không trình bày số mục tiêu như kết quả đã đạt. Nếu trường có mẫu đăng ký, lấy tên đề tài, mục tiêu, phương pháp, đầu ra và phân công từ bộ tài liệu này để điền. Nhóm cần bổ sung họ tên, MSSV, lớp và tên giảng viên trước khi nộp.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4CDE41F-CE02-4726-9708-30292F85456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2C3809B-299F-459B-BDD7-23BA5A66931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4A4A173-BA32-4DA0-805C-D9B2FFCCD4C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EEBAD5-CBDB-4C7C-BF35-E67380CE64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0D2BF8C-A48F-4AA3-A924-14BD7BBECB4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0F3B852-FAA0-4946-8863-30934CBF636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AC2FAB7-80D6-42E7-8298-624B81ECFB4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C36C2F4-DAEA-435B-9D02-213B0AFC595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8FDCBF3-73C5-44E5-8744-92A5768E683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41B44DD-9B58-49B7-91F2-3C96C9043B4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81FBE-230C-4475-A099-4747C7EECF91}"/>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6934B990-2C5A-48D9-9EBF-9D4609643F35}"/>
              </a:ext>
            </a:extLst>
          </p:cNvPr>
          <p:cNvSpPr>
            <a:spLocks noGrp="1"/>
          </p:cNvSpPr>
          <p:nvPr/>
        </p:nvSpPr>
        <p:spPr>
          <a:xfrm>
            <a:off x="609600" y="1619250"/>
            <a:ext cx="6191250" cy="952500"/>
          </a:xfrm>
          <a:prstGeom prst="rect">
            <a:avLst/>
          </a:prstGeom>
          <a:noFill/>
          <a:ln w="0">
            <a:noFill/>
          </a:ln>
        </p:spPr>
        <p:txBody>
          <a:bodyPr/>
          <a:lstStyle>
            <a:defPPr>
              <a:defRPr sz="5700" b="1">
                <a:solidFill>
                  <a:srgbClr val="F1EBDD"/>
                </a:solidFill>
                <a:latin typeface="Arial"/>
                <a:ea typeface="Arial"/>
                <a:cs typeface="Arial"/>
              </a:defRPr>
            </a:defPPr>
            <a:lvl1pPr>
              <a:defRPr sz="5700" b="1">
                <a:solidFill>
                  <a:srgbClr val="F1EBDD"/>
                </a:solidFill>
                <a:latin typeface="Arial"/>
                <a:ea typeface="Arial"/>
                <a:cs typeface="Arial"/>
              </a:defRPr>
            </a:lvl1pPr>
            <a:lvl2pPr>
              <a:defRPr sz="5700" b="1">
                <a:solidFill>
                  <a:srgbClr val="F1EBDD"/>
                </a:solidFill>
                <a:latin typeface="Arial"/>
                <a:ea typeface="Arial"/>
                <a:cs typeface="Arial"/>
              </a:defRPr>
            </a:lvl2pPr>
            <a:lvl3pPr>
              <a:defRPr sz="5700" b="1">
                <a:solidFill>
                  <a:srgbClr val="F1EBDD"/>
                </a:solidFill>
                <a:latin typeface="Arial"/>
                <a:ea typeface="Arial"/>
                <a:cs typeface="Arial"/>
              </a:defRPr>
            </a:lvl3pPr>
            <a:lvl4pPr>
              <a:defRPr sz="5700" b="1">
                <a:solidFill>
                  <a:srgbClr val="F1EBDD"/>
                </a:solidFill>
                <a:latin typeface="Arial"/>
                <a:ea typeface="Arial"/>
                <a:cs typeface="Arial"/>
              </a:defRPr>
            </a:lvl4pPr>
            <a:lvl5pPr>
              <a:defRPr sz="5700" b="1">
                <a:solidFill>
                  <a:srgbClr val="F1EBDD"/>
                </a:solidFill>
                <a:latin typeface="Arial"/>
                <a:ea typeface="Arial"/>
                <a:cs typeface="Arial"/>
              </a:defRPr>
            </a:lvl5pPr>
            <a:lvl6pPr>
              <a:defRPr sz="5700" b="1">
                <a:solidFill>
                  <a:srgbClr val="F1EBDD"/>
                </a:solidFill>
                <a:latin typeface="Arial"/>
                <a:ea typeface="Arial"/>
                <a:cs typeface="Arial"/>
              </a:defRPr>
            </a:lvl6pPr>
            <a:lvl7pPr>
              <a:defRPr sz="5700" b="1">
                <a:solidFill>
                  <a:srgbClr val="F1EBDD"/>
                </a:solidFill>
                <a:latin typeface="Arial"/>
                <a:ea typeface="Arial"/>
                <a:cs typeface="Arial"/>
              </a:defRPr>
            </a:lvl7pPr>
            <a:lvl8pPr>
              <a:defRPr sz="5700" b="1">
                <a:solidFill>
                  <a:srgbClr val="F1EBDD"/>
                </a:solidFill>
                <a:latin typeface="Arial"/>
                <a:ea typeface="Arial"/>
                <a:cs typeface="Arial"/>
              </a:defRPr>
            </a:lvl8pPr>
            <a:lvl9pPr>
              <a:defRPr sz="5700" b="1">
                <a:solidFill>
                  <a:srgbClr val="F1EBDD"/>
                </a:solidFill>
                <a:latin typeface="Arial"/>
                <a:ea typeface="Arial"/>
                <a:cs typeface="Arial"/>
              </a:defRPr>
            </a:lvl9pPr>
          </a:lstStyle>
          <a:p>
            <a:pPr>
              <a:defRPr sz="5700" b="1">
                <a:solidFill>
                  <a:srgbClr val="F1EBDD"/>
                </a:solidFill>
                <a:latin typeface="Arial"/>
                <a:ea typeface="Arial"/>
                <a:cs typeface="Arial"/>
              </a:defRPr>
            </a:pPr>
            <a:r>
              <a:rPr sz="5700" b="1">
                <a:solidFill>
                  <a:srgbClr val="F1EBDD"/>
                </a:solidFill>
                <a:latin typeface="Arial"/>
                <a:ea typeface="Arial"/>
                <a:cs typeface="Arial"/>
              </a:rPr>
              <a:t>IndexBeast</a:t>
            </a:r>
          </a:p>
        </p:txBody>
      </p:sp>
      <p:pic>
        <p:nvPicPr>
          <p:cNvPr id="3" name="Picture 2">
            <a:extLst>
              <a:ext uri="{FF2B5EF4-FFF2-40B4-BE49-F238E27FC236}">
                <a16:creationId xmlns:a16="http://schemas.microsoft.com/office/drawing/2014/main" id="{AC0F0710-4CE6-4ED8-BB42-00A4167D777A}"/>
              </a:ext>
            </a:extLst>
          </p:cNvPr>
          <p:cNvPicPr>
            <a:picLocks noChangeAspect="1"/>
          </p:cNvPicPr>
          <p:nvPr/>
        </p:nvPicPr>
        <p:blipFill>
          <a:blip r:embed="rId3"/>
          <a:srcRect l="30859" r="30859"/>
          <a:stretch>
            <a:fillRect/>
          </a:stretch>
        </p:blipFill>
        <p:spPr>
          <a:xfrm>
            <a:off x="7530887" y="12274"/>
            <a:ext cx="4667250" cy="6858000"/>
          </a:xfrm>
          <a:prstGeom prst="rect">
            <a:avLst/>
          </a:prstGeom>
        </p:spPr>
      </p:pic>
      <p:sp>
        <p:nvSpPr>
          <p:cNvPr id="4" name="Rectangle 3">
            <a:extLst>
              <a:ext uri="{FF2B5EF4-FFF2-40B4-BE49-F238E27FC236}">
                <a16:creationId xmlns:a16="http://schemas.microsoft.com/office/drawing/2014/main" id="{7C9FCBDE-3169-462B-80B8-90BE1F01BA9A}"/>
              </a:ext>
            </a:extLst>
          </p:cNvPr>
          <p:cNvSpPr>
            <a:spLocks noGrp="1"/>
          </p:cNvSpPr>
          <p:nvPr/>
        </p:nvSpPr>
        <p:spPr>
          <a:xfrm>
            <a:off x="609600" y="2781300"/>
            <a:ext cx="6572250" cy="1428750"/>
          </a:xfrm>
          <a:prstGeom prst="rect">
            <a:avLst/>
          </a:prstGeom>
          <a:noFill/>
          <a:ln w="0">
            <a:noFill/>
          </a:ln>
        </p:spPr>
        <p:txBody>
          <a:bodyPr/>
          <a:lstStyle>
            <a:defPPr>
              <a:defRPr sz="2850" b="0">
                <a:solidFill>
                  <a:srgbClr val="D3B777"/>
                </a:solidFill>
                <a:latin typeface="Arial"/>
                <a:ea typeface="Arial"/>
                <a:cs typeface="Arial"/>
              </a:defRPr>
            </a:defPPr>
            <a:lvl1pPr>
              <a:defRPr sz="2850" b="0">
                <a:solidFill>
                  <a:srgbClr val="D3B777"/>
                </a:solidFill>
                <a:latin typeface="Arial"/>
                <a:ea typeface="Arial"/>
                <a:cs typeface="Arial"/>
              </a:defRPr>
            </a:lvl1pPr>
            <a:lvl2pPr>
              <a:defRPr sz="2850" b="0">
                <a:solidFill>
                  <a:srgbClr val="D3B777"/>
                </a:solidFill>
                <a:latin typeface="Arial"/>
                <a:ea typeface="Arial"/>
                <a:cs typeface="Arial"/>
              </a:defRPr>
            </a:lvl2pPr>
            <a:lvl3pPr>
              <a:defRPr sz="2850" b="0">
                <a:solidFill>
                  <a:srgbClr val="D3B777"/>
                </a:solidFill>
                <a:latin typeface="Arial"/>
                <a:ea typeface="Arial"/>
                <a:cs typeface="Arial"/>
              </a:defRPr>
            </a:lvl3pPr>
            <a:lvl4pPr>
              <a:defRPr sz="2850" b="0">
                <a:solidFill>
                  <a:srgbClr val="D3B777"/>
                </a:solidFill>
                <a:latin typeface="Arial"/>
                <a:ea typeface="Arial"/>
                <a:cs typeface="Arial"/>
              </a:defRPr>
            </a:lvl4pPr>
            <a:lvl5pPr>
              <a:defRPr sz="2850" b="0">
                <a:solidFill>
                  <a:srgbClr val="D3B777"/>
                </a:solidFill>
                <a:latin typeface="Arial"/>
                <a:ea typeface="Arial"/>
                <a:cs typeface="Arial"/>
              </a:defRPr>
            </a:lvl5pPr>
            <a:lvl6pPr>
              <a:defRPr sz="2850" b="0">
                <a:solidFill>
                  <a:srgbClr val="D3B777"/>
                </a:solidFill>
                <a:latin typeface="Arial"/>
                <a:ea typeface="Arial"/>
                <a:cs typeface="Arial"/>
              </a:defRPr>
            </a:lvl6pPr>
            <a:lvl7pPr>
              <a:defRPr sz="2850" b="0">
                <a:solidFill>
                  <a:srgbClr val="D3B777"/>
                </a:solidFill>
                <a:latin typeface="Arial"/>
                <a:ea typeface="Arial"/>
                <a:cs typeface="Arial"/>
              </a:defRPr>
            </a:lvl7pPr>
            <a:lvl8pPr>
              <a:defRPr sz="2850" b="0">
                <a:solidFill>
                  <a:srgbClr val="D3B777"/>
                </a:solidFill>
                <a:latin typeface="Arial"/>
                <a:ea typeface="Arial"/>
                <a:cs typeface="Arial"/>
              </a:defRPr>
            </a:lvl8pPr>
            <a:lvl9pPr>
              <a:defRPr sz="2850" b="0">
                <a:solidFill>
                  <a:srgbClr val="D3B777"/>
                </a:solidFill>
                <a:latin typeface="Arial"/>
                <a:ea typeface="Arial"/>
                <a:cs typeface="Arial"/>
              </a:defRPr>
            </a:lvl9pPr>
          </a:lstStyle>
          <a:p>
            <a:pPr>
              <a:defRPr sz="2850" b="0">
                <a:solidFill>
                  <a:srgbClr val="D3B777"/>
                </a:solidFill>
                <a:latin typeface="Arial"/>
                <a:ea typeface="Arial"/>
                <a:cs typeface="Arial"/>
              </a:defRPr>
            </a:pPr>
            <a:r>
              <a:rPr sz="2850" b="0">
                <a:solidFill>
                  <a:srgbClr val="D3B777"/>
                </a:solidFill>
                <a:latin typeface="Arial"/>
                <a:ea typeface="Arial"/>
                <a:cs typeface="Arial"/>
              </a:rPr>
              <a:t>Chatbot RAG hỏi đáp lore</a:t>
            </a:r>
          </a:p>
          <a:p>
            <a:pPr>
              <a:defRPr sz="2850" b="0">
                <a:solidFill>
                  <a:srgbClr val="D3B777"/>
                </a:solidFill>
                <a:latin typeface="Arial"/>
                <a:ea typeface="Arial"/>
                <a:cs typeface="Arial"/>
              </a:defRPr>
            </a:pPr>
            <a:r>
              <a:rPr sz="2850" b="0">
                <a:solidFill>
                  <a:srgbClr val="D3B777"/>
                </a:solidFill>
                <a:latin typeface="Arial"/>
                <a:ea typeface="Arial"/>
                <a:cs typeface="Arial"/>
              </a:rPr>
              <a:t>Elden Ring base game</a:t>
            </a:r>
          </a:p>
        </p:txBody>
      </p:sp>
      <p:sp>
        <p:nvSpPr>
          <p:cNvPr id="5" name="Rectangle 4">
            <a:extLst>
              <a:ext uri="{FF2B5EF4-FFF2-40B4-BE49-F238E27FC236}">
                <a16:creationId xmlns:a16="http://schemas.microsoft.com/office/drawing/2014/main" id="{A2C000FC-535D-4E08-BE3B-A8AA3A335D19}"/>
              </a:ext>
            </a:extLst>
          </p:cNvPr>
          <p:cNvSpPr>
            <a:spLocks noGrp="1"/>
          </p:cNvSpPr>
          <p:nvPr/>
        </p:nvSpPr>
        <p:spPr>
          <a:xfrm>
            <a:off x="609600" y="4810125"/>
            <a:ext cx="6477000" cy="952500"/>
          </a:xfrm>
          <a:prstGeom prst="rect">
            <a:avLst/>
          </a:prstGeom>
          <a:noFill/>
          <a:ln w="0">
            <a:noFill/>
          </a:ln>
        </p:spPr>
        <p:txBody>
          <a:bodyPr/>
          <a:lstStyle>
            <a:defPPr>
              <a:defRPr sz="1875" b="0">
                <a:solidFill>
                  <a:srgbClr val="BDC7C5"/>
                </a:solidFill>
                <a:latin typeface="Arial"/>
                <a:ea typeface="Arial"/>
                <a:cs typeface="Arial"/>
              </a:defRPr>
            </a:defPPr>
            <a:lvl1pPr>
              <a:defRPr sz="1875" b="0">
                <a:solidFill>
                  <a:srgbClr val="BDC7C5"/>
                </a:solidFill>
                <a:latin typeface="Arial"/>
                <a:ea typeface="Arial"/>
                <a:cs typeface="Arial"/>
              </a:defRPr>
            </a:lvl1pPr>
            <a:lvl2pPr>
              <a:defRPr sz="1875" b="0">
                <a:solidFill>
                  <a:srgbClr val="BDC7C5"/>
                </a:solidFill>
                <a:latin typeface="Arial"/>
                <a:ea typeface="Arial"/>
                <a:cs typeface="Arial"/>
              </a:defRPr>
            </a:lvl2pPr>
            <a:lvl3pPr>
              <a:defRPr sz="1875" b="0">
                <a:solidFill>
                  <a:srgbClr val="BDC7C5"/>
                </a:solidFill>
                <a:latin typeface="Arial"/>
                <a:ea typeface="Arial"/>
                <a:cs typeface="Arial"/>
              </a:defRPr>
            </a:lvl3pPr>
            <a:lvl4pPr>
              <a:defRPr sz="1875" b="0">
                <a:solidFill>
                  <a:srgbClr val="BDC7C5"/>
                </a:solidFill>
                <a:latin typeface="Arial"/>
                <a:ea typeface="Arial"/>
                <a:cs typeface="Arial"/>
              </a:defRPr>
            </a:lvl4pPr>
            <a:lvl5pPr>
              <a:defRPr sz="1875" b="0">
                <a:solidFill>
                  <a:srgbClr val="BDC7C5"/>
                </a:solidFill>
                <a:latin typeface="Arial"/>
                <a:ea typeface="Arial"/>
                <a:cs typeface="Arial"/>
              </a:defRPr>
            </a:lvl5pPr>
            <a:lvl6pPr>
              <a:defRPr sz="1875" b="0">
                <a:solidFill>
                  <a:srgbClr val="BDC7C5"/>
                </a:solidFill>
                <a:latin typeface="Arial"/>
                <a:ea typeface="Arial"/>
                <a:cs typeface="Arial"/>
              </a:defRPr>
            </a:lvl6pPr>
            <a:lvl7pPr>
              <a:defRPr sz="1875" b="0">
                <a:solidFill>
                  <a:srgbClr val="BDC7C5"/>
                </a:solidFill>
                <a:latin typeface="Arial"/>
                <a:ea typeface="Arial"/>
                <a:cs typeface="Arial"/>
              </a:defRPr>
            </a:lvl7pPr>
            <a:lvl8pPr>
              <a:defRPr sz="1875" b="0">
                <a:solidFill>
                  <a:srgbClr val="BDC7C5"/>
                </a:solidFill>
                <a:latin typeface="Arial"/>
                <a:ea typeface="Arial"/>
                <a:cs typeface="Arial"/>
              </a:defRPr>
            </a:lvl8pPr>
            <a:lvl9pPr>
              <a:defRPr sz="1875" b="0">
                <a:solidFill>
                  <a:srgbClr val="BDC7C5"/>
                </a:solidFill>
                <a:latin typeface="Arial"/>
                <a:ea typeface="Arial"/>
                <a:cs typeface="Arial"/>
              </a:defRPr>
            </a:lvl9pPr>
          </a:lstStyle>
          <a:p>
            <a:pPr>
              <a:defRPr sz="1875" b="0">
                <a:solidFill>
                  <a:srgbClr val="BDC7C5"/>
                </a:solidFill>
                <a:latin typeface="Arial"/>
                <a:ea typeface="Arial"/>
                <a:cs typeface="Arial"/>
              </a:defRPr>
            </a:pPr>
            <a:endParaRPr sz="1875" b="0" dirty="0">
              <a:solidFill>
                <a:srgbClr val="BDC7C5"/>
              </a:solidFill>
              <a:latin typeface="Arial"/>
              <a:ea typeface="Arial"/>
              <a:cs typeface="Arial"/>
            </a:endParaRPr>
          </a:p>
        </p:txBody>
      </p:sp>
      <p:sp>
        <p:nvSpPr>
          <p:cNvPr id="6" name="Rectangle 5">
            <a:extLst>
              <a:ext uri="{FF2B5EF4-FFF2-40B4-BE49-F238E27FC236}">
                <a16:creationId xmlns:a16="http://schemas.microsoft.com/office/drawing/2014/main" id="{0F30B631-DEBF-4C28-935F-7B611195EB7F}"/>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01</a:t>
            </a:r>
          </a:p>
        </p:txBody>
      </p:sp>
    </p:spTree>
    <p:extLst>
      <p:ext uri="{BB962C8B-B14F-4D97-AF65-F5344CB8AC3E}">
        <p14:creationId xmlns:p14="http://schemas.microsoft.com/office/powerpoint/2010/main" val="1049578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C56B61-0F64-43B9-8A70-8C93ACC11F1E}"/>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55D6689A-6E4B-4AC2-AC3F-85953C072C5C}"/>
              </a:ext>
            </a:extLst>
          </p:cNvPr>
          <p:cNvSpPr>
            <a:spLocks noGrp="1"/>
          </p:cNvSpPr>
          <p:nvPr/>
        </p:nvSpPr>
        <p:spPr>
          <a:xfrm>
            <a:off x="609600" y="809625"/>
            <a:ext cx="61912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Bài toán và người sử dụng</a:t>
            </a:r>
          </a:p>
        </p:txBody>
      </p:sp>
      <p:pic>
        <p:nvPicPr>
          <p:cNvPr id="3" name="Picture 2">
            <a:extLst>
              <a:ext uri="{FF2B5EF4-FFF2-40B4-BE49-F238E27FC236}">
                <a16:creationId xmlns:a16="http://schemas.microsoft.com/office/drawing/2014/main" id="{C3DBBE10-1399-4155-BD02-097B4E365D90}"/>
              </a:ext>
            </a:extLst>
          </p:cNvPr>
          <p:cNvPicPr>
            <a:picLocks noChangeAspect="1"/>
          </p:cNvPicPr>
          <p:nvPr/>
        </p:nvPicPr>
        <p:blipFill>
          <a:blip r:embed="rId3"/>
          <a:srcRect l="30859" r="30859"/>
          <a:stretch>
            <a:fillRect/>
          </a:stretch>
        </p:blipFill>
        <p:spPr>
          <a:xfrm>
            <a:off x="7524750" y="0"/>
            <a:ext cx="4667250" cy="6858000"/>
          </a:xfrm>
          <a:prstGeom prst="rect">
            <a:avLst/>
          </a:prstGeom>
        </p:spPr>
      </p:pic>
      <p:sp>
        <p:nvSpPr>
          <p:cNvPr id="4" name="Rectangle 3">
            <a:extLst>
              <a:ext uri="{FF2B5EF4-FFF2-40B4-BE49-F238E27FC236}">
                <a16:creationId xmlns:a16="http://schemas.microsoft.com/office/drawing/2014/main" id="{47740727-F1CE-4E54-B543-D4BEF2973A95}"/>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5" name="Rectangle 4">
            <a:extLst>
              <a:ext uri="{FF2B5EF4-FFF2-40B4-BE49-F238E27FC236}">
                <a16:creationId xmlns:a16="http://schemas.microsoft.com/office/drawing/2014/main" id="{4CC942A6-B2D2-4141-9F68-276FE9333AD1}"/>
              </a:ext>
            </a:extLst>
          </p:cNvPr>
          <p:cNvSpPr>
            <a:spLocks noGrp="1"/>
          </p:cNvSpPr>
          <p:nvPr/>
        </p:nvSpPr>
        <p:spPr>
          <a:xfrm>
            <a:off x="1285875" y="2000250"/>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dirty="0" err="1">
                <a:solidFill>
                  <a:srgbClr val="F1EBDD"/>
                </a:solidFill>
                <a:latin typeface="Arial"/>
                <a:ea typeface="Arial"/>
                <a:cs typeface="Arial"/>
              </a:rPr>
              <a:t>Người</a:t>
            </a:r>
            <a:r>
              <a:rPr sz="2025" b="0" dirty="0">
                <a:solidFill>
                  <a:srgbClr val="F1EBDD"/>
                </a:solidFill>
                <a:latin typeface="Arial"/>
                <a:ea typeface="Arial"/>
                <a:cs typeface="Arial"/>
              </a:rPr>
              <a:t> </a:t>
            </a:r>
            <a:r>
              <a:rPr sz="2025" b="0" dirty="0" err="1">
                <a:solidFill>
                  <a:srgbClr val="F1EBDD"/>
                </a:solidFill>
                <a:latin typeface="Arial"/>
                <a:ea typeface="Arial"/>
                <a:cs typeface="Arial"/>
              </a:rPr>
              <a:t>chơi</a:t>
            </a:r>
            <a:r>
              <a:rPr sz="2025" b="0" dirty="0">
                <a:solidFill>
                  <a:srgbClr val="F1EBDD"/>
                </a:solidFill>
                <a:latin typeface="Arial"/>
                <a:ea typeface="Arial"/>
                <a:cs typeface="Arial"/>
              </a:rPr>
              <a:t> </a:t>
            </a:r>
            <a:r>
              <a:rPr sz="2025" b="0" dirty="0" err="1">
                <a:solidFill>
                  <a:srgbClr val="F1EBDD"/>
                </a:solidFill>
                <a:latin typeface="Arial"/>
                <a:ea typeface="Arial"/>
                <a:cs typeface="Arial"/>
              </a:rPr>
              <a:t>hỏi</a:t>
            </a:r>
            <a:r>
              <a:rPr sz="2025" b="0" dirty="0">
                <a:solidFill>
                  <a:srgbClr val="F1EBDD"/>
                </a:solidFill>
                <a:latin typeface="Arial"/>
                <a:ea typeface="Arial"/>
                <a:cs typeface="Arial"/>
              </a:rPr>
              <a:t> </a:t>
            </a:r>
            <a:r>
              <a:rPr sz="2025" b="0" dirty="0" err="1">
                <a:solidFill>
                  <a:srgbClr val="F1EBDD"/>
                </a:solidFill>
                <a:latin typeface="Arial"/>
                <a:ea typeface="Arial"/>
                <a:cs typeface="Arial"/>
              </a:rPr>
              <a:t>về</a:t>
            </a:r>
            <a:r>
              <a:rPr sz="2025" b="0" dirty="0">
                <a:solidFill>
                  <a:srgbClr val="F1EBDD"/>
                </a:solidFill>
                <a:latin typeface="Arial"/>
                <a:ea typeface="Arial"/>
                <a:cs typeface="Arial"/>
              </a:rPr>
              <a:t> </a:t>
            </a:r>
            <a:r>
              <a:rPr sz="2025" b="0" dirty="0" err="1">
                <a:solidFill>
                  <a:srgbClr val="F1EBDD"/>
                </a:solidFill>
                <a:latin typeface="Arial"/>
                <a:ea typeface="Arial"/>
                <a:cs typeface="Arial"/>
              </a:rPr>
              <a:t>nhân</a:t>
            </a:r>
            <a:r>
              <a:rPr sz="2025" b="0" dirty="0">
                <a:solidFill>
                  <a:srgbClr val="F1EBDD"/>
                </a:solidFill>
                <a:latin typeface="Arial"/>
                <a:ea typeface="Arial"/>
                <a:cs typeface="Arial"/>
              </a:rPr>
              <a:t> </a:t>
            </a:r>
            <a:r>
              <a:rPr sz="2025" b="0" dirty="0" err="1">
                <a:solidFill>
                  <a:srgbClr val="F1EBDD"/>
                </a:solidFill>
                <a:latin typeface="Arial"/>
                <a:ea typeface="Arial"/>
                <a:cs typeface="Arial"/>
              </a:rPr>
              <a:t>vật</a:t>
            </a:r>
            <a:r>
              <a:rPr sz="2025" b="0" dirty="0">
                <a:solidFill>
                  <a:srgbClr val="F1EBDD"/>
                </a:solidFill>
                <a:latin typeface="Arial"/>
                <a:ea typeface="Arial"/>
                <a:cs typeface="Arial"/>
              </a:rPr>
              <a:t>, </a:t>
            </a:r>
            <a:r>
              <a:rPr sz="2025" b="0" dirty="0" err="1">
                <a:solidFill>
                  <a:srgbClr val="F1EBDD"/>
                </a:solidFill>
                <a:latin typeface="Arial"/>
                <a:ea typeface="Arial"/>
                <a:cs typeface="Arial"/>
              </a:rPr>
              <a:t>sự</a:t>
            </a:r>
            <a:r>
              <a:rPr sz="2025" b="0" dirty="0">
                <a:solidFill>
                  <a:srgbClr val="F1EBDD"/>
                </a:solidFill>
                <a:latin typeface="Arial"/>
                <a:ea typeface="Arial"/>
                <a:cs typeface="Arial"/>
              </a:rPr>
              <a:t> </a:t>
            </a:r>
            <a:r>
              <a:rPr sz="2025" b="0" dirty="0" err="1">
                <a:solidFill>
                  <a:srgbClr val="F1EBDD"/>
                </a:solidFill>
                <a:latin typeface="Arial"/>
                <a:ea typeface="Arial"/>
                <a:cs typeface="Arial"/>
              </a:rPr>
              <a:t>kiện</a:t>
            </a:r>
            <a:r>
              <a:rPr sz="2025" b="0" dirty="0">
                <a:solidFill>
                  <a:srgbClr val="F1EBDD"/>
                </a:solidFill>
                <a:latin typeface="Arial"/>
                <a:ea typeface="Arial"/>
                <a:cs typeface="Arial"/>
              </a:rPr>
              <a:t>, </a:t>
            </a:r>
            <a:r>
              <a:rPr sz="2025" b="0" dirty="0" err="1">
                <a:solidFill>
                  <a:srgbClr val="F1EBDD"/>
                </a:solidFill>
                <a:latin typeface="Arial"/>
                <a:ea typeface="Arial"/>
                <a:cs typeface="Arial"/>
              </a:rPr>
              <a:t>địa</a:t>
            </a:r>
            <a:r>
              <a:rPr sz="2025" b="0" dirty="0">
                <a:solidFill>
                  <a:srgbClr val="F1EBDD"/>
                </a:solidFill>
                <a:latin typeface="Arial"/>
                <a:ea typeface="Arial"/>
                <a:cs typeface="Arial"/>
              </a:rPr>
              <a:t> </a:t>
            </a:r>
            <a:r>
              <a:rPr sz="2025" b="0" dirty="0" err="1">
                <a:solidFill>
                  <a:srgbClr val="F1EBDD"/>
                </a:solidFill>
                <a:latin typeface="Arial"/>
                <a:ea typeface="Arial"/>
                <a:cs typeface="Arial"/>
              </a:rPr>
              <a:t>điểm</a:t>
            </a:r>
            <a:r>
              <a:rPr sz="2025" b="0" dirty="0">
                <a:solidFill>
                  <a:srgbClr val="F1EBDD"/>
                </a:solidFill>
                <a:latin typeface="Arial"/>
                <a:ea typeface="Arial"/>
                <a:cs typeface="Arial"/>
              </a:rPr>
              <a:t> </a:t>
            </a:r>
            <a:r>
              <a:rPr sz="2025" b="0" dirty="0" err="1">
                <a:solidFill>
                  <a:srgbClr val="F1EBDD"/>
                </a:solidFill>
                <a:latin typeface="Arial"/>
                <a:ea typeface="Arial"/>
                <a:cs typeface="Arial"/>
              </a:rPr>
              <a:t>và</a:t>
            </a:r>
            <a:r>
              <a:rPr sz="2025" b="0" dirty="0">
                <a:solidFill>
                  <a:srgbClr val="F1EBDD"/>
                </a:solidFill>
                <a:latin typeface="Arial"/>
                <a:ea typeface="Arial"/>
                <a:cs typeface="Arial"/>
              </a:rPr>
              <a:t> </a:t>
            </a:r>
            <a:r>
              <a:rPr sz="2025" b="0" dirty="0" err="1">
                <a:solidFill>
                  <a:srgbClr val="F1EBDD"/>
                </a:solidFill>
                <a:latin typeface="Arial"/>
                <a:ea typeface="Arial"/>
                <a:cs typeface="Arial"/>
              </a:rPr>
              <a:t>mô</a:t>
            </a:r>
            <a:r>
              <a:rPr sz="2025" b="0" dirty="0">
                <a:solidFill>
                  <a:srgbClr val="F1EBDD"/>
                </a:solidFill>
                <a:latin typeface="Arial"/>
                <a:ea typeface="Arial"/>
                <a:cs typeface="Arial"/>
              </a:rPr>
              <a:t> </a:t>
            </a:r>
            <a:r>
              <a:rPr sz="2025" b="0" dirty="0" err="1">
                <a:solidFill>
                  <a:srgbClr val="F1EBDD"/>
                </a:solidFill>
                <a:latin typeface="Arial"/>
                <a:ea typeface="Arial"/>
                <a:cs typeface="Arial"/>
              </a:rPr>
              <a:t>tả</a:t>
            </a:r>
            <a:r>
              <a:rPr sz="2025" b="0" dirty="0">
                <a:solidFill>
                  <a:srgbClr val="F1EBDD"/>
                </a:solidFill>
                <a:latin typeface="Arial"/>
                <a:ea typeface="Arial"/>
                <a:cs typeface="Arial"/>
              </a:rPr>
              <a:t> </a:t>
            </a:r>
            <a:r>
              <a:rPr sz="2025" b="0" dirty="0" err="1">
                <a:solidFill>
                  <a:srgbClr val="F1EBDD"/>
                </a:solidFill>
                <a:latin typeface="Arial"/>
                <a:ea typeface="Arial"/>
                <a:cs typeface="Arial"/>
              </a:rPr>
              <a:t>vật</a:t>
            </a:r>
            <a:r>
              <a:rPr sz="2025" b="0" dirty="0">
                <a:solidFill>
                  <a:srgbClr val="F1EBDD"/>
                </a:solidFill>
                <a:latin typeface="Arial"/>
                <a:ea typeface="Arial"/>
                <a:cs typeface="Arial"/>
              </a:rPr>
              <a:t> </a:t>
            </a:r>
            <a:r>
              <a:rPr sz="2025" b="0" dirty="0" err="1">
                <a:solidFill>
                  <a:srgbClr val="F1EBDD"/>
                </a:solidFill>
                <a:latin typeface="Arial"/>
                <a:ea typeface="Arial"/>
                <a:cs typeface="Arial"/>
              </a:rPr>
              <a:t>phẩm</a:t>
            </a:r>
            <a:r>
              <a:rPr sz="2025" b="0" dirty="0">
                <a:solidFill>
                  <a:srgbClr val="F1EBDD"/>
                </a:solidFill>
                <a:latin typeface="Arial"/>
                <a:ea typeface="Arial"/>
                <a:cs typeface="Arial"/>
              </a:rPr>
              <a:t>.</a:t>
            </a:r>
          </a:p>
        </p:txBody>
      </p:sp>
      <p:sp>
        <p:nvSpPr>
          <p:cNvPr id="6" name="Rectangle 5">
            <a:extLst>
              <a:ext uri="{FF2B5EF4-FFF2-40B4-BE49-F238E27FC236}">
                <a16:creationId xmlns:a16="http://schemas.microsoft.com/office/drawing/2014/main" id="{7FE38DAF-7AAF-489A-B107-FB5215891F69}"/>
              </a:ext>
            </a:extLst>
          </p:cNvPr>
          <p:cNvSpPr>
            <a:spLocks noGrp="1"/>
          </p:cNvSpPr>
          <p:nvPr/>
        </p:nvSpPr>
        <p:spPr>
          <a:xfrm>
            <a:off x="609600" y="32575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7" name="Rectangle 6">
            <a:extLst>
              <a:ext uri="{FF2B5EF4-FFF2-40B4-BE49-F238E27FC236}">
                <a16:creationId xmlns:a16="http://schemas.microsoft.com/office/drawing/2014/main" id="{A1067F4F-01EF-4AC3-AE0A-72886E4F772C}"/>
              </a:ext>
            </a:extLst>
          </p:cNvPr>
          <p:cNvSpPr>
            <a:spLocks noGrp="1"/>
          </p:cNvSpPr>
          <p:nvPr/>
        </p:nvSpPr>
        <p:spPr>
          <a:xfrm>
            <a:off x="1285875" y="3209925"/>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a:solidFill>
                  <a:srgbClr val="F1EBDD"/>
                </a:solidFill>
                <a:latin typeface="Arial"/>
                <a:ea typeface="Arial"/>
                <a:cs typeface="Arial"/>
              </a:rPr>
              <a:t>Thông tin nằm rải rác trong các trang và đoạn văn khác nhau.</a:t>
            </a:r>
          </a:p>
        </p:txBody>
      </p:sp>
      <p:sp>
        <p:nvSpPr>
          <p:cNvPr id="8" name="Rectangle 7">
            <a:extLst>
              <a:ext uri="{FF2B5EF4-FFF2-40B4-BE49-F238E27FC236}">
                <a16:creationId xmlns:a16="http://schemas.microsoft.com/office/drawing/2014/main" id="{BC890A3E-9516-471B-AD94-7956ACC75D33}"/>
              </a:ext>
            </a:extLst>
          </p:cNvPr>
          <p:cNvSpPr>
            <a:spLocks noGrp="1"/>
          </p:cNvSpPr>
          <p:nvPr/>
        </p:nvSpPr>
        <p:spPr>
          <a:xfrm>
            <a:off x="609600" y="44672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9" name="Rectangle 8">
            <a:extLst>
              <a:ext uri="{FF2B5EF4-FFF2-40B4-BE49-F238E27FC236}">
                <a16:creationId xmlns:a16="http://schemas.microsoft.com/office/drawing/2014/main" id="{A6E3C956-D3A1-4A12-80DE-33221A1ED18B}"/>
              </a:ext>
            </a:extLst>
          </p:cNvPr>
          <p:cNvSpPr>
            <a:spLocks noGrp="1"/>
          </p:cNvSpPr>
          <p:nvPr/>
        </p:nvSpPr>
        <p:spPr>
          <a:xfrm>
            <a:off x="1285875" y="4419600"/>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a:solidFill>
                  <a:srgbClr val="F1EBDD"/>
                </a:solidFill>
                <a:latin typeface="Arial"/>
                <a:ea typeface="Arial"/>
                <a:cs typeface="Arial"/>
              </a:rPr>
              <a:t>Sinh viên và giảng viên cần thử chatbot, mở nguồn và kiểm tra câu trả lời.</a:t>
            </a:r>
          </a:p>
        </p:txBody>
      </p:sp>
      <p:sp>
        <p:nvSpPr>
          <p:cNvPr id="10" name="Rectangle 9">
            <a:extLst>
              <a:ext uri="{FF2B5EF4-FFF2-40B4-BE49-F238E27FC236}">
                <a16:creationId xmlns:a16="http://schemas.microsoft.com/office/drawing/2014/main" id="{09A5BB01-605A-41DD-8465-8310DD818D01}"/>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02</a:t>
            </a:r>
          </a:p>
        </p:txBody>
      </p:sp>
    </p:spTree>
    <p:extLst>
      <p:ext uri="{BB962C8B-B14F-4D97-AF65-F5344CB8AC3E}">
        <p14:creationId xmlns:p14="http://schemas.microsoft.com/office/powerpoint/2010/main" val="380571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208A08D-B182-421E-8F09-66045C3E005C}"/>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8A63DFD4-871D-449F-BA95-58C01BFAA8C5}"/>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Phạm vi và sản phẩm dự kiến</a:t>
            </a:r>
          </a:p>
        </p:txBody>
      </p:sp>
      <p:sp>
        <p:nvSpPr>
          <p:cNvPr id="3" name="Rectangle 2">
            <a:extLst>
              <a:ext uri="{FF2B5EF4-FFF2-40B4-BE49-F238E27FC236}">
                <a16:creationId xmlns:a16="http://schemas.microsoft.com/office/drawing/2014/main" id="{719F903E-BFA6-43D1-ACC1-515E202B9415}"/>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1CDD2BD3-61D1-48FA-B4C2-FAD3F326FFB8}"/>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Nội dung: lore Elden Ring base game, hỗ trợ tiếng Việt và tiếng Anh.</a:t>
            </a:r>
          </a:p>
        </p:txBody>
      </p:sp>
      <p:sp>
        <p:nvSpPr>
          <p:cNvPr id="5" name="Rectangle 4">
            <a:extLst>
              <a:ext uri="{FF2B5EF4-FFF2-40B4-BE49-F238E27FC236}">
                <a16:creationId xmlns:a16="http://schemas.microsoft.com/office/drawing/2014/main" id="{9B33CF99-F932-43A9-A7CD-403818A7979A}"/>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D7B19E21-976F-496B-A6DF-FE45954E5695}"/>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Web chat và lệnh /ask trên Discord sử dụng chung API.</a:t>
            </a:r>
          </a:p>
        </p:txBody>
      </p:sp>
      <p:sp>
        <p:nvSpPr>
          <p:cNvPr id="7" name="Rectangle 6">
            <a:extLst>
              <a:ext uri="{FF2B5EF4-FFF2-40B4-BE49-F238E27FC236}">
                <a16:creationId xmlns:a16="http://schemas.microsoft.com/office/drawing/2014/main" id="{94EAB313-D621-4989-B725-61EDA1F4E81B}"/>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EF9A0618-B6E4-424B-BEFF-BB0D1FDB4C88}"/>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Mỗi câu trả lời kèm liên kết nguồn và đoạn văn tham chiếu.</a:t>
            </a:r>
          </a:p>
        </p:txBody>
      </p:sp>
      <p:sp>
        <p:nvSpPr>
          <p:cNvPr id="9" name="Rectangle 8">
            <a:extLst>
              <a:ext uri="{FF2B5EF4-FFF2-40B4-BE49-F238E27FC236}">
                <a16:creationId xmlns:a16="http://schemas.microsoft.com/office/drawing/2014/main" id="{CF48E195-8CB8-43F7-95C3-77CA3726EF5C}"/>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07394B48-CFD3-4FAD-8678-399DDC9D2CA1}"/>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Bàn giao corpus có metadata, mã nguồn, bộ đánh giá và báo cáo thí nghiệm.</a:t>
            </a:r>
          </a:p>
        </p:txBody>
      </p:sp>
      <p:sp>
        <p:nvSpPr>
          <p:cNvPr id="11" name="Rectangle 10">
            <a:extLst>
              <a:ext uri="{FF2B5EF4-FFF2-40B4-BE49-F238E27FC236}">
                <a16:creationId xmlns:a16="http://schemas.microsoft.com/office/drawing/2014/main" id="{580B809D-8A79-4334-BD9C-1225208E9163}"/>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03</a:t>
            </a:r>
          </a:p>
        </p:txBody>
      </p:sp>
    </p:spTree>
    <p:extLst>
      <p:ext uri="{BB962C8B-B14F-4D97-AF65-F5344CB8AC3E}">
        <p14:creationId xmlns:p14="http://schemas.microsoft.com/office/powerpoint/2010/main" val="634162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4A6E210-D70E-4073-A9EE-F96E657B425B}"/>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CEE5AC3F-97A8-43F3-B86D-9A81A3BCDCE0}"/>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Câu hỏi nghiên cứu NLP</a:t>
            </a:r>
          </a:p>
        </p:txBody>
      </p:sp>
      <p:sp>
        <p:nvSpPr>
          <p:cNvPr id="3" name="Rectangle 2">
            <a:extLst>
              <a:ext uri="{FF2B5EF4-FFF2-40B4-BE49-F238E27FC236}">
                <a16:creationId xmlns:a16="http://schemas.microsoft.com/office/drawing/2014/main" id="{C03A24E2-AD11-4367-9842-6FB3DA483E78}"/>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5EDDC66E-16E0-43A7-8935-6CE160021347}"/>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Hybrid có tìm đúng nguồn hơn dense hoặc BM25 riêng lẻ không?</a:t>
            </a:r>
          </a:p>
        </p:txBody>
      </p:sp>
      <p:sp>
        <p:nvSpPr>
          <p:cNvPr id="5" name="Rectangle 4">
            <a:extLst>
              <a:ext uri="{FF2B5EF4-FFF2-40B4-BE49-F238E27FC236}">
                <a16:creationId xmlns:a16="http://schemas.microsoft.com/office/drawing/2014/main" id="{0E39081B-6304-41DC-9B7C-BEEC72A93950}"/>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1260BA05-ADC7-49C7-B063-80915AD70551}"/>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Reranker cải thiện thứ hạng nguồn đến mức nào, với chi phí độ trễ bao nhiêu?</a:t>
            </a:r>
          </a:p>
        </p:txBody>
      </p:sp>
      <p:sp>
        <p:nvSpPr>
          <p:cNvPr id="7" name="Rectangle 6">
            <a:extLst>
              <a:ext uri="{FF2B5EF4-FFF2-40B4-BE49-F238E27FC236}">
                <a16:creationId xmlns:a16="http://schemas.microsoft.com/office/drawing/2014/main" id="{A700414E-944B-4FEA-9E0B-3E52C2B0ABC5}"/>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F3C1E7B7-70E1-49E2-8A4A-605ECD96B215}"/>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Chunking và truy vấn tiếng Việt ảnh hưởng thế nào đến retrieval?</a:t>
            </a:r>
          </a:p>
        </p:txBody>
      </p:sp>
      <p:sp>
        <p:nvSpPr>
          <p:cNvPr id="9" name="Rectangle 8">
            <a:extLst>
              <a:ext uri="{FF2B5EF4-FFF2-40B4-BE49-F238E27FC236}">
                <a16:creationId xmlns:a16="http://schemas.microsoft.com/office/drawing/2014/main" id="{84CBA77F-8731-4634-AD0D-6243B2A13672}"/>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4560B8C6-E8B9-40F8-B2B3-ED2E0BB68857}"/>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Ngữ cảnh truy xuất có giúp câu trả lời bám nguồn hơn LLM không dùng RAG?</a:t>
            </a:r>
          </a:p>
        </p:txBody>
      </p:sp>
      <p:sp>
        <p:nvSpPr>
          <p:cNvPr id="11" name="Rectangle 10">
            <a:extLst>
              <a:ext uri="{FF2B5EF4-FFF2-40B4-BE49-F238E27FC236}">
                <a16:creationId xmlns:a16="http://schemas.microsoft.com/office/drawing/2014/main" id="{939EBC0C-3993-4813-B74A-E85403C220AB}"/>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04</a:t>
            </a:r>
          </a:p>
        </p:txBody>
      </p:sp>
    </p:spTree>
    <p:extLst>
      <p:ext uri="{BB962C8B-B14F-4D97-AF65-F5344CB8AC3E}">
        <p14:creationId xmlns:p14="http://schemas.microsoft.com/office/powerpoint/2010/main" val="773872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5468725-3421-4BC7-A547-53834F3D9063}"/>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B240976F-9304-42CB-97B9-B04FE1734774}"/>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Khảo sát phương pháp ban đầu</a:t>
            </a:r>
          </a:p>
        </p:txBody>
      </p:sp>
      <p:graphicFrame>
        <p:nvGraphicFramePr>
          <p:cNvPr id="3" name="Table 2">
            <a:extLst>
              <a:ext uri="{FF2B5EF4-FFF2-40B4-BE49-F238E27FC236}">
                <a16:creationId xmlns:a16="http://schemas.microsoft.com/office/drawing/2014/main" id="{48348BC4-9E83-4CEF-AED0-AE11CB0EF12C}"/>
              </a:ext>
            </a:extLst>
          </p:cNvPr>
          <p:cNvGraphicFramePr/>
          <p:nvPr/>
        </p:nvGraphicFramePr>
        <p:xfrm>
          <a:off x="609600" y="1952625"/>
          <a:ext cx="10972800" cy="3619500"/>
        </p:xfrm>
        <a:graphic>
          <a:graphicData uri="http://schemas.openxmlformats.org/drawingml/2006/table">
            <a:tbl>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723900">
                <a:tc>
                  <a:txBody>
                    <a:bodyPr/>
                    <a:lstStyle/>
                    <a:p>
                      <a:r>
                        <a:rPr sz="1800" b="1">
                          <a:solidFill>
                            <a:srgbClr val="D3B777"/>
                          </a:solidFill>
                          <a:latin typeface="Arial"/>
                          <a:ea typeface="Arial"/>
                          <a:cs typeface="Arial"/>
                        </a:rPr>
                        <a:t>Phương pháp</a:t>
                      </a:r>
                    </a:p>
                  </a:txBody>
                  <a:tcPr>
                    <a:solidFill>
                      <a:srgbClr val="344344"/>
                    </a:solidFill>
                  </a:tcPr>
                </a:tc>
                <a:tc>
                  <a:txBody>
                    <a:bodyPr/>
                    <a:lstStyle/>
                    <a:p>
                      <a:r>
                        <a:rPr sz="1800" b="1">
                          <a:solidFill>
                            <a:srgbClr val="D3B777"/>
                          </a:solidFill>
                          <a:latin typeface="Arial"/>
                          <a:ea typeface="Arial"/>
                          <a:cs typeface="Arial"/>
                        </a:rPr>
                        <a:t>Điểm cần khảo sát</a:t>
                      </a:r>
                    </a:p>
                  </a:txBody>
                  <a:tcPr>
                    <a:solidFill>
                      <a:srgbClr val="344344"/>
                    </a:solidFill>
                  </a:tcPr>
                </a:tc>
                <a:tc>
                  <a:txBody>
                    <a:bodyPr/>
                    <a:lstStyle/>
                    <a:p>
                      <a:r>
                        <a:rPr sz="1800" b="1">
                          <a:solidFill>
                            <a:srgbClr val="D3B777"/>
                          </a:solidFill>
                          <a:latin typeface="Arial"/>
                          <a:ea typeface="Arial"/>
                          <a:cs typeface="Arial"/>
                        </a:rPr>
                        <a:t>Vai trò trong đề tài</a:t>
                      </a:r>
                    </a:p>
                  </a:txBody>
                  <a:tcPr>
                    <a:solidFill>
                      <a:srgbClr val="344344"/>
                    </a:solidFill>
                  </a:tcPr>
                </a:tc>
                <a:extLst>
                  <a:ext uri="{0D108BD9-81ED-4DB2-BD59-A6C34878D82A}">
                    <a16:rowId xmlns:a16="http://schemas.microsoft.com/office/drawing/2014/main" val="10000"/>
                  </a:ext>
                </a:extLst>
              </a:tr>
              <a:tr h="723900">
                <a:tc>
                  <a:txBody>
                    <a:bodyPr/>
                    <a:lstStyle/>
                    <a:p>
                      <a:r>
                        <a:rPr sz="1800" b="0">
                          <a:solidFill>
                            <a:srgbClr val="F1EBDD"/>
                          </a:solidFill>
                          <a:latin typeface="Arial"/>
                          <a:ea typeface="Arial"/>
                          <a:cs typeface="Arial"/>
                        </a:rPr>
                        <a:t>LLM không RAG</a:t>
                      </a:r>
                    </a:p>
                  </a:txBody>
                  <a:tcPr>
                    <a:solidFill>
                      <a:srgbClr val="19282D"/>
                    </a:solidFill>
                  </a:tcPr>
                </a:tc>
                <a:tc>
                  <a:txBody>
                    <a:bodyPr/>
                    <a:lstStyle/>
                    <a:p>
                      <a:r>
                        <a:rPr sz="1800" b="0">
                          <a:solidFill>
                            <a:srgbClr val="F1EBDD"/>
                          </a:solidFill>
                          <a:latin typeface="Arial"/>
                          <a:ea typeface="Arial"/>
                          <a:cs typeface="Arial"/>
                        </a:rPr>
                        <a:t>Thiếu nguồn kiểm chứng</a:t>
                      </a:r>
                    </a:p>
                  </a:txBody>
                  <a:tcPr>
                    <a:solidFill>
                      <a:srgbClr val="19282D"/>
                    </a:solidFill>
                  </a:tcPr>
                </a:tc>
                <a:tc>
                  <a:txBody>
                    <a:bodyPr/>
                    <a:lstStyle/>
                    <a:p>
                      <a:r>
                        <a:rPr sz="1800" b="0">
                          <a:solidFill>
                            <a:srgbClr val="F1EBDD"/>
                          </a:solidFill>
                          <a:latin typeface="Arial"/>
                          <a:ea typeface="Arial"/>
                          <a:cs typeface="Arial"/>
                        </a:rPr>
                        <a:t>Đối chứng câu trả lời</a:t>
                      </a:r>
                    </a:p>
                  </a:txBody>
                  <a:tcPr>
                    <a:solidFill>
                      <a:srgbClr val="19282D"/>
                    </a:solidFill>
                  </a:tcPr>
                </a:tc>
                <a:extLst>
                  <a:ext uri="{0D108BD9-81ED-4DB2-BD59-A6C34878D82A}">
                    <a16:rowId xmlns:a16="http://schemas.microsoft.com/office/drawing/2014/main" val="10001"/>
                  </a:ext>
                </a:extLst>
              </a:tr>
              <a:tr h="723900">
                <a:tc>
                  <a:txBody>
                    <a:bodyPr/>
                    <a:lstStyle/>
                    <a:p>
                      <a:r>
                        <a:rPr sz="1800" b="0">
                          <a:solidFill>
                            <a:srgbClr val="F1EBDD"/>
                          </a:solidFill>
                          <a:latin typeface="Arial"/>
                          <a:ea typeface="Arial"/>
                          <a:cs typeface="Arial"/>
                        </a:rPr>
                        <a:t>BM25</a:t>
                      </a:r>
                    </a:p>
                  </a:txBody>
                  <a:tcPr>
                    <a:solidFill>
                      <a:srgbClr val="203237"/>
                    </a:solidFill>
                  </a:tcPr>
                </a:tc>
                <a:tc>
                  <a:txBody>
                    <a:bodyPr/>
                    <a:lstStyle/>
                    <a:p>
                      <a:r>
                        <a:rPr sz="1800" b="0">
                          <a:solidFill>
                            <a:srgbClr val="F1EBDD"/>
                          </a:solidFill>
                          <a:latin typeface="Arial"/>
                          <a:ea typeface="Arial"/>
                          <a:cs typeface="Arial"/>
                        </a:rPr>
                        <a:t>Khớp từ khóa và tên riêng</a:t>
                      </a:r>
                    </a:p>
                  </a:txBody>
                  <a:tcPr>
                    <a:solidFill>
                      <a:srgbClr val="203237"/>
                    </a:solidFill>
                  </a:tcPr>
                </a:tc>
                <a:tc>
                  <a:txBody>
                    <a:bodyPr/>
                    <a:lstStyle/>
                    <a:p>
                      <a:r>
                        <a:rPr sz="1800" b="0">
                          <a:solidFill>
                            <a:srgbClr val="F1EBDD"/>
                          </a:solidFill>
                          <a:latin typeface="Arial"/>
                          <a:ea typeface="Arial"/>
                          <a:cs typeface="Arial"/>
                        </a:rPr>
                        <a:t>Baseline từ vựng</a:t>
                      </a:r>
                    </a:p>
                  </a:txBody>
                  <a:tcPr>
                    <a:solidFill>
                      <a:srgbClr val="203237"/>
                    </a:solidFill>
                  </a:tcPr>
                </a:tc>
                <a:extLst>
                  <a:ext uri="{0D108BD9-81ED-4DB2-BD59-A6C34878D82A}">
                    <a16:rowId xmlns:a16="http://schemas.microsoft.com/office/drawing/2014/main" val="10002"/>
                  </a:ext>
                </a:extLst>
              </a:tr>
              <a:tr h="723900">
                <a:tc>
                  <a:txBody>
                    <a:bodyPr/>
                    <a:lstStyle/>
                    <a:p>
                      <a:r>
                        <a:rPr sz="1800" b="0">
                          <a:solidFill>
                            <a:srgbClr val="F1EBDD"/>
                          </a:solidFill>
                          <a:latin typeface="Arial"/>
                          <a:ea typeface="Arial"/>
                          <a:cs typeface="Arial"/>
                        </a:rPr>
                        <a:t>Dense đa ngôn ngữ</a:t>
                      </a:r>
                    </a:p>
                  </a:txBody>
                  <a:tcPr>
                    <a:solidFill>
                      <a:srgbClr val="19282D"/>
                    </a:solidFill>
                  </a:tcPr>
                </a:tc>
                <a:tc>
                  <a:txBody>
                    <a:bodyPr/>
                    <a:lstStyle/>
                    <a:p>
                      <a:r>
                        <a:rPr sz="1800" b="0">
                          <a:solidFill>
                            <a:srgbClr val="F1EBDD"/>
                          </a:solidFill>
                          <a:latin typeface="Arial"/>
                          <a:ea typeface="Arial"/>
                          <a:cs typeface="Arial"/>
                        </a:rPr>
                        <a:t>Hiểu nghĩa, truy vấn Việt/Anh</a:t>
                      </a:r>
                    </a:p>
                  </a:txBody>
                  <a:tcPr>
                    <a:solidFill>
                      <a:srgbClr val="19282D"/>
                    </a:solidFill>
                  </a:tcPr>
                </a:tc>
                <a:tc>
                  <a:txBody>
                    <a:bodyPr/>
                    <a:lstStyle/>
                    <a:p>
                      <a:r>
                        <a:rPr sz="1800" b="0">
                          <a:solidFill>
                            <a:srgbClr val="F1EBDD"/>
                          </a:solidFill>
                          <a:latin typeface="Arial"/>
                          <a:ea typeface="Arial"/>
                          <a:cs typeface="Arial"/>
                        </a:rPr>
                        <a:t>Baseline ngữ nghĩa</a:t>
                      </a:r>
                    </a:p>
                  </a:txBody>
                  <a:tcPr>
                    <a:solidFill>
                      <a:srgbClr val="19282D"/>
                    </a:solidFill>
                  </a:tcPr>
                </a:tc>
                <a:extLst>
                  <a:ext uri="{0D108BD9-81ED-4DB2-BD59-A6C34878D82A}">
                    <a16:rowId xmlns:a16="http://schemas.microsoft.com/office/drawing/2014/main" val="10003"/>
                  </a:ext>
                </a:extLst>
              </a:tr>
              <a:tr h="723900">
                <a:tc>
                  <a:txBody>
                    <a:bodyPr/>
                    <a:lstStyle/>
                    <a:p>
                      <a:r>
                        <a:rPr sz="1800" b="0">
                          <a:solidFill>
                            <a:srgbClr val="F1EBDD"/>
                          </a:solidFill>
                          <a:latin typeface="Arial"/>
                          <a:ea typeface="Arial"/>
                          <a:cs typeface="Arial"/>
                        </a:rPr>
                        <a:t>Hybrid + rerank</a:t>
                      </a:r>
                    </a:p>
                  </a:txBody>
                  <a:tcPr>
                    <a:solidFill>
                      <a:srgbClr val="203237"/>
                    </a:solidFill>
                  </a:tcPr>
                </a:tc>
                <a:tc>
                  <a:txBody>
                    <a:bodyPr/>
                    <a:lstStyle/>
                    <a:p>
                      <a:r>
                        <a:rPr sz="1800" b="0">
                          <a:solidFill>
                            <a:srgbClr val="F1EBDD"/>
                          </a:solidFill>
                          <a:latin typeface="Arial"/>
                          <a:ea typeface="Arial"/>
                          <a:cs typeface="Arial"/>
                        </a:rPr>
                        <a:t>Kết hợp kết quả, chấm lại độ liên quan</a:t>
                      </a:r>
                    </a:p>
                  </a:txBody>
                  <a:tcPr>
                    <a:solidFill>
                      <a:srgbClr val="203237"/>
                    </a:solidFill>
                  </a:tcPr>
                </a:tc>
                <a:tc>
                  <a:txBody>
                    <a:bodyPr/>
                    <a:lstStyle/>
                    <a:p>
                      <a:r>
                        <a:rPr sz="1800" b="0">
                          <a:solidFill>
                            <a:srgbClr val="F1EBDD"/>
                          </a:solidFill>
                          <a:latin typeface="Arial"/>
                          <a:ea typeface="Arial"/>
                          <a:cs typeface="Arial"/>
                        </a:rPr>
                        <a:t>Cấu hình cần kiểm nghiệm</a:t>
                      </a:r>
                    </a:p>
                  </a:txBody>
                  <a:tcPr>
                    <a:solidFill>
                      <a:srgbClr val="203237"/>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AE037580-EE35-489C-BE09-15D66ADAF2D4}"/>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05</a:t>
            </a:r>
          </a:p>
        </p:txBody>
      </p:sp>
    </p:spTree>
    <p:extLst>
      <p:ext uri="{BB962C8B-B14F-4D97-AF65-F5344CB8AC3E}">
        <p14:creationId xmlns:p14="http://schemas.microsoft.com/office/powerpoint/2010/main" val="1613009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31DD883-81E4-403B-A893-D98D8D8C18EC}"/>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229F4FB3-07C9-46C7-8E4B-01CE9638B70C}"/>
              </a:ext>
            </a:extLst>
          </p:cNvPr>
          <p:cNvSpPr>
            <a:spLocks noGrp="1"/>
          </p:cNvSpPr>
          <p:nvPr/>
        </p:nvSpPr>
        <p:spPr>
          <a:xfrm>
            <a:off x="609600" y="809625"/>
            <a:ext cx="61912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dirty="0" err="1">
                <a:solidFill>
                  <a:srgbClr val="F1EBDD"/>
                </a:solidFill>
                <a:latin typeface="Arial"/>
                <a:ea typeface="Arial"/>
                <a:cs typeface="Arial"/>
              </a:rPr>
              <a:t>Dữ</a:t>
            </a:r>
            <a:r>
              <a:rPr sz="3300" b="1" dirty="0">
                <a:solidFill>
                  <a:srgbClr val="F1EBDD"/>
                </a:solidFill>
                <a:latin typeface="Arial"/>
                <a:ea typeface="Arial"/>
                <a:cs typeface="Arial"/>
              </a:rPr>
              <a:t> </a:t>
            </a:r>
            <a:r>
              <a:rPr sz="3300" b="1" dirty="0" err="1">
                <a:solidFill>
                  <a:srgbClr val="F1EBDD"/>
                </a:solidFill>
                <a:latin typeface="Arial"/>
                <a:ea typeface="Arial"/>
                <a:cs typeface="Arial"/>
              </a:rPr>
              <a:t>liệu</a:t>
            </a:r>
            <a:endParaRPr sz="3300" b="1" dirty="0">
              <a:solidFill>
                <a:srgbClr val="F1EBDD"/>
              </a:solidFill>
              <a:latin typeface="Arial"/>
              <a:ea typeface="Arial"/>
              <a:cs typeface="Arial"/>
            </a:endParaRPr>
          </a:p>
        </p:txBody>
      </p:sp>
      <p:pic>
        <p:nvPicPr>
          <p:cNvPr id="3" name="Picture 2">
            <a:extLst>
              <a:ext uri="{FF2B5EF4-FFF2-40B4-BE49-F238E27FC236}">
                <a16:creationId xmlns:a16="http://schemas.microsoft.com/office/drawing/2014/main" id="{35050088-BCF4-45A2-A7EC-68450D76AB90}"/>
              </a:ext>
            </a:extLst>
          </p:cNvPr>
          <p:cNvPicPr>
            <a:picLocks noChangeAspect="1"/>
          </p:cNvPicPr>
          <p:nvPr/>
        </p:nvPicPr>
        <p:blipFill>
          <a:blip r:embed="rId3"/>
          <a:srcRect l="30859" r="30859"/>
          <a:stretch>
            <a:fillRect/>
          </a:stretch>
        </p:blipFill>
        <p:spPr>
          <a:xfrm>
            <a:off x="7524750" y="0"/>
            <a:ext cx="4667250" cy="6858000"/>
          </a:xfrm>
          <a:prstGeom prst="rect">
            <a:avLst/>
          </a:prstGeom>
        </p:spPr>
      </p:pic>
      <p:sp>
        <p:nvSpPr>
          <p:cNvPr id="4" name="Rectangle 3">
            <a:extLst>
              <a:ext uri="{FF2B5EF4-FFF2-40B4-BE49-F238E27FC236}">
                <a16:creationId xmlns:a16="http://schemas.microsoft.com/office/drawing/2014/main" id="{2C932BBD-40E4-492D-9551-BBB56D9F32C0}"/>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5" name="Rectangle 4">
            <a:extLst>
              <a:ext uri="{FF2B5EF4-FFF2-40B4-BE49-F238E27FC236}">
                <a16:creationId xmlns:a16="http://schemas.microsoft.com/office/drawing/2014/main" id="{0AACAE09-EEDD-48D3-90DD-949905642950}"/>
              </a:ext>
            </a:extLst>
          </p:cNvPr>
          <p:cNvSpPr>
            <a:spLocks noGrp="1"/>
          </p:cNvSpPr>
          <p:nvPr/>
        </p:nvSpPr>
        <p:spPr>
          <a:xfrm>
            <a:off x="1285875" y="2000250"/>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dirty="0" err="1">
                <a:solidFill>
                  <a:srgbClr val="F1EBDD"/>
                </a:solidFill>
                <a:latin typeface="Arial"/>
                <a:ea typeface="Arial"/>
                <a:cs typeface="Arial"/>
              </a:rPr>
              <a:t>Nguồn</a:t>
            </a:r>
            <a:r>
              <a:rPr sz="2025" b="0" dirty="0">
                <a:solidFill>
                  <a:srgbClr val="F1EBDD"/>
                </a:solidFill>
                <a:latin typeface="Arial"/>
                <a:ea typeface="Arial"/>
                <a:cs typeface="Arial"/>
              </a:rPr>
              <a:t> : wiki.gg, Wikipedia </a:t>
            </a:r>
            <a:r>
              <a:rPr sz="2025" b="0" dirty="0" err="1">
                <a:solidFill>
                  <a:srgbClr val="F1EBDD"/>
                </a:solidFill>
                <a:latin typeface="Arial"/>
                <a:ea typeface="Arial"/>
                <a:cs typeface="Arial"/>
              </a:rPr>
              <a:t>và</a:t>
            </a:r>
            <a:r>
              <a:rPr sz="2025" b="0" dirty="0">
                <a:solidFill>
                  <a:srgbClr val="F1EBDD"/>
                </a:solidFill>
                <a:latin typeface="Arial"/>
                <a:ea typeface="Arial"/>
                <a:cs typeface="Arial"/>
              </a:rPr>
              <a:t> Fan APIs.</a:t>
            </a:r>
          </a:p>
        </p:txBody>
      </p:sp>
      <p:sp>
        <p:nvSpPr>
          <p:cNvPr id="6" name="Rectangle 5">
            <a:extLst>
              <a:ext uri="{FF2B5EF4-FFF2-40B4-BE49-F238E27FC236}">
                <a16:creationId xmlns:a16="http://schemas.microsoft.com/office/drawing/2014/main" id="{7124B0DB-C791-4BCE-B58E-18B5AA4C1132}"/>
              </a:ext>
            </a:extLst>
          </p:cNvPr>
          <p:cNvSpPr>
            <a:spLocks noGrp="1"/>
          </p:cNvSpPr>
          <p:nvPr/>
        </p:nvSpPr>
        <p:spPr>
          <a:xfrm>
            <a:off x="609600" y="32575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7" name="Rectangle 6">
            <a:extLst>
              <a:ext uri="{FF2B5EF4-FFF2-40B4-BE49-F238E27FC236}">
                <a16:creationId xmlns:a16="http://schemas.microsoft.com/office/drawing/2014/main" id="{FE3C3B2D-2C27-453D-B7DC-0E6A240C6CAA}"/>
              </a:ext>
            </a:extLst>
          </p:cNvPr>
          <p:cNvSpPr>
            <a:spLocks noGrp="1"/>
          </p:cNvSpPr>
          <p:nvPr/>
        </p:nvSpPr>
        <p:spPr>
          <a:xfrm>
            <a:off x="1285875" y="3209925"/>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dirty="0" err="1">
                <a:solidFill>
                  <a:srgbClr val="F1EBDD"/>
                </a:solidFill>
                <a:latin typeface="Arial"/>
                <a:ea typeface="Arial"/>
                <a:cs typeface="Arial"/>
              </a:rPr>
              <a:t>Ưu</a:t>
            </a:r>
            <a:r>
              <a:rPr sz="2025" b="0" dirty="0">
                <a:solidFill>
                  <a:srgbClr val="F1EBDD"/>
                </a:solidFill>
                <a:latin typeface="Arial"/>
                <a:ea typeface="Arial"/>
                <a:cs typeface="Arial"/>
              </a:rPr>
              <a:t> </a:t>
            </a:r>
            <a:r>
              <a:rPr sz="2025" b="0" dirty="0" err="1">
                <a:solidFill>
                  <a:srgbClr val="F1EBDD"/>
                </a:solidFill>
                <a:latin typeface="Arial"/>
                <a:ea typeface="Arial"/>
                <a:cs typeface="Arial"/>
              </a:rPr>
              <a:t>tiên</a:t>
            </a:r>
            <a:r>
              <a:rPr sz="2025" b="0" dirty="0">
                <a:solidFill>
                  <a:srgbClr val="F1EBDD"/>
                </a:solidFill>
                <a:latin typeface="Arial"/>
                <a:ea typeface="Arial"/>
                <a:cs typeface="Arial"/>
              </a:rPr>
              <a:t> </a:t>
            </a:r>
            <a:r>
              <a:rPr sz="2025" b="0" dirty="0" err="1">
                <a:solidFill>
                  <a:srgbClr val="F1EBDD"/>
                </a:solidFill>
                <a:latin typeface="Arial"/>
                <a:ea typeface="Arial"/>
                <a:cs typeface="Arial"/>
              </a:rPr>
              <a:t>mô</a:t>
            </a:r>
            <a:r>
              <a:rPr sz="2025" b="0" dirty="0">
                <a:solidFill>
                  <a:srgbClr val="F1EBDD"/>
                </a:solidFill>
                <a:latin typeface="Arial"/>
                <a:ea typeface="Arial"/>
                <a:cs typeface="Arial"/>
              </a:rPr>
              <a:t> </a:t>
            </a:r>
            <a:r>
              <a:rPr sz="2025" b="0" dirty="0" err="1">
                <a:solidFill>
                  <a:srgbClr val="F1EBDD"/>
                </a:solidFill>
                <a:latin typeface="Arial"/>
                <a:ea typeface="Arial"/>
                <a:cs typeface="Arial"/>
              </a:rPr>
              <a:t>tả</a:t>
            </a:r>
            <a:r>
              <a:rPr sz="2025" b="0" dirty="0">
                <a:solidFill>
                  <a:srgbClr val="F1EBDD"/>
                </a:solidFill>
                <a:latin typeface="Arial"/>
                <a:ea typeface="Arial"/>
                <a:cs typeface="Arial"/>
              </a:rPr>
              <a:t> </a:t>
            </a:r>
            <a:r>
              <a:rPr sz="2025" b="0" dirty="0" err="1">
                <a:solidFill>
                  <a:srgbClr val="F1EBDD"/>
                </a:solidFill>
                <a:latin typeface="Arial"/>
                <a:ea typeface="Arial"/>
                <a:cs typeface="Arial"/>
              </a:rPr>
              <a:t>nhân</a:t>
            </a:r>
            <a:r>
              <a:rPr sz="2025" b="0" dirty="0">
                <a:solidFill>
                  <a:srgbClr val="F1EBDD"/>
                </a:solidFill>
                <a:latin typeface="Arial"/>
                <a:ea typeface="Arial"/>
                <a:cs typeface="Arial"/>
              </a:rPr>
              <a:t> </a:t>
            </a:r>
            <a:r>
              <a:rPr sz="2025" b="0" dirty="0" err="1">
                <a:solidFill>
                  <a:srgbClr val="F1EBDD"/>
                </a:solidFill>
                <a:latin typeface="Arial"/>
                <a:ea typeface="Arial"/>
                <a:cs typeface="Arial"/>
              </a:rPr>
              <a:t>vật</a:t>
            </a:r>
            <a:r>
              <a:rPr sz="2025" b="0" dirty="0">
                <a:solidFill>
                  <a:srgbClr val="F1EBDD"/>
                </a:solidFill>
                <a:latin typeface="Arial"/>
                <a:ea typeface="Arial"/>
                <a:cs typeface="Arial"/>
              </a:rPr>
              <a:t>, </a:t>
            </a:r>
            <a:r>
              <a:rPr sz="2025" b="0" dirty="0" err="1">
                <a:solidFill>
                  <a:srgbClr val="F1EBDD"/>
                </a:solidFill>
                <a:latin typeface="Arial"/>
                <a:ea typeface="Arial"/>
                <a:cs typeface="Arial"/>
              </a:rPr>
              <a:t>sự</a:t>
            </a:r>
            <a:r>
              <a:rPr sz="2025" b="0" dirty="0">
                <a:solidFill>
                  <a:srgbClr val="F1EBDD"/>
                </a:solidFill>
                <a:latin typeface="Arial"/>
                <a:ea typeface="Arial"/>
                <a:cs typeface="Arial"/>
              </a:rPr>
              <a:t> </a:t>
            </a:r>
            <a:r>
              <a:rPr sz="2025" b="0" dirty="0" err="1">
                <a:solidFill>
                  <a:srgbClr val="F1EBDD"/>
                </a:solidFill>
                <a:latin typeface="Arial"/>
                <a:ea typeface="Arial"/>
                <a:cs typeface="Arial"/>
              </a:rPr>
              <a:t>kiện</a:t>
            </a:r>
            <a:r>
              <a:rPr sz="2025" b="0" dirty="0">
                <a:solidFill>
                  <a:srgbClr val="F1EBDD"/>
                </a:solidFill>
                <a:latin typeface="Arial"/>
                <a:ea typeface="Arial"/>
                <a:cs typeface="Arial"/>
              </a:rPr>
              <a:t>, </a:t>
            </a:r>
            <a:r>
              <a:rPr sz="2025" b="0" dirty="0" err="1">
                <a:solidFill>
                  <a:srgbClr val="F1EBDD"/>
                </a:solidFill>
                <a:latin typeface="Arial"/>
                <a:ea typeface="Arial"/>
                <a:cs typeface="Arial"/>
              </a:rPr>
              <a:t>địa</a:t>
            </a:r>
            <a:r>
              <a:rPr sz="2025" b="0" dirty="0">
                <a:solidFill>
                  <a:srgbClr val="F1EBDD"/>
                </a:solidFill>
                <a:latin typeface="Arial"/>
                <a:ea typeface="Arial"/>
                <a:cs typeface="Arial"/>
              </a:rPr>
              <a:t> </a:t>
            </a:r>
            <a:r>
              <a:rPr sz="2025" b="0" dirty="0" err="1">
                <a:solidFill>
                  <a:srgbClr val="F1EBDD"/>
                </a:solidFill>
                <a:latin typeface="Arial"/>
                <a:ea typeface="Arial"/>
                <a:cs typeface="Arial"/>
              </a:rPr>
              <a:t>điểm</a:t>
            </a:r>
            <a:r>
              <a:rPr sz="2025" b="0" dirty="0">
                <a:solidFill>
                  <a:srgbClr val="F1EBDD"/>
                </a:solidFill>
                <a:latin typeface="Arial"/>
                <a:ea typeface="Arial"/>
                <a:cs typeface="Arial"/>
              </a:rPr>
              <a:t>, </a:t>
            </a:r>
            <a:r>
              <a:rPr sz="2025" b="0" dirty="0" err="1">
                <a:solidFill>
                  <a:srgbClr val="F1EBDD"/>
                </a:solidFill>
                <a:latin typeface="Arial"/>
                <a:ea typeface="Arial"/>
                <a:cs typeface="Arial"/>
              </a:rPr>
              <a:t>vật</a:t>
            </a:r>
            <a:r>
              <a:rPr sz="2025" b="0" dirty="0">
                <a:solidFill>
                  <a:srgbClr val="F1EBDD"/>
                </a:solidFill>
                <a:latin typeface="Arial"/>
                <a:ea typeface="Arial"/>
                <a:cs typeface="Arial"/>
              </a:rPr>
              <a:t> </a:t>
            </a:r>
            <a:r>
              <a:rPr sz="2025" b="0" dirty="0" err="1">
                <a:solidFill>
                  <a:srgbClr val="F1EBDD"/>
                </a:solidFill>
                <a:latin typeface="Arial"/>
                <a:ea typeface="Arial"/>
                <a:cs typeface="Arial"/>
              </a:rPr>
              <a:t>phẩm</a:t>
            </a:r>
            <a:r>
              <a:rPr sz="2025" b="0" dirty="0">
                <a:solidFill>
                  <a:srgbClr val="F1EBDD"/>
                </a:solidFill>
                <a:latin typeface="Arial"/>
                <a:ea typeface="Arial"/>
                <a:cs typeface="Arial"/>
              </a:rPr>
              <a:t> </a:t>
            </a:r>
            <a:r>
              <a:rPr sz="2025" b="0" dirty="0" err="1">
                <a:solidFill>
                  <a:srgbClr val="F1EBDD"/>
                </a:solidFill>
                <a:latin typeface="Arial"/>
                <a:ea typeface="Arial"/>
                <a:cs typeface="Arial"/>
              </a:rPr>
              <a:t>thuộc</a:t>
            </a:r>
            <a:r>
              <a:rPr sz="2025" b="0" dirty="0">
                <a:solidFill>
                  <a:srgbClr val="F1EBDD"/>
                </a:solidFill>
                <a:latin typeface="Arial"/>
                <a:ea typeface="Arial"/>
                <a:cs typeface="Arial"/>
              </a:rPr>
              <a:t> base game.</a:t>
            </a:r>
          </a:p>
        </p:txBody>
      </p:sp>
      <p:sp>
        <p:nvSpPr>
          <p:cNvPr id="8" name="Rectangle 7">
            <a:extLst>
              <a:ext uri="{FF2B5EF4-FFF2-40B4-BE49-F238E27FC236}">
                <a16:creationId xmlns:a16="http://schemas.microsoft.com/office/drawing/2014/main" id="{917CC41A-71B0-4AB3-A854-AEE596FA1B88}"/>
              </a:ext>
            </a:extLst>
          </p:cNvPr>
          <p:cNvSpPr>
            <a:spLocks noGrp="1"/>
          </p:cNvSpPr>
          <p:nvPr/>
        </p:nvSpPr>
        <p:spPr>
          <a:xfrm>
            <a:off x="609600" y="44672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9" name="Rectangle 8">
            <a:extLst>
              <a:ext uri="{FF2B5EF4-FFF2-40B4-BE49-F238E27FC236}">
                <a16:creationId xmlns:a16="http://schemas.microsoft.com/office/drawing/2014/main" id="{B401643B-F563-4BCD-AA75-617B943E1422}"/>
              </a:ext>
            </a:extLst>
          </p:cNvPr>
          <p:cNvSpPr>
            <a:spLocks noGrp="1"/>
          </p:cNvSpPr>
          <p:nvPr/>
        </p:nvSpPr>
        <p:spPr>
          <a:xfrm>
            <a:off x="1285875" y="4419600"/>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dirty="0">
                <a:solidFill>
                  <a:srgbClr val="F1EBDD"/>
                </a:solidFill>
                <a:latin typeface="Arial"/>
                <a:ea typeface="Arial"/>
                <a:cs typeface="Arial"/>
              </a:rPr>
              <a:t>Lưu title, section, URL, revision </a:t>
            </a:r>
            <a:r>
              <a:rPr sz="2025" b="0" dirty="0" err="1">
                <a:solidFill>
                  <a:srgbClr val="F1EBDD"/>
                </a:solidFill>
                <a:latin typeface="Arial"/>
                <a:ea typeface="Arial"/>
                <a:cs typeface="Arial"/>
              </a:rPr>
              <a:t>và</a:t>
            </a:r>
            <a:r>
              <a:rPr sz="2025" b="0" dirty="0">
                <a:solidFill>
                  <a:srgbClr val="F1EBDD"/>
                </a:solidFill>
                <a:latin typeface="Arial"/>
                <a:ea typeface="Arial"/>
                <a:cs typeface="Arial"/>
              </a:rPr>
              <a:t> </a:t>
            </a:r>
            <a:r>
              <a:rPr sz="2025" b="0" dirty="0" err="1">
                <a:solidFill>
                  <a:srgbClr val="F1EBDD"/>
                </a:solidFill>
                <a:latin typeface="Arial"/>
                <a:ea typeface="Arial"/>
                <a:cs typeface="Arial"/>
              </a:rPr>
              <a:t>thời</a:t>
            </a:r>
            <a:r>
              <a:rPr sz="2025" b="0" dirty="0">
                <a:solidFill>
                  <a:srgbClr val="F1EBDD"/>
                </a:solidFill>
                <a:latin typeface="Arial"/>
                <a:ea typeface="Arial"/>
                <a:cs typeface="Arial"/>
              </a:rPr>
              <a:t> </a:t>
            </a:r>
            <a:r>
              <a:rPr sz="2025" b="0" dirty="0" err="1">
                <a:solidFill>
                  <a:srgbClr val="F1EBDD"/>
                </a:solidFill>
                <a:latin typeface="Arial"/>
                <a:ea typeface="Arial"/>
                <a:cs typeface="Arial"/>
              </a:rPr>
              <a:t>điểm</a:t>
            </a:r>
            <a:r>
              <a:rPr sz="2025" b="0" dirty="0">
                <a:solidFill>
                  <a:srgbClr val="F1EBDD"/>
                </a:solidFill>
                <a:latin typeface="Arial"/>
                <a:ea typeface="Arial"/>
                <a:cs typeface="Arial"/>
              </a:rPr>
              <a:t> </a:t>
            </a:r>
            <a:r>
              <a:rPr sz="2025" b="0" dirty="0" err="1">
                <a:solidFill>
                  <a:srgbClr val="F1EBDD"/>
                </a:solidFill>
                <a:latin typeface="Arial"/>
                <a:ea typeface="Arial"/>
                <a:cs typeface="Arial"/>
              </a:rPr>
              <a:t>lấy</a:t>
            </a:r>
            <a:r>
              <a:rPr sz="2025" b="0" dirty="0">
                <a:solidFill>
                  <a:srgbClr val="F1EBDD"/>
                </a:solidFill>
                <a:latin typeface="Arial"/>
                <a:ea typeface="Arial"/>
                <a:cs typeface="Arial"/>
              </a:rPr>
              <a:t> </a:t>
            </a:r>
            <a:r>
              <a:rPr sz="2025" b="0" dirty="0" err="1">
                <a:solidFill>
                  <a:srgbClr val="F1EBDD"/>
                </a:solidFill>
                <a:latin typeface="Arial"/>
                <a:ea typeface="Arial"/>
                <a:cs typeface="Arial"/>
              </a:rPr>
              <a:t>dữ</a:t>
            </a:r>
            <a:r>
              <a:rPr sz="2025" b="0" dirty="0">
                <a:solidFill>
                  <a:srgbClr val="F1EBDD"/>
                </a:solidFill>
                <a:latin typeface="Arial"/>
                <a:ea typeface="Arial"/>
                <a:cs typeface="Arial"/>
              </a:rPr>
              <a:t> </a:t>
            </a:r>
            <a:r>
              <a:rPr sz="2025" b="0" dirty="0" err="1">
                <a:solidFill>
                  <a:srgbClr val="F1EBDD"/>
                </a:solidFill>
                <a:latin typeface="Arial"/>
                <a:ea typeface="Arial"/>
                <a:cs typeface="Arial"/>
              </a:rPr>
              <a:t>liệu</a:t>
            </a:r>
            <a:r>
              <a:rPr sz="2025" b="0" dirty="0">
                <a:solidFill>
                  <a:srgbClr val="F1EBDD"/>
                </a:solidFill>
                <a:latin typeface="Arial"/>
                <a:ea typeface="Arial"/>
                <a:cs typeface="Arial"/>
              </a:rPr>
              <a:t>.</a:t>
            </a:r>
          </a:p>
        </p:txBody>
      </p:sp>
      <p:sp>
        <p:nvSpPr>
          <p:cNvPr id="10" name="Rectangle 9">
            <a:extLst>
              <a:ext uri="{FF2B5EF4-FFF2-40B4-BE49-F238E27FC236}">
                <a16:creationId xmlns:a16="http://schemas.microsoft.com/office/drawing/2014/main" id="{321E0E5F-3215-4483-A51E-E34510260618}"/>
              </a:ext>
            </a:extLst>
          </p:cNvPr>
          <p:cNvSpPr>
            <a:spLocks noGrp="1"/>
          </p:cNvSpPr>
          <p:nvPr/>
        </p:nvSpPr>
        <p:spPr>
          <a:xfrm>
            <a:off x="609600" y="56769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1" name="Rectangle 10">
            <a:extLst>
              <a:ext uri="{FF2B5EF4-FFF2-40B4-BE49-F238E27FC236}">
                <a16:creationId xmlns:a16="http://schemas.microsoft.com/office/drawing/2014/main" id="{2C3F577C-B2F8-4D68-82BB-3D857D48676E}"/>
              </a:ext>
            </a:extLst>
          </p:cNvPr>
          <p:cNvSpPr>
            <a:spLocks noGrp="1"/>
          </p:cNvSpPr>
          <p:nvPr/>
        </p:nvSpPr>
        <p:spPr>
          <a:xfrm>
            <a:off x="1285875" y="5629275"/>
            <a:ext cx="5762625" cy="1095375"/>
          </a:xfrm>
          <a:prstGeom prst="rect">
            <a:avLst/>
          </a:prstGeom>
          <a:noFill/>
          <a:ln w="0">
            <a:noFill/>
          </a:ln>
        </p:spPr>
        <p:txBody>
          <a:bodyPr/>
          <a:lstStyle>
            <a:defPPr>
              <a:defRPr sz="2025" b="0">
                <a:solidFill>
                  <a:srgbClr val="F1EBDD"/>
                </a:solidFill>
                <a:latin typeface="Arial"/>
                <a:ea typeface="Arial"/>
                <a:cs typeface="Arial"/>
              </a:defRPr>
            </a:defPPr>
            <a:lvl1pPr>
              <a:defRPr sz="2025" b="0">
                <a:solidFill>
                  <a:srgbClr val="F1EBDD"/>
                </a:solidFill>
                <a:latin typeface="Arial"/>
                <a:ea typeface="Arial"/>
                <a:cs typeface="Arial"/>
              </a:defRPr>
            </a:lvl1pPr>
            <a:lvl2pPr>
              <a:defRPr sz="2025" b="0">
                <a:solidFill>
                  <a:srgbClr val="F1EBDD"/>
                </a:solidFill>
                <a:latin typeface="Arial"/>
                <a:ea typeface="Arial"/>
                <a:cs typeface="Arial"/>
              </a:defRPr>
            </a:lvl2pPr>
            <a:lvl3pPr>
              <a:defRPr sz="2025" b="0">
                <a:solidFill>
                  <a:srgbClr val="F1EBDD"/>
                </a:solidFill>
                <a:latin typeface="Arial"/>
                <a:ea typeface="Arial"/>
                <a:cs typeface="Arial"/>
              </a:defRPr>
            </a:lvl3pPr>
            <a:lvl4pPr>
              <a:defRPr sz="2025" b="0">
                <a:solidFill>
                  <a:srgbClr val="F1EBDD"/>
                </a:solidFill>
                <a:latin typeface="Arial"/>
                <a:ea typeface="Arial"/>
                <a:cs typeface="Arial"/>
              </a:defRPr>
            </a:lvl4pPr>
            <a:lvl5pPr>
              <a:defRPr sz="2025" b="0">
                <a:solidFill>
                  <a:srgbClr val="F1EBDD"/>
                </a:solidFill>
                <a:latin typeface="Arial"/>
                <a:ea typeface="Arial"/>
                <a:cs typeface="Arial"/>
              </a:defRPr>
            </a:lvl5pPr>
            <a:lvl6pPr>
              <a:defRPr sz="2025" b="0">
                <a:solidFill>
                  <a:srgbClr val="F1EBDD"/>
                </a:solidFill>
                <a:latin typeface="Arial"/>
                <a:ea typeface="Arial"/>
                <a:cs typeface="Arial"/>
              </a:defRPr>
            </a:lvl6pPr>
            <a:lvl7pPr>
              <a:defRPr sz="2025" b="0">
                <a:solidFill>
                  <a:srgbClr val="F1EBDD"/>
                </a:solidFill>
                <a:latin typeface="Arial"/>
                <a:ea typeface="Arial"/>
                <a:cs typeface="Arial"/>
              </a:defRPr>
            </a:lvl7pPr>
            <a:lvl8pPr>
              <a:defRPr sz="2025" b="0">
                <a:solidFill>
                  <a:srgbClr val="F1EBDD"/>
                </a:solidFill>
                <a:latin typeface="Arial"/>
                <a:ea typeface="Arial"/>
                <a:cs typeface="Arial"/>
              </a:defRPr>
            </a:lvl8pPr>
            <a:lvl9pPr>
              <a:defRPr sz="2025" b="0">
                <a:solidFill>
                  <a:srgbClr val="F1EBDD"/>
                </a:solidFill>
                <a:latin typeface="Arial"/>
                <a:ea typeface="Arial"/>
                <a:cs typeface="Arial"/>
              </a:defRPr>
            </a:lvl9pPr>
          </a:lstStyle>
          <a:p>
            <a:pPr>
              <a:defRPr sz="2025" b="0">
                <a:solidFill>
                  <a:srgbClr val="F1EBDD"/>
                </a:solidFill>
                <a:latin typeface="Arial"/>
                <a:ea typeface="Arial"/>
                <a:cs typeface="Arial"/>
              </a:defRPr>
            </a:pPr>
            <a:r>
              <a:rPr sz="2025" b="0" dirty="0" err="1">
                <a:solidFill>
                  <a:srgbClr val="F1EBDD"/>
                </a:solidFill>
                <a:latin typeface="Arial"/>
                <a:ea typeface="Arial"/>
                <a:cs typeface="Arial"/>
              </a:rPr>
              <a:t>Tuần</a:t>
            </a:r>
            <a:r>
              <a:rPr sz="2025" b="0" dirty="0">
                <a:solidFill>
                  <a:srgbClr val="F1EBDD"/>
                </a:solidFill>
                <a:latin typeface="Arial"/>
                <a:ea typeface="Arial"/>
                <a:cs typeface="Arial"/>
              </a:rPr>
              <a:t> 1 </a:t>
            </a:r>
            <a:r>
              <a:rPr sz="2025" b="0" dirty="0" err="1">
                <a:solidFill>
                  <a:srgbClr val="F1EBDD"/>
                </a:solidFill>
                <a:latin typeface="Arial"/>
                <a:ea typeface="Arial"/>
                <a:cs typeface="Arial"/>
              </a:rPr>
              <a:t>xác</a:t>
            </a:r>
            <a:r>
              <a:rPr sz="2025" b="0" dirty="0">
                <a:solidFill>
                  <a:srgbClr val="F1EBDD"/>
                </a:solidFill>
                <a:latin typeface="Arial"/>
                <a:ea typeface="Arial"/>
                <a:cs typeface="Arial"/>
              </a:rPr>
              <a:t> </a:t>
            </a:r>
            <a:r>
              <a:rPr sz="2025" b="0" dirty="0" err="1">
                <a:solidFill>
                  <a:srgbClr val="F1EBDD"/>
                </a:solidFill>
                <a:latin typeface="Arial"/>
                <a:ea typeface="Arial"/>
                <a:cs typeface="Arial"/>
              </a:rPr>
              <a:t>minh</a:t>
            </a:r>
            <a:r>
              <a:rPr sz="2025" b="0" dirty="0">
                <a:solidFill>
                  <a:srgbClr val="F1EBDD"/>
                </a:solidFill>
                <a:latin typeface="Arial"/>
                <a:ea typeface="Arial"/>
                <a:cs typeface="Arial"/>
              </a:rPr>
              <a:t> </a:t>
            </a:r>
            <a:r>
              <a:rPr sz="2025" b="0" dirty="0" err="1">
                <a:solidFill>
                  <a:srgbClr val="F1EBDD"/>
                </a:solidFill>
                <a:latin typeface="Arial"/>
                <a:ea typeface="Arial"/>
                <a:cs typeface="Arial"/>
              </a:rPr>
              <a:t>truy</a:t>
            </a:r>
            <a:r>
              <a:rPr sz="2025" b="0" dirty="0">
                <a:solidFill>
                  <a:srgbClr val="F1EBDD"/>
                </a:solidFill>
                <a:latin typeface="Arial"/>
                <a:ea typeface="Arial"/>
                <a:cs typeface="Arial"/>
              </a:rPr>
              <a:t> </a:t>
            </a:r>
            <a:r>
              <a:rPr sz="2025" b="0" dirty="0" err="1">
                <a:solidFill>
                  <a:srgbClr val="F1EBDD"/>
                </a:solidFill>
                <a:latin typeface="Arial"/>
                <a:ea typeface="Arial"/>
                <a:cs typeface="Arial"/>
              </a:rPr>
              <a:t>cập</a:t>
            </a:r>
            <a:r>
              <a:rPr sz="2025" b="0" dirty="0">
                <a:solidFill>
                  <a:srgbClr val="F1EBDD"/>
                </a:solidFill>
                <a:latin typeface="Arial"/>
                <a:ea typeface="Arial"/>
                <a:cs typeface="Arial"/>
              </a:rPr>
              <a:t>, </a:t>
            </a:r>
            <a:r>
              <a:rPr sz="2025" b="0" dirty="0" err="1">
                <a:solidFill>
                  <a:srgbClr val="F1EBDD"/>
                </a:solidFill>
                <a:latin typeface="Arial"/>
                <a:ea typeface="Arial"/>
                <a:cs typeface="Arial"/>
              </a:rPr>
              <a:t>giấy</a:t>
            </a:r>
            <a:r>
              <a:rPr sz="2025" b="0" dirty="0">
                <a:solidFill>
                  <a:srgbClr val="F1EBDD"/>
                </a:solidFill>
                <a:latin typeface="Arial"/>
                <a:ea typeface="Arial"/>
                <a:cs typeface="Arial"/>
              </a:rPr>
              <a:t> </a:t>
            </a:r>
            <a:r>
              <a:rPr sz="2025" b="0" dirty="0" err="1">
                <a:solidFill>
                  <a:srgbClr val="F1EBDD"/>
                </a:solidFill>
                <a:latin typeface="Arial"/>
                <a:ea typeface="Arial"/>
                <a:cs typeface="Arial"/>
              </a:rPr>
              <a:t>phép</a:t>
            </a:r>
            <a:r>
              <a:rPr sz="2025" b="0" dirty="0">
                <a:solidFill>
                  <a:srgbClr val="F1EBDD"/>
                </a:solidFill>
                <a:latin typeface="Arial"/>
                <a:ea typeface="Arial"/>
                <a:cs typeface="Arial"/>
              </a:rPr>
              <a:t> </a:t>
            </a:r>
            <a:r>
              <a:rPr sz="2025" b="0" dirty="0" err="1">
                <a:solidFill>
                  <a:srgbClr val="F1EBDD"/>
                </a:solidFill>
                <a:latin typeface="Arial"/>
                <a:ea typeface="Arial"/>
                <a:cs typeface="Arial"/>
              </a:rPr>
              <a:t>và</a:t>
            </a:r>
            <a:r>
              <a:rPr sz="2025" b="0" dirty="0">
                <a:solidFill>
                  <a:srgbClr val="F1EBDD"/>
                </a:solidFill>
                <a:latin typeface="Arial"/>
                <a:ea typeface="Arial"/>
                <a:cs typeface="Arial"/>
              </a:rPr>
              <a:t> </a:t>
            </a:r>
            <a:r>
              <a:rPr sz="2025" b="0" dirty="0" err="1">
                <a:solidFill>
                  <a:srgbClr val="F1EBDD"/>
                </a:solidFill>
                <a:latin typeface="Arial"/>
                <a:ea typeface="Arial"/>
                <a:cs typeface="Arial"/>
              </a:rPr>
              <a:t>chất</a:t>
            </a:r>
            <a:r>
              <a:rPr sz="2025" b="0" dirty="0">
                <a:solidFill>
                  <a:srgbClr val="F1EBDD"/>
                </a:solidFill>
                <a:latin typeface="Arial"/>
                <a:ea typeface="Arial"/>
                <a:cs typeface="Arial"/>
              </a:rPr>
              <a:t> </a:t>
            </a:r>
            <a:r>
              <a:rPr sz="2025" b="0" dirty="0" err="1">
                <a:solidFill>
                  <a:srgbClr val="F1EBDD"/>
                </a:solidFill>
                <a:latin typeface="Arial"/>
                <a:ea typeface="Arial"/>
                <a:cs typeface="Arial"/>
              </a:rPr>
              <a:t>lượng</a:t>
            </a:r>
            <a:r>
              <a:rPr sz="2025" b="0" dirty="0">
                <a:solidFill>
                  <a:srgbClr val="F1EBDD"/>
                </a:solidFill>
                <a:latin typeface="Arial"/>
                <a:ea typeface="Arial"/>
                <a:cs typeface="Arial"/>
              </a:rPr>
              <a:t> </a:t>
            </a:r>
            <a:r>
              <a:rPr sz="2025" b="0" dirty="0" err="1">
                <a:solidFill>
                  <a:srgbClr val="F1EBDD"/>
                </a:solidFill>
                <a:latin typeface="Arial"/>
                <a:ea typeface="Arial"/>
                <a:cs typeface="Arial"/>
              </a:rPr>
              <a:t>trước</a:t>
            </a:r>
            <a:r>
              <a:rPr sz="2025" b="0" dirty="0">
                <a:solidFill>
                  <a:srgbClr val="F1EBDD"/>
                </a:solidFill>
                <a:latin typeface="Arial"/>
                <a:ea typeface="Arial"/>
                <a:cs typeface="Arial"/>
              </a:rPr>
              <a:t> </a:t>
            </a:r>
            <a:r>
              <a:rPr sz="2025" b="0" dirty="0" err="1">
                <a:solidFill>
                  <a:srgbClr val="F1EBDD"/>
                </a:solidFill>
                <a:latin typeface="Arial"/>
                <a:ea typeface="Arial"/>
                <a:cs typeface="Arial"/>
              </a:rPr>
              <a:t>khi</a:t>
            </a:r>
            <a:r>
              <a:rPr sz="2025" b="0" dirty="0">
                <a:solidFill>
                  <a:srgbClr val="F1EBDD"/>
                </a:solidFill>
                <a:latin typeface="Arial"/>
                <a:ea typeface="Arial"/>
                <a:cs typeface="Arial"/>
              </a:rPr>
              <a:t> </a:t>
            </a:r>
            <a:r>
              <a:rPr sz="2025" b="0" dirty="0" err="1">
                <a:solidFill>
                  <a:srgbClr val="F1EBDD"/>
                </a:solidFill>
                <a:latin typeface="Arial"/>
                <a:ea typeface="Arial"/>
                <a:cs typeface="Arial"/>
              </a:rPr>
              <a:t>chốt</a:t>
            </a:r>
            <a:r>
              <a:rPr sz="2025" b="0" dirty="0">
                <a:solidFill>
                  <a:srgbClr val="F1EBDD"/>
                </a:solidFill>
                <a:latin typeface="Arial"/>
                <a:ea typeface="Arial"/>
                <a:cs typeface="Arial"/>
              </a:rPr>
              <a:t> </a:t>
            </a:r>
            <a:r>
              <a:rPr sz="2025" b="0" dirty="0" err="1">
                <a:solidFill>
                  <a:srgbClr val="F1EBDD"/>
                </a:solidFill>
                <a:latin typeface="Arial"/>
                <a:ea typeface="Arial"/>
                <a:cs typeface="Arial"/>
              </a:rPr>
              <a:t>nguồn</a:t>
            </a:r>
            <a:r>
              <a:rPr sz="2025" b="0" dirty="0">
                <a:solidFill>
                  <a:srgbClr val="F1EBDD"/>
                </a:solidFill>
                <a:latin typeface="Arial"/>
                <a:ea typeface="Arial"/>
                <a:cs typeface="Arial"/>
              </a:rPr>
              <a:t>.</a:t>
            </a:r>
          </a:p>
        </p:txBody>
      </p:sp>
      <p:sp>
        <p:nvSpPr>
          <p:cNvPr id="12" name="Rectangle 11">
            <a:extLst>
              <a:ext uri="{FF2B5EF4-FFF2-40B4-BE49-F238E27FC236}">
                <a16:creationId xmlns:a16="http://schemas.microsoft.com/office/drawing/2014/main" id="{7D2A6F0A-8485-4F7F-B4E7-BC5ADCD54324}"/>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06</a:t>
            </a:r>
          </a:p>
        </p:txBody>
      </p:sp>
    </p:spTree>
    <p:extLst>
      <p:ext uri="{BB962C8B-B14F-4D97-AF65-F5344CB8AC3E}">
        <p14:creationId xmlns:p14="http://schemas.microsoft.com/office/powerpoint/2010/main" val="113539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7553034-661B-4D2A-B5CD-FC372ECFF752}"/>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D6153CF2-686A-4C60-B2DA-014F5D5582BC}"/>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Luồng xử lý RAG dự kiến</a:t>
            </a:r>
          </a:p>
        </p:txBody>
      </p:sp>
      <p:graphicFrame>
        <p:nvGraphicFramePr>
          <p:cNvPr id="3" name="Table 2">
            <a:extLst>
              <a:ext uri="{FF2B5EF4-FFF2-40B4-BE49-F238E27FC236}">
                <a16:creationId xmlns:a16="http://schemas.microsoft.com/office/drawing/2014/main" id="{B375017F-E1D1-4B2B-8865-66CF8F10EA6F}"/>
              </a:ext>
            </a:extLst>
          </p:cNvPr>
          <p:cNvGraphicFramePr/>
          <p:nvPr/>
        </p:nvGraphicFramePr>
        <p:xfrm>
          <a:off x="609600" y="1952625"/>
          <a:ext cx="10972800" cy="3619500"/>
        </p:xfrm>
        <a:graphic>
          <a:graphicData uri="http://schemas.openxmlformats.org/drawingml/2006/table">
            <a:tbl>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723900">
                <a:tc>
                  <a:txBody>
                    <a:bodyPr/>
                    <a:lstStyle/>
                    <a:p>
                      <a:r>
                        <a:rPr sz="1800" b="1">
                          <a:solidFill>
                            <a:srgbClr val="D3B777"/>
                          </a:solidFill>
                          <a:latin typeface="Arial"/>
                          <a:ea typeface="Arial"/>
                          <a:cs typeface="Arial"/>
                        </a:rPr>
                        <a:t>Giai đoạn</a:t>
                      </a:r>
                    </a:p>
                  </a:txBody>
                  <a:tcPr>
                    <a:solidFill>
                      <a:srgbClr val="344344"/>
                    </a:solidFill>
                  </a:tcPr>
                </a:tc>
                <a:tc>
                  <a:txBody>
                    <a:bodyPr/>
                    <a:lstStyle/>
                    <a:p>
                      <a:r>
                        <a:rPr sz="1800" b="1">
                          <a:solidFill>
                            <a:srgbClr val="D3B777"/>
                          </a:solidFill>
                          <a:latin typeface="Arial"/>
                          <a:ea typeface="Arial"/>
                          <a:cs typeface="Arial"/>
                        </a:rPr>
                        <a:t>Đầu vào và xử lý</a:t>
                      </a:r>
                    </a:p>
                  </a:txBody>
                  <a:tcPr>
                    <a:solidFill>
                      <a:srgbClr val="344344"/>
                    </a:solidFill>
                  </a:tcPr>
                </a:tc>
                <a:tc>
                  <a:txBody>
                    <a:bodyPr/>
                    <a:lstStyle/>
                    <a:p>
                      <a:r>
                        <a:rPr sz="1800" b="1">
                          <a:solidFill>
                            <a:srgbClr val="D3B777"/>
                          </a:solidFill>
                          <a:latin typeface="Arial"/>
                          <a:ea typeface="Arial"/>
                          <a:cs typeface="Arial"/>
                        </a:rPr>
                        <a:t>Đầu ra</a:t>
                      </a:r>
                    </a:p>
                  </a:txBody>
                  <a:tcPr>
                    <a:solidFill>
                      <a:srgbClr val="344344"/>
                    </a:solidFill>
                  </a:tcPr>
                </a:tc>
                <a:extLst>
                  <a:ext uri="{0D108BD9-81ED-4DB2-BD59-A6C34878D82A}">
                    <a16:rowId xmlns:a16="http://schemas.microsoft.com/office/drawing/2014/main" val="10000"/>
                  </a:ext>
                </a:extLst>
              </a:tr>
              <a:tr h="723900">
                <a:tc>
                  <a:txBody>
                    <a:bodyPr/>
                    <a:lstStyle/>
                    <a:p>
                      <a:r>
                        <a:rPr sz="1800" b="0">
                          <a:solidFill>
                            <a:srgbClr val="F1EBDD"/>
                          </a:solidFill>
                          <a:latin typeface="Arial"/>
                          <a:ea typeface="Arial"/>
                          <a:cs typeface="Arial"/>
                        </a:rPr>
                        <a:t>Chuẩn bị dữ liệu</a:t>
                      </a:r>
                    </a:p>
                  </a:txBody>
                  <a:tcPr>
                    <a:solidFill>
                      <a:srgbClr val="19282D"/>
                    </a:solidFill>
                  </a:tcPr>
                </a:tc>
                <a:tc>
                  <a:txBody>
                    <a:bodyPr/>
                    <a:lstStyle/>
                    <a:p>
                      <a:r>
                        <a:rPr sz="1800" b="0">
                          <a:solidFill>
                            <a:srgbClr val="F1EBDD"/>
                          </a:solidFill>
                          <a:latin typeface="Arial"/>
                          <a:ea typeface="Arial"/>
                          <a:cs typeface="Arial"/>
                        </a:rPr>
                        <a:t>Thu thập, làm sạch, chia đoạn</a:t>
                      </a:r>
                    </a:p>
                  </a:txBody>
                  <a:tcPr>
                    <a:solidFill>
                      <a:srgbClr val="19282D"/>
                    </a:solidFill>
                  </a:tcPr>
                </a:tc>
                <a:tc>
                  <a:txBody>
                    <a:bodyPr/>
                    <a:lstStyle/>
                    <a:p>
                      <a:r>
                        <a:rPr sz="1800" b="0">
                          <a:solidFill>
                            <a:srgbClr val="F1EBDD"/>
                          </a:solidFill>
                          <a:latin typeface="Arial"/>
                          <a:ea typeface="Arial"/>
                          <a:cs typeface="Arial"/>
                        </a:rPr>
                        <a:t>Corpus và chunk có nguồn</a:t>
                      </a:r>
                    </a:p>
                  </a:txBody>
                  <a:tcPr>
                    <a:solidFill>
                      <a:srgbClr val="19282D"/>
                    </a:solidFill>
                  </a:tcPr>
                </a:tc>
                <a:extLst>
                  <a:ext uri="{0D108BD9-81ED-4DB2-BD59-A6C34878D82A}">
                    <a16:rowId xmlns:a16="http://schemas.microsoft.com/office/drawing/2014/main" val="10001"/>
                  </a:ext>
                </a:extLst>
              </a:tr>
              <a:tr h="723900">
                <a:tc>
                  <a:txBody>
                    <a:bodyPr/>
                    <a:lstStyle/>
                    <a:p>
                      <a:r>
                        <a:rPr sz="1800" b="0">
                          <a:solidFill>
                            <a:srgbClr val="F1EBDD"/>
                          </a:solidFill>
                          <a:latin typeface="Arial"/>
                          <a:ea typeface="Arial"/>
                          <a:cs typeface="Arial"/>
                        </a:rPr>
                        <a:t>Đánh chỉ mục</a:t>
                      </a:r>
                    </a:p>
                  </a:txBody>
                  <a:tcPr>
                    <a:solidFill>
                      <a:srgbClr val="203237"/>
                    </a:solidFill>
                  </a:tcPr>
                </a:tc>
                <a:tc>
                  <a:txBody>
                    <a:bodyPr/>
                    <a:lstStyle/>
                    <a:p>
                      <a:r>
                        <a:rPr sz="1800" b="0">
                          <a:solidFill>
                            <a:srgbClr val="F1EBDD"/>
                          </a:solidFill>
                          <a:latin typeface="Arial"/>
                          <a:ea typeface="Arial"/>
                          <a:cs typeface="Arial"/>
                        </a:rPr>
                        <a:t>Embedding và BM25</a:t>
                      </a:r>
                    </a:p>
                  </a:txBody>
                  <a:tcPr>
                    <a:solidFill>
                      <a:srgbClr val="203237"/>
                    </a:solidFill>
                  </a:tcPr>
                </a:tc>
                <a:tc>
                  <a:txBody>
                    <a:bodyPr/>
                    <a:lstStyle/>
                    <a:p>
                      <a:r>
                        <a:rPr sz="1800" b="0">
                          <a:solidFill>
                            <a:srgbClr val="F1EBDD"/>
                          </a:solidFill>
                          <a:latin typeface="Arial"/>
                          <a:ea typeface="Arial"/>
                          <a:cs typeface="Arial"/>
                        </a:rPr>
                        <a:t>Qdrant</a:t>
                      </a:r>
                    </a:p>
                  </a:txBody>
                  <a:tcPr>
                    <a:solidFill>
                      <a:srgbClr val="203237"/>
                    </a:solidFill>
                  </a:tcPr>
                </a:tc>
                <a:extLst>
                  <a:ext uri="{0D108BD9-81ED-4DB2-BD59-A6C34878D82A}">
                    <a16:rowId xmlns:a16="http://schemas.microsoft.com/office/drawing/2014/main" val="10002"/>
                  </a:ext>
                </a:extLst>
              </a:tr>
              <a:tr h="723900">
                <a:tc>
                  <a:txBody>
                    <a:bodyPr/>
                    <a:lstStyle/>
                    <a:p>
                      <a:r>
                        <a:rPr sz="1800" b="0">
                          <a:solidFill>
                            <a:srgbClr val="F1EBDD"/>
                          </a:solidFill>
                          <a:latin typeface="Arial"/>
                          <a:ea typeface="Arial"/>
                          <a:cs typeface="Arial"/>
                        </a:rPr>
                        <a:t>Truy xuất</a:t>
                      </a:r>
                    </a:p>
                  </a:txBody>
                  <a:tcPr>
                    <a:solidFill>
                      <a:srgbClr val="19282D"/>
                    </a:solidFill>
                  </a:tcPr>
                </a:tc>
                <a:tc>
                  <a:txBody>
                    <a:bodyPr/>
                    <a:lstStyle/>
                    <a:p>
                      <a:r>
                        <a:rPr sz="1800" b="0">
                          <a:solidFill>
                            <a:srgbClr val="F1EBDD"/>
                          </a:solidFill>
                          <a:latin typeface="Arial"/>
                          <a:ea typeface="Arial"/>
                          <a:cs typeface="Arial"/>
                        </a:rPr>
                        <a:t>Câu hỏi, viết lại truy vấn nếu cần</a:t>
                      </a:r>
                    </a:p>
                  </a:txBody>
                  <a:tcPr>
                    <a:solidFill>
                      <a:srgbClr val="19282D"/>
                    </a:solidFill>
                  </a:tcPr>
                </a:tc>
                <a:tc>
                  <a:txBody>
                    <a:bodyPr/>
                    <a:lstStyle/>
                    <a:p>
                      <a:r>
                        <a:rPr sz="1800" b="0">
                          <a:solidFill>
                            <a:srgbClr val="F1EBDD"/>
                          </a:solidFill>
                          <a:latin typeface="Arial"/>
                          <a:ea typeface="Arial"/>
                          <a:cs typeface="Arial"/>
                        </a:rPr>
                        <a:t>Top-k đoạn, sau hybrid/rerank</a:t>
                      </a:r>
                    </a:p>
                  </a:txBody>
                  <a:tcPr>
                    <a:solidFill>
                      <a:srgbClr val="19282D"/>
                    </a:solidFill>
                  </a:tcPr>
                </a:tc>
                <a:extLst>
                  <a:ext uri="{0D108BD9-81ED-4DB2-BD59-A6C34878D82A}">
                    <a16:rowId xmlns:a16="http://schemas.microsoft.com/office/drawing/2014/main" val="10003"/>
                  </a:ext>
                </a:extLst>
              </a:tr>
              <a:tr h="723900">
                <a:tc>
                  <a:txBody>
                    <a:bodyPr/>
                    <a:lstStyle/>
                    <a:p>
                      <a:r>
                        <a:rPr sz="1800" b="0">
                          <a:solidFill>
                            <a:srgbClr val="F1EBDD"/>
                          </a:solidFill>
                          <a:latin typeface="Arial"/>
                          <a:ea typeface="Arial"/>
                          <a:cs typeface="Arial"/>
                        </a:rPr>
                        <a:t>Sinh câu trả lời</a:t>
                      </a:r>
                    </a:p>
                  </a:txBody>
                  <a:tcPr>
                    <a:solidFill>
                      <a:srgbClr val="203237"/>
                    </a:solidFill>
                  </a:tcPr>
                </a:tc>
                <a:tc>
                  <a:txBody>
                    <a:bodyPr/>
                    <a:lstStyle/>
                    <a:p>
                      <a:r>
                        <a:rPr sz="1800" b="0">
                          <a:solidFill>
                            <a:srgbClr val="F1EBDD"/>
                          </a:solidFill>
                          <a:latin typeface="Arial"/>
                          <a:ea typeface="Arial"/>
                          <a:cs typeface="Arial"/>
                        </a:rPr>
                        <a:t>Câu hỏi và ngữ cảnh có đánh số</a:t>
                      </a:r>
                    </a:p>
                  </a:txBody>
                  <a:tcPr>
                    <a:solidFill>
                      <a:srgbClr val="203237"/>
                    </a:solidFill>
                  </a:tcPr>
                </a:tc>
                <a:tc>
                  <a:txBody>
                    <a:bodyPr/>
                    <a:lstStyle/>
                    <a:p>
                      <a:r>
                        <a:rPr sz="1800" b="0">
                          <a:solidFill>
                            <a:srgbClr val="F1EBDD"/>
                          </a:solidFill>
                          <a:latin typeface="Arial"/>
                          <a:ea typeface="Arial"/>
                          <a:cs typeface="Arial"/>
                        </a:rPr>
                        <a:t>Câu trả lời kèm trích dẫn</a:t>
                      </a:r>
                    </a:p>
                  </a:txBody>
                  <a:tcPr>
                    <a:solidFill>
                      <a:srgbClr val="203237"/>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94F4D618-E957-4650-82E8-8087DD065809}"/>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07</a:t>
            </a:r>
          </a:p>
        </p:txBody>
      </p:sp>
    </p:spTree>
    <p:extLst>
      <p:ext uri="{BB962C8B-B14F-4D97-AF65-F5344CB8AC3E}">
        <p14:creationId xmlns:p14="http://schemas.microsoft.com/office/powerpoint/2010/main" val="1534893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293DF09-F8E6-4303-BFC9-F50526C54A5C}"/>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383CAF02-EC55-4024-B8B5-CDEC3636B9AC}"/>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Kiến trúc triển khai dự kiến</a:t>
            </a:r>
          </a:p>
        </p:txBody>
      </p:sp>
      <p:sp>
        <p:nvSpPr>
          <p:cNvPr id="3" name="Rectangle 2">
            <a:extLst>
              <a:ext uri="{FF2B5EF4-FFF2-40B4-BE49-F238E27FC236}">
                <a16:creationId xmlns:a16="http://schemas.microsoft.com/office/drawing/2014/main" id="{0BD92F10-A512-4635-AB0F-6753C1CB9D14}"/>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7B268530-0B7F-4C7F-9A5C-899543093C81}"/>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React web và Discord bot gọi FastAPI dùng chung.</a:t>
            </a:r>
          </a:p>
        </p:txBody>
      </p:sp>
      <p:sp>
        <p:nvSpPr>
          <p:cNvPr id="5" name="Rectangle 4">
            <a:extLst>
              <a:ext uri="{FF2B5EF4-FFF2-40B4-BE49-F238E27FC236}">
                <a16:creationId xmlns:a16="http://schemas.microsoft.com/office/drawing/2014/main" id="{2DE1E366-036E-4857-9802-32F4821F7304}"/>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30F4E241-20C0-41CD-AC52-2399BEFB0A54}"/>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Qdrant lưu vector; PostgreSQL lưu hội thoại, metadata và feedback.</a:t>
            </a:r>
          </a:p>
        </p:txBody>
      </p:sp>
      <p:sp>
        <p:nvSpPr>
          <p:cNvPr id="7" name="Rectangle 6">
            <a:extLst>
              <a:ext uri="{FF2B5EF4-FFF2-40B4-BE49-F238E27FC236}">
                <a16:creationId xmlns:a16="http://schemas.microsoft.com/office/drawing/2014/main" id="{FEC99567-C8F8-4A44-9063-6D8FB4B9EA9E}"/>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7DBE9A52-BFC0-4DBD-900D-35BC39B0D457}"/>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Docker Compose đóng gói các dịch vụ; Redis bổ sung khi cần cache hoặc rate limit.</a:t>
            </a:r>
          </a:p>
        </p:txBody>
      </p:sp>
      <p:sp>
        <p:nvSpPr>
          <p:cNvPr id="9" name="Rectangle 8">
            <a:extLst>
              <a:ext uri="{FF2B5EF4-FFF2-40B4-BE49-F238E27FC236}">
                <a16:creationId xmlns:a16="http://schemas.microsoft.com/office/drawing/2014/main" id="{13A13885-E201-454E-AA6B-653C606698B3}"/>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0B73CFBD-94CE-4EFC-AEDB-9BFE2EF05C8F}"/>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LLM qua API cấu hình được; lựa chọn local dùng llama.cpp sau khi đo tài nguyên.</a:t>
            </a:r>
          </a:p>
        </p:txBody>
      </p:sp>
      <p:sp>
        <p:nvSpPr>
          <p:cNvPr id="11" name="Rectangle 10">
            <a:extLst>
              <a:ext uri="{FF2B5EF4-FFF2-40B4-BE49-F238E27FC236}">
                <a16:creationId xmlns:a16="http://schemas.microsoft.com/office/drawing/2014/main" id="{2921C0A6-11C8-4CA3-96ED-D9C6C0300362}"/>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08</a:t>
            </a:r>
          </a:p>
        </p:txBody>
      </p:sp>
    </p:spTree>
    <p:extLst>
      <p:ext uri="{BB962C8B-B14F-4D97-AF65-F5344CB8AC3E}">
        <p14:creationId xmlns:p14="http://schemas.microsoft.com/office/powerpoint/2010/main" val="21301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09E2FA3-1344-46CF-BEBC-0E7633A324EF}"/>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C9CAE9C3-0468-4704-A392-63E7A308D35D}"/>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Thiết kế đánh giá</a:t>
            </a:r>
          </a:p>
        </p:txBody>
      </p:sp>
      <p:sp>
        <p:nvSpPr>
          <p:cNvPr id="3" name="Rectangle 2">
            <a:extLst>
              <a:ext uri="{FF2B5EF4-FFF2-40B4-BE49-F238E27FC236}">
                <a16:creationId xmlns:a16="http://schemas.microsoft.com/office/drawing/2014/main" id="{F13FDEDC-2F35-4933-A1A9-ADB22597FEC4}"/>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2061AE45-8ED7-43AB-A7C1-A83EA1213153}"/>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Dự kiến 120 câu, ít nhất 50% tiếng Việt, có nguồn và đáp án tham chiếu.</a:t>
            </a:r>
          </a:p>
        </p:txBody>
      </p:sp>
      <p:sp>
        <p:nvSpPr>
          <p:cNvPr id="5" name="Rectangle 4">
            <a:extLst>
              <a:ext uri="{FF2B5EF4-FFF2-40B4-BE49-F238E27FC236}">
                <a16:creationId xmlns:a16="http://schemas.microsoft.com/office/drawing/2014/main" id="{EB216530-8F06-4AFF-A25A-0172D8092353}"/>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E78942E8-BBDC-4A0D-9B6C-EB7A318356F1}"/>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Tách 60 câu dev và 60 câu test theo nhóm chủ đề hoặc thực thể.</a:t>
            </a:r>
          </a:p>
        </p:txBody>
      </p:sp>
      <p:sp>
        <p:nvSpPr>
          <p:cNvPr id="7" name="Rectangle 6">
            <a:extLst>
              <a:ext uri="{FF2B5EF4-FFF2-40B4-BE49-F238E27FC236}">
                <a16:creationId xmlns:a16="http://schemas.microsoft.com/office/drawing/2014/main" id="{F1E3738F-A101-43C7-B642-2D0857F21C65}"/>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935FD93C-5A28-41DA-9275-1BF83A442766}"/>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Retrieval: Recall@5, Recall@10, MRR; báo cáo riêng câu Việt và Anh.</a:t>
            </a:r>
          </a:p>
        </p:txBody>
      </p:sp>
      <p:sp>
        <p:nvSpPr>
          <p:cNvPr id="9" name="Rectangle 8">
            <a:extLst>
              <a:ext uri="{FF2B5EF4-FFF2-40B4-BE49-F238E27FC236}">
                <a16:creationId xmlns:a16="http://schemas.microsoft.com/office/drawing/2014/main" id="{F224430B-AF35-40E7-B110-936D30DDDE44}"/>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90432060-0422-4813-8BDB-5CB62886806B}"/>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Generation: đúng đáp án, bám nguồn, trích dẫn hợp lệ; đo độ trễ và chi phí.</a:t>
            </a:r>
          </a:p>
        </p:txBody>
      </p:sp>
      <p:sp>
        <p:nvSpPr>
          <p:cNvPr id="11" name="Rectangle 10">
            <a:extLst>
              <a:ext uri="{FF2B5EF4-FFF2-40B4-BE49-F238E27FC236}">
                <a16:creationId xmlns:a16="http://schemas.microsoft.com/office/drawing/2014/main" id="{14230A40-9518-45D1-9C70-39993B6901FE}"/>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09</a:t>
            </a:r>
          </a:p>
        </p:txBody>
      </p:sp>
    </p:spTree>
    <p:extLst>
      <p:ext uri="{BB962C8B-B14F-4D97-AF65-F5344CB8AC3E}">
        <p14:creationId xmlns:p14="http://schemas.microsoft.com/office/powerpoint/2010/main" val="148764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CFCADE0-EF6B-4050-ADE5-6F8819AE6972}"/>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52288BC9-2D97-4E28-AD8D-A3134970D0AA}"/>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Kế hoạch 9 tuần</a:t>
            </a:r>
          </a:p>
        </p:txBody>
      </p:sp>
      <p:graphicFrame>
        <p:nvGraphicFramePr>
          <p:cNvPr id="3" name="Table 2">
            <a:extLst>
              <a:ext uri="{FF2B5EF4-FFF2-40B4-BE49-F238E27FC236}">
                <a16:creationId xmlns:a16="http://schemas.microsoft.com/office/drawing/2014/main" id="{D41B069F-C3B5-47E5-8E12-C8B9438D4C94}"/>
              </a:ext>
            </a:extLst>
          </p:cNvPr>
          <p:cNvGraphicFramePr/>
          <p:nvPr/>
        </p:nvGraphicFramePr>
        <p:xfrm>
          <a:off x="609600" y="1952625"/>
          <a:ext cx="10972800" cy="3857628"/>
        </p:xfrm>
        <a:graphic>
          <a:graphicData uri="http://schemas.openxmlformats.org/drawingml/2006/table">
            <a:tbl>
              <a:tblPr/>
              <a:tblGrid>
                <a:gridCol w="762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4400550">
                  <a:extLst>
                    <a:ext uri="{9D8B030D-6E8A-4147-A177-3AD203B41FA5}">
                      <a16:colId xmlns:a16="http://schemas.microsoft.com/office/drawing/2014/main" val="20003"/>
                    </a:ext>
                  </a:extLst>
                </a:gridCol>
              </a:tblGrid>
              <a:tr h="642938">
                <a:tc>
                  <a:txBody>
                    <a:bodyPr/>
                    <a:lstStyle/>
                    <a:p>
                      <a:r>
                        <a:rPr sz="1800" b="1">
                          <a:solidFill>
                            <a:srgbClr val="D3B777"/>
                          </a:solidFill>
                          <a:latin typeface="Arial"/>
                          <a:ea typeface="Arial"/>
                          <a:cs typeface="Arial"/>
                        </a:rPr>
                        <a:t>Tuần</a:t>
                      </a:r>
                    </a:p>
                  </a:txBody>
                  <a:tcPr>
                    <a:solidFill>
                      <a:srgbClr val="344344"/>
                    </a:solidFill>
                  </a:tcPr>
                </a:tc>
                <a:tc>
                  <a:txBody>
                    <a:bodyPr/>
                    <a:lstStyle/>
                    <a:p>
                      <a:r>
                        <a:rPr sz="1800" b="1">
                          <a:solidFill>
                            <a:srgbClr val="D3B777"/>
                          </a:solidFill>
                          <a:latin typeface="Arial"/>
                          <a:ea typeface="Arial"/>
                          <a:cs typeface="Arial"/>
                        </a:rPr>
                        <a:t>Thời gian</a:t>
                      </a:r>
                    </a:p>
                  </a:txBody>
                  <a:tcPr>
                    <a:solidFill>
                      <a:srgbClr val="344344"/>
                    </a:solidFill>
                  </a:tcPr>
                </a:tc>
                <a:tc>
                  <a:txBody>
                    <a:bodyPr/>
                    <a:lstStyle/>
                    <a:p>
                      <a:r>
                        <a:rPr sz="1800" b="1">
                          <a:solidFill>
                            <a:srgbClr val="D3B777"/>
                          </a:solidFill>
                          <a:latin typeface="Arial"/>
                          <a:ea typeface="Arial"/>
                          <a:cs typeface="Arial"/>
                        </a:rPr>
                        <a:t>Trọng tâm</a:t>
                      </a:r>
                    </a:p>
                  </a:txBody>
                  <a:tcPr>
                    <a:solidFill>
                      <a:srgbClr val="344344"/>
                    </a:solidFill>
                  </a:tcPr>
                </a:tc>
                <a:tc>
                  <a:txBody>
                    <a:bodyPr/>
                    <a:lstStyle/>
                    <a:p>
                      <a:r>
                        <a:rPr sz="1800" b="1">
                          <a:solidFill>
                            <a:srgbClr val="D3B777"/>
                          </a:solidFill>
                          <a:latin typeface="Arial"/>
                          <a:ea typeface="Arial"/>
                          <a:cs typeface="Arial"/>
                        </a:rPr>
                        <a:t>Đầu ra</a:t>
                      </a:r>
                    </a:p>
                  </a:txBody>
                  <a:tcPr>
                    <a:solidFill>
                      <a:srgbClr val="344344"/>
                    </a:solidFill>
                  </a:tcPr>
                </a:tc>
                <a:extLst>
                  <a:ext uri="{0D108BD9-81ED-4DB2-BD59-A6C34878D82A}">
                    <a16:rowId xmlns:a16="http://schemas.microsoft.com/office/drawing/2014/main" val="10000"/>
                  </a:ext>
                </a:extLst>
              </a:tr>
              <a:tr h="642938">
                <a:tc>
                  <a:txBody>
                    <a:bodyPr/>
                    <a:lstStyle/>
                    <a:p>
                      <a:r>
                        <a:rPr sz="1800" b="0">
                          <a:solidFill>
                            <a:srgbClr val="F1EBDD"/>
                          </a:solidFill>
                          <a:latin typeface="Arial"/>
                          <a:ea typeface="Arial"/>
                          <a:cs typeface="Arial"/>
                        </a:rPr>
                        <a:t>1</a:t>
                      </a:r>
                    </a:p>
                  </a:txBody>
                  <a:tcPr>
                    <a:solidFill>
                      <a:srgbClr val="19282D"/>
                    </a:solidFill>
                  </a:tcPr>
                </a:tc>
                <a:tc>
                  <a:txBody>
                    <a:bodyPr/>
                    <a:lstStyle/>
                    <a:p>
                      <a:r>
                        <a:rPr sz="1800" b="0">
                          <a:solidFill>
                            <a:srgbClr val="F1EBDD"/>
                          </a:solidFill>
                          <a:latin typeface="Arial"/>
                          <a:ea typeface="Arial"/>
                          <a:cs typeface="Arial"/>
                        </a:rPr>
                        <a:t>19–25/10</a:t>
                      </a:r>
                    </a:p>
                  </a:txBody>
                  <a:tcPr>
                    <a:solidFill>
                      <a:srgbClr val="19282D"/>
                    </a:solidFill>
                  </a:tcPr>
                </a:tc>
                <a:tc>
                  <a:txBody>
                    <a:bodyPr/>
                    <a:lstStyle/>
                    <a:p>
                      <a:r>
                        <a:rPr sz="1800" b="0">
                          <a:solidFill>
                            <a:srgbClr val="F1EBDD"/>
                          </a:solidFill>
                          <a:latin typeface="Arial"/>
                          <a:ea typeface="Arial"/>
                          <a:cs typeface="Arial"/>
                        </a:rPr>
                        <a:t>Đăng ký, survey, khảo sát dữ liệu</a:t>
                      </a:r>
                    </a:p>
                  </a:txBody>
                  <a:tcPr>
                    <a:solidFill>
                      <a:srgbClr val="19282D"/>
                    </a:solidFill>
                  </a:tcPr>
                </a:tc>
                <a:tc>
                  <a:txBody>
                    <a:bodyPr/>
                    <a:lstStyle/>
                    <a:p>
                      <a:r>
                        <a:rPr sz="1800" b="0">
                          <a:solidFill>
                            <a:srgbClr val="F1EBDD"/>
                          </a:solidFill>
                          <a:latin typeface="Arial"/>
                          <a:ea typeface="Arial"/>
                          <a:cs typeface="Arial"/>
                        </a:rPr>
                        <a:t>Đề cương, bảng survey, 30 câu mẫu</a:t>
                      </a:r>
                    </a:p>
                  </a:txBody>
                  <a:tcPr>
                    <a:solidFill>
                      <a:srgbClr val="19282D"/>
                    </a:solidFill>
                  </a:tcPr>
                </a:tc>
                <a:extLst>
                  <a:ext uri="{0D108BD9-81ED-4DB2-BD59-A6C34878D82A}">
                    <a16:rowId xmlns:a16="http://schemas.microsoft.com/office/drawing/2014/main" val="10001"/>
                  </a:ext>
                </a:extLst>
              </a:tr>
              <a:tr h="642938">
                <a:tc>
                  <a:txBody>
                    <a:bodyPr/>
                    <a:lstStyle/>
                    <a:p>
                      <a:r>
                        <a:rPr sz="1800" b="0">
                          <a:solidFill>
                            <a:srgbClr val="F1EBDD"/>
                          </a:solidFill>
                          <a:latin typeface="Arial"/>
                          <a:ea typeface="Arial"/>
                          <a:cs typeface="Arial"/>
                        </a:rPr>
                        <a:t>2</a:t>
                      </a:r>
                    </a:p>
                  </a:txBody>
                  <a:tcPr>
                    <a:solidFill>
                      <a:srgbClr val="203237"/>
                    </a:solidFill>
                  </a:tcPr>
                </a:tc>
                <a:tc>
                  <a:txBody>
                    <a:bodyPr/>
                    <a:lstStyle/>
                    <a:p>
                      <a:r>
                        <a:rPr sz="1800" b="0">
                          <a:solidFill>
                            <a:srgbClr val="F1EBDD"/>
                          </a:solidFill>
                          <a:latin typeface="Arial"/>
                          <a:ea typeface="Arial"/>
                          <a:cs typeface="Arial"/>
                        </a:rPr>
                        <a:t>26/10–01/11</a:t>
                      </a:r>
                    </a:p>
                  </a:txBody>
                  <a:tcPr>
                    <a:solidFill>
                      <a:srgbClr val="203237"/>
                    </a:solidFill>
                  </a:tcPr>
                </a:tc>
                <a:tc>
                  <a:txBody>
                    <a:bodyPr/>
                    <a:lstStyle/>
                    <a:p>
                      <a:r>
                        <a:rPr sz="1800" b="0">
                          <a:solidFill>
                            <a:srgbClr val="F1EBDD"/>
                          </a:solidFill>
                          <a:latin typeface="Arial"/>
                          <a:ea typeface="Arial"/>
                          <a:cs typeface="Arial"/>
                        </a:rPr>
                        <a:t>Crawler và làm sạch dữ liệu</a:t>
                      </a:r>
                    </a:p>
                  </a:txBody>
                  <a:tcPr>
                    <a:solidFill>
                      <a:srgbClr val="203237"/>
                    </a:solidFill>
                  </a:tcPr>
                </a:tc>
                <a:tc>
                  <a:txBody>
                    <a:bodyPr/>
                    <a:lstStyle/>
                    <a:p>
                      <a:r>
                        <a:rPr sz="1800" b="0">
                          <a:solidFill>
                            <a:srgbClr val="F1EBDD"/>
                          </a:solidFill>
                          <a:latin typeface="Arial"/>
                          <a:ea typeface="Arial"/>
                          <a:cs typeface="Arial"/>
                        </a:rPr>
                        <a:t>Corpus mẫu, schema và báo cáo chất lượng</a:t>
                      </a:r>
                    </a:p>
                  </a:txBody>
                  <a:tcPr>
                    <a:solidFill>
                      <a:srgbClr val="203237"/>
                    </a:solidFill>
                  </a:tcPr>
                </a:tc>
                <a:extLst>
                  <a:ext uri="{0D108BD9-81ED-4DB2-BD59-A6C34878D82A}">
                    <a16:rowId xmlns:a16="http://schemas.microsoft.com/office/drawing/2014/main" val="10002"/>
                  </a:ext>
                </a:extLst>
              </a:tr>
              <a:tr h="642938">
                <a:tc>
                  <a:txBody>
                    <a:bodyPr/>
                    <a:lstStyle/>
                    <a:p>
                      <a:r>
                        <a:rPr sz="1800" b="0">
                          <a:solidFill>
                            <a:srgbClr val="F1EBDD"/>
                          </a:solidFill>
                          <a:latin typeface="Arial"/>
                          <a:ea typeface="Arial"/>
                          <a:cs typeface="Arial"/>
                        </a:rPr>
                        <a:t>3</a:t>
                      </a:r>
                    </a:p>
                  </a:txBody>
                  <a:tcPr>
                    <a:solidFill>
                      <a:srgbClr val="19282D"/>
                    </a:solidFill>
                  </a:tcPr>
                </a:tc>
                <a:tc>
                  <a:txBody>
                    <a:bodyPr/>
                    <a:lstStyle/>
                    <a:p>
                      <a:r>
                        <a:rPr sz="1800" b="0">
                          <a:solidFill>
                            <a:srgbClr val="F1EBDD"/>
                          </a:solidFill>
                          <a:latin typeface="Arial"/>
                          <a:ea typeface="Arial"/>
                          <a:cs typeface="Arial"/>
                        </a:rPr>
                        <a:t>02–08/11</a:t>
                      </a:r>
                    </a:p>
                  </a:txBody>
                  <a:tcPr>
                    <a:solidFill>
                      <a:srgbClr val="19282D"/>
                    </a:solidFill>
                  </a:tcPr>
                </a:tc>
                <a:tc>
                  <a:txBody>
                    <a:bodyPr/>
                    <a:lstStyle/>
                    <a:p>
                      <a:r>
                        <a:rPr sz="1800" b="0">
                          <a:solidFill>
                            <a:srgbClr val="F1EBDD"/>
                          </a:solidFill>
                          <a:latin typeface="Arial"/>
                          <a:ea typeface="Arial"/>
                          <a:cs typeface="Arial"/>
                        </a:rPr>
                        <a:t>Chunk, embedding và Qdrant</a:t>
                      </a:r>
                    </a:p>
                  </a:txBody>
                  <a:tcPr>
                    <a:solidFill>
                      <a:srgbClr val="19282D"/>
                    </a:solidFill>
                  </a:tcPr>
                </a:tc>
                <a:tc>
                  <a:txBody>
                    <a:bodyPr/>
                    <a:lstStyle/>
                    <a:p>
                      <a:r>
                        <a:rPr sz="1800" b="0">
                          <a:solidFill>
                            <a:srgbClr val="F1EBDD"/>
                          </a:solidFill>
                          <a:latin typeface="Arial"/>
                          <a:ea typeface="Arial"/>
                          <a:cs typeface="Arial"/>
                        </a:rPr>
                        <a:t>Dense baseline và Recall@5 ban đầu</a:t>
                      </a:r>
                    </a:p>
                  </a:txBody>
                  <a:tcPr>
                    <a:solidFill>
                      <a:srgbClr val="19282D"/>
                    </a:solidFill>
                  </a:tcPr>
                </a:tc>
                <a:extLst>
                  <a:ext uri="{0D108BD9-81ED-4DB2-BD59-A6C34878D82A}">
                    <a16:rowId xmlns:a16="http://schemas.microsoft.com/office/drawing/2014/main" val="10003"/>
                  </a:ext>
                </a:extLst>
              </a:tr>
              <a:tr h="642938">
                <a:tc>
                  <a:txBody>
                    <a:bodyPr/>
                    <a:lstStyle/>
                    <a:p>
                      <a:r>
                        <a:rPr sz="1800" b="0">
                          <a:solidFill>
                            <a:srgbClr val="F1EBDD"/>
                          </a:solidFill>
                          <a:latin typeface="Arial"/>
                          <a:ea typeface="Arial"/>
                          <a:cs typeface="Arial"/>
                        </a:rPr>
                        <a:t>4</a:t>
                      </a:r>
                    </a:p>
                  </a:txBody>
                  <a:tcPr>
                    <a:solidFill>
                      <a:srgbClr val="203237"/>
                    </a:solidFill>
                  </a:tcPr>
                </a:tc>
                <a:tc>
                  <a:txBody>
                    <a:bodyPr/>
                    <a:lstStyle/>
                    <a:p>
                      <a:r>
                        <a:rPr sz="1800" b="0">
                          <a:solidFill>
                            <a:srgbClr val="F1EBDD"/>
                          </a:solidFill>
                          <a:latin typeface="Arial"/>
                          <a:ea typeface="Arial"/>
                          <a:cs typeface="Arial"/>
                        </a:rPr>
                        <a:t>09–15/11</a:t>
                      </a:r>
                    </a:p>
                  </a:txBody>
                  <a:tcPr>
                    <a:solidFill>
                      <a:srgbClr val="203237"/>
                    </a:solidFill>
                  </a:tcPr>
                </a:tc>
                <a:tc>
                  <a:txBody>
                    <a:bodyPr/>
                    <a:lstStyle/>
                    <a:p>
                      <a:r>
                        <a:rPr sz="1800" b="0">
                          <a:solidFill>
                            <a:srgbClr val="F1EBDD"/>
                          </a:solidFill>
                          <a:latin typeface="Arial"/>
                          <a:ea typeface="Arial"/>
                          <a:cs typeface="Arial"/>
                        </a:rPr>
                        <a:t>BM25, hybrid và rerank</a:t>
                      </a:r>
                    </a:p>
                  </a:txBody>
                  <a:tcPr>
                    <a:solidFill>
                      <a:srgbClr val="203237"/>
                    </a:solidFill>
                  </a:tcPr>
                </a:tc>
                <a:tc>
                  <a:txBody>
                    <a:bodyPr/>
                    <a:lstStyle/>
                    <a:p>
                      <a:r>
                        <a:rPr sz="1800" b="0">
                          <a:solidFill>
                            <a:srgbClr val="F1EBDD"/>
                          </a:solidFill>
                          <a:latin typeface="Arial"/>
                          <a:ea typeface="Arial"/>
                          <a:cs typeface="Arial"/>
                        </a:rPr>
                        <a:t>Bảng so sánh retrieval trên tập dev</a:t>
                      </a:r>
                    </a:p>
                  </a:txBody>
                  <a:tcPr>
                    <a:solidFill>
                      <a:srgbClr val="203237"/>
                    </a:solidFill>
                  </a:tcPr>
                </a:tc>
                <a:extLst>
                  <a:ext uri="{0D108BD9-81ED-4DB2-BD59-A6C34878D82A}">
                    <a16:rowId xmlns:a16="http://schemas.microsoft.com/office/drawing/2014/main" val="10004"/>
                  </a:ext>
                </a:extLst>
              </a:tr>
              <a:tr h="642938">
                <a:tc>
                  <a:txBody>
                    <a:bodyPr/>
                    <a:lstStyle/>
                    <a:p>
                      <a:r>
                        <a:rPr sz="1800" b="0">
                          <a:solidFill>
                            <a:srgbClr val="F1EBDD"/>
                          </a:solidFill>
                          <a:latin typeface="Arial"/>
                          <a:ea typeface="Arial"/>
                          <a:cs typeface="Arial"/>
                        </a:rPr>
                        <a:t>5</a:t>
                      </a:r>
                    </a:p>
                  </a:txBody>
                  <a:tcPr>
                    <a:solidFill>
                      <a:srgbClr val="19282D"/>
                    </a:solidFill>
                  </a:tcPr>
                </a:tc>
                <a:tc>
                  <a:txBody>
                    <a:bodyPr/>
                    <a:lstStyle/>
                    <a:p>
                      <a:r>
                        <a:rPr sz="1800" b="0">
                          <a:solidFill>
                            <a:srgbClr val="F1EBDD"/>
                          </a:solidFill>
                          <a:latin typeface="Arial"/>
                          <a:ea typeface="Arial"/>
                          <a:cs typeface="Arial"/>
                        </a:rPr>
                        <a:t>16–22/11</a:t>
                      </a:r>
                    </a:p>
                  </a:txBody>
                  <a:tcPr>
                    <a:solidFill>
                      <a:srgbClr val="19282D"/>
                    </a:solidFill>
                  </a:tcPr>
                </a:tc>
                <a:tc>
                  <a:txBody>
                    <a:bodyPr/>
                    <a:lstStyle/>
                    <a:p>
                      <a:r>
                        <a:rPr sz="1800" b="0">
                          <a:solidFill>
                            <a:srgbClr val="F1EBDD"/>
                          </a:solidFill>
                          <a:latin typeface="Arial"/>
                          <a:ea typeface="Arial"/>
                          <a:cs typeface="Arial"/>
                        </a:rPr>
                        <a:t>Generation và API dùng chung</a:t>
                      </a:r>
                    </a:p>
                  </a:txBody>
                  <a:tcPr>
                    <a:solidFill>
                      <a:srgbClr val="19282D"/>
                    </a:solidFill>
                  </a:tcPr>
                </a:tc>
                <a:tc>
                  <a:txBody>
                    <a:bodyPr/>
                    <a:lstStyle/>
                    <a:p>
                      <a:r>
                        <a:rPr sz="1800" b="0">
                          <a:solidFill>
                            <a:srgbClr val="F1EBDD"/>
                          </a:solidFill>
                          <a:latin typeface="Arial"/>
                          <a:ea typeface="Arial"/>
                          <a:cs typeface="Arial"/>
                        </a:rPr>
                        <a:t>Câu trả lời có nguồn, lưu hội thoại</a:t>
                      </a:r>
                    </a:p>
                  </a:txBody>
                  <a:tcPr>
                    <a:solidFill>
                      <a:srgbClr val="19282D"/>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96A34553-58CC-4AF3-A0A8-EA4E9A9727F8}"/>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10</a:t>
            </a:r>
          </a:p>
        </p:txBody>
      </p:sp>
    </p:spTree>
    <p:extLst>
      <p:ext uri="{BB962C8B-B14F-4D97-AF65-F5344CB8AC3E}">
        <p14:creationId xmlns:p14="http://schemas.microsoft.com/office/powerpoint/2010/main" val="188488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ED289E-905F-4B73-AAE0-3EDC51AB6FCB}"/>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17359274-F1D1-4DA5-9EE0-659C02BD36E0}"/>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Tích hợp và hoàn thành</a:t>
            </a:r>
          </a:p>
        </p:txBody>
      </p:sp>
      <p:graphicFrame>
        <p:nvGraphicFramePr>
          <p:cNvPr id="3" name="Table 2">
            <a:extLst>
              <a:ext uri="{FF2B5EF4-FFF2-40B4-BE49-F238E27FC236}">
                <a16:creationId xmlns:a16="http://schemas.microsoft.com/office/drawing/2014/main" id="{133FC838-7BEB-47D6-BEA9-921584B5C8DF}"/>
              </a:ext>
            </a:extLst>
          </p:cNvPr>
          <p:cNvGraphicFramePr/>
          <p:nvPr/>
        </p:nvGraphicFramePr>
        <p:xfrm>
          <a:off x="609600" y="1952625"/>
          <a:ext cx="10972800" cy="3619500"/>
        </p:xfrm>
        <a:graphic>
          <a:graphicData uri="http://schemas.openxmlformats.org/drawingml/2006/table">
            <a:tbl>
              <a:tblPr/>
              <a:tblGrid>
                <a:gridCol w="762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4400550">
                  <a:extLst>
                    <a:ext uri="{9D8B030D-6E8A-4147-A177-3AD203B41FA5}">
                      <a16:colId xmlns:a16="http://schemas.microsoft.com/office/drawing/2014/main" val="20003"/>
                    </a:ext>
                  </a:extLst>
                </a:gridCol>
              </a:tblGrid>
              <a:tr h="723900">
                <a:tc>
                  <a:txBody>
                    <a:bodyPr/>
                    <a:lstStyle/>
                    <a:p>
                      <a:r>
                        <a:rPr sz="1800" b="1">
                          <a:solidFill>
                            <a:srgbClr val="D3B777"/>
                          </a:solidFill>
                          <a:latin typeface="Arial"/>
                          <a:ea typeface="Arial"/>
                          <a:cs typeface="Arial"/>
                        </a:rPr>
                        <a:t>Tuần</a:t>
                      </a:r>
                    </a:p>
                  </a:txBody>
                  <a:tcPr>
                    <a:solidFill>
                      <a:srgbClr val="344344"/>
                    </a:solidFill>
                  </a:tcPr>
                </a:tc>
                <a:tc>
                  <a:txBody>
                    <a:bodyPr/>
                    <a:lstStyle/>
                    <a:p>
                      <a:r>
                        <a:rPr sz="1800" b="1">
                          <a:solidFill>
                            <a:srgbClr val="D3B777"/>
                          </a:solidFill>
                          <a:latin typeface="Arial"/>
                          <a:ea typeface="Arial"/>
                          <a:cs typeface="Arial"/>
                        </a:rPr>
                        <a:t>Thời gian</a:t>
                      </a:r>
                    </a:p>
                  </a:txBody>
                  <a:tcPr>
                    <a:solidFill>
                      <a:srgbClr val="344344"/>
                    </a:solidFill>
                  </a:tcPr>
                </a:tc>
                <a:tc>
                  <a:txBody>
                    <a:bodyPr/>
                    <a:lstStyle/>
                    <a:p>
                      <a:r>
                        <a:rPr sz="1800" b="1">
                          <a:solidFill>
                            <a:srgbClr val="D3B777"/>
                          </a:solidFill>
                          <a:latin typeface="Arial"/>
                          <a:ea typeface="Arial"/>
                          <a:cs typeface="Arial"/>
                        </a:rPr>
                        <a:t>Trọng tâm</a:t>
                      </a:r>
                    </a:p>
                  </a:txBody>
                  <a:tcPr>
                    <a:solidFill>
                      <a:srgbClr val="344344"/>
                    </a:solidFill>
                  </a:tcPr>
                </a:tc>
                <a:tc>
                  <a:txBody>
                    <a:bodyPr/>
                    <a:lstStyle/>
                    <a:p>
                      <a:r>
                        <a:rPr sz="1800" b="1">
                          <a:solidFill>
                            <a:srgbClr val="D3B777"/>
                          </a:solidFill>
                          <a:latin typeface="Arial"/>
                          <a:ea typeface="Arial"/>
                          <a:cs typeface="Arial"/>
                        </a:rPr>
                        <a:t>Đầu ra</a:t>
                      </a:r>
                    </a:p>
                  </a:txBody>
                  <a:tcPr>
                    <a:solidFill>
                      <a:srgbClr val="344344"/>
                    </a:solidFill>
                  </a:tcPr>
                </a:tc>
                <a:extLst>
                  <a:ext uri="{0D108BD9-81ED-4DB2-BD59-A6C34878D82A}">
                    <a16:rowId xmlns:a16="http://schemas.microsoft.com/office/drawing/2014/main" val="10000"/>
                  </a:ext>
                </a:extLst>
              </a:tr>
              <a:tr h="723900">
                <a:tc>
                  <a:txBody>
                    <a:bodyPr/>
                    <a:lstStyle/>
                    <a:p>
                      <a:r>
                        <a:rPr sz="1800" b="0">
                          <a:solidFill>
                            <a:srgbClr val="F1EBDD"/>
                          </a:solidFill>
                          <a:latin typeface="Arial"/>
                          <a:ea typeface="Arial"/>
                          <a:cs typeface="Arial"/>
                        </a:rPr>
                        <a:t>6</a:t>
                      </a:r>
                    </a:p>
                  </a:txBody>
                  <a:tcPr>
                    <a:solidFill>
                      <a:srgbClr val="19282D"/>
                    </a:solidFill>
                  </a:tcPr>
                </a:tc>
                <a:tc>
                  <a:txBody>
                    <a:bodyPr/>
                    <a:lstStyle/>
                    <a:p>
                      <a:r>
                        <a:rPr sz="1800" b="0">
                          <a:solidFill>
                            <a:srgbClr val="F1EBDD"/>
                          </a:solidFill>
                          <a:latin typeface="Arial"/>
                          <a:ea typeface="Arial"/>
                          <a:cs typeface="Arial"/>
                        </a:rPr>
                        <a:t>23–29/11</a:t>
                      </a:r>
                    </a:p>
                  </a:txBody>
                  <a:tcPr>
                    <a:solidFill>
                      <a:srgbClr val="19282D"/>
                    </a:solidFill>
                  </a:tcPr>
                </a:tc>
                <a:tc>
                  <a:txBody>
                    <a:bodyPr/>
                    <a:lstStyle/>
                    <a:p>
                      <a:r>
                        <a:rPr sz="1800" b="0">
                          <a:solidFill>
                            <a:srgbClr val="F1EBDD"/>
                          </a:solidFill>
                          <a:latin typeface="Arial"/>
                          <a:ea typeface="Arial"/>
                          <a:cs typeface="Arial"/>
                        </a:rPr>
                        <a:t>Tích hợp web và Discord</a:t>
                      </a:r>
                    </a:p>
                  </a:txBody>
                  <a:tcPr>
                    <a:solidFill>
                      <a:srgbClr val="19282D"/>
                    </a:solidFill>
                  </a:tcPr>
                </a:tc>
                <a:tc>
                  <a:txBody>
                    <a:bodyPr/>
                    <a:lstStyle/>
                    <a:p>
                      <a:r>
                        <a:rPr sz="1800" b="0">
                          <a:solidFill>
                            <a:srgbClr val="F1EBDD"/>
                          </a:solidFill>
                          <a:latin typeface="Arial"/>
                          <a:ea typeface="Arial"/>
                          <a:cs typeface="Arial"/>
                        </a:rPr>
                        <a:t>MVP chạy được trên cả hai kênh</a:t>
                      </a:r>
                    </a:p>
                  </a:txBody>
                  <a:tcPr>
                    <a:solidFill>
                      <a:srgbClr val="19282D"/>
                    </a:solidFill>
                  </a:tcPr>
                </a:tc>
                <a:extLst>
                  <a:ext uri="{0D108BD9-81ED-4DB2-BD59-A6C34878D82A}">
                    <a16:rowId xmlns:a16="http://schemas.microsoft.com/office/drawing/2014/main" val="10001"/>
                  </a:ext>
                </a:extLst>
              </a:tr>
              <a:tr h="723900">
                <a:tc>
                  <a:txBody>
                    <a:bodyPr/>
                    <a:lstStyle/>
                    <a:p>
                      <a:r>
                        <a:rPr sz="1800" b="0">
                          <a:solidFill>
                            <a:srgbClr val="F1EBDD"/>
                          </a:solidFill>
                          <a:latin typeface="Arial"/>
                          <a:ea typeface="Arial"/>
                          <a:cs typeface="Arial"/>
                        </a:rPr>
                        <a:t>7</a:t>
                      </a:r>
                    </a:p>
                  </a:txBody>
                  <a:tcPr>
                    <a:solidFill>
                      <a:srgbClr val="203237"/>
                    </a:solidFill>
                  </a:tcPr>
                </a:tc>
                <a:tc>
                  <a:txBody>
                    <a:bodyPr/>
                    <a:lstStyle/>
                    <a:p>
                      <a:r>
                        <a:rPr sz="1800" b="0">
                          <a:solidFill>
                            <a:srgbClr val="F1EBDD"/>
                          </a:solidFill>
                          <a:latin typeface="Arial"/>
                          <a:ea typeface="Arial"/>
                          <a:cs typeface="Arial"/>
                        </a:rPr>
                        <a:t>30/11–06/12</a:t>
                      </a:r>
                    </a:p>
                  </a:txBody>
                  <a:tcPr>
                    <a:solidFill>
                      <a:srgbClr val="203237"/>
                    </a:solidFill>
                  </a:tcPr>
                </a:tc>
                <a:tc>
                  <a:txBody>
                    <a:bodyPr/>
                    <a:lstStyle/>
                    <a:p>
                      <a:r>
                        <a:rPr sz="1800" b="0">
                          <a:solidFill>
                            <a:srgbClr val="F1EBDD"/>
                          </a:solidFill>
                          <a:latin typeface="Arial"/>
                          <a:ea typeface="Arial"/>
                          <a:cs typeface="Arial"/>
                        </a:rPr>
                        <a:t>Đánh giá, phân tích lỗi</a:t>
                      </a:r>
                    </a:p>
                  </a:txBody>
                  <a:tcPr>
                    <a:solidFill>
                      <a:srgbClr val="203237"/>
                    </a:solidFill>
                  </a:tcPr>
                </a:tc>
                <a:tc>
                  <a:txBody>
                    <a:bodyPr/>
                    <a:lstStyle/>
                    <a:p>
                      <a:r>
                        <a:rPr sz="1800" b="0">
                          <a:solidFill>
                            <a:srgbClr val="F1EBDD"/>
                          </a:solidFill>
                          <a:latin typeface="Arial"/>
                          <a:ea typeface="Arial"/>
                          <a:cs typeface="Arial"/>
                        </a:rPr>
                        <a:t>Bảng thí nghiệm, sửa lỗi theo nhóm</a:t>
                      </a:r>
                    </a:p>
                  </a:txBody>
                  <a:tcPr>
                    <a:solidFill>
                      <a:srgbClr val="203237"/>
                    </a:solidFill>
                  </a:tcPr>
                </a:tc>
                <a:extLst>
                  <a:ext uri="{0D108BD9-81ED-4DB2-BD59-A6C34878D82A}">
                    <a16:rowId xmlns:a16="http://schemas.microsoft.com/office/drawing/2014/main" val="10002"/>
                  </a:ext>
                </a:extLst>
              </a:tr>
              <a:tr h="723900">
                <a:tc>
                  <a:txBody>
                    <a:bodyPr/>
                    <a:lstStyle/>
                    <a:p>
                      <a:r>
                        <a:rPr sz="1800" b="0">
                          <a:solidFill>
                            <a:srgbClr val="F1EBDD"/>
                          </a:solidFill>
                          <a:latin typeface="Arial"/>
                          <a:ea typeface="Arial"/>
                          <a:cs typeface="Arial"/>
                        </a:rPr>
                        <a:t>8</a:t>
                      </a:r>
                    </a:p>
                  </a:txBody>
                  <a:tcPr>
                    <a:solidFill>
                      <a:srgbClr val="19282D"/>
                    </a:solidFill>
                  </a:tcPr>
                </a:tc>
                <a:tc>
                  <a:txBody>
                    <a:bodyPr/>
                    <a:lstStyle/>
                    <a:p>
                      <a:r>
                        <a:rPr sz="1800" b="0">
                          <a:solidFill>
                            <a:srgbClr val="F1EBDD"/>
                          </a:solidFill>
                          <a:latin typeface="Arial"/>
                          <a:ea typeface="Arial"/>
                          <a:cs typeface="Arial"/>
                        </a:rPr>
                        <a:t>07–13/12</a:t>
                      </a:r>
                    </a:p>
                  </a:txBody>
                  <a:tcPr>
                    <a:solidFill>
                      <a:srgbClr val="19282D"/>
                    </a:solidFill>
                  </a:tcPr>
                </a:tc>
                <a:tc>
                  <a:txBody>
                    <a:bodyPr/>
                    <a:lstStyle/>
                    <a:p>
                      <a:r>
                        <a:rPr sz="1800" b="0">
                          <a:solidFill>
                            <a:srgbClr val="F1EBDD"/>
                          </a:solidFill>
                          <a:latin typeface="Arial"/>
                          <a:ea typeface="Arial"/>
                          <a:cs typeface="Arial"/>
                        </a:rPr>
                        <a:t>Docker deploy và kiểm thử người dùng</a:t>
                      </a:r>
                    </a:p>
                  </a:txBody>
                  <a:tcPr>
                    <a:solidFill>
                      <a:srgbClr val="19282D"/>
                    </a:solidFill>
                  </a:tcPr>
                </a:tc>
                <a:tc>
                  <a:txBody>
                    <a:bodyPr/>
                    <a:lstStyle/>
                    <a:p>
                      <a:r>
                        <a:rPr sz="1800" b="0">
                          <a:solidFill>
                            <a:srgbClr val="F1EBDD"/>
                          </a:solidFill>
                          <a:latin typeface="Arial"/>
                          <a:ea typeface="Arial"/>
                          <a:cs typeface="Arial"/>
                        </a:rPr>
                        <a:t>Bản demo, feedback, bản sao lưu</a:t>
                      </a:r>
                    </a:p>
                  </a:txBody>
                  <a:tcPr>
                    <a:solidFill>
                      <a:srgbClr val="19282D"/>
                    </a:solidFill>
                  </a:tcPr>
                </a:tc>
                <a:extLst>
                  <a:ext uri="{0D108BD9-81ED-4DB2-BD59-A6C34878D82A}">
                    <a16:rowId xmlns:a16="http://schemas.microsoft.com/office/drawing/2014/main" val="10003"/>
                  </a:ext>
                </a:extLst>
              </a:tr>
              <a:tr h="723900">
                <a:tc>
                  <a:txBody>
                    <a:bodyPr/>
                    <a:lstStyle/>
                    <a:p>
                      <a:r>
                        <a:rPr sz="1800" b="0">
                          <a:solidFill>
                            <a:srgbClr val="F1EBDD"/>
                          </a:solidFill>
                          <a:latin typeface="Arial"/>
                          <a:ea typeface="Arial"/>
                          <a:cs typeface="Arial"/>
                        </a:rPr>
                        <a:t>9</a:t>
                      </a:r>
                    </a:p>
                  </a:txBody>
                  <a:tcPr>
                    <a:solidFill>
                      <a:srgbClr val="203237"/>
                    </a:solidFill>
                  </a:tcPr>
                </a:tc>
                <a:tc>
                  <a:txBody>
                    <a:bodyPr/>
                    <a:lstStyle/>
                    <a:p>
                      <a:r>
                        <a:rPr sz="1800" b="0">
                          <a:solidFill>
                            <a:srgbClr val="F1EBDD"/>
                          </a:solidFill>
                          <a:latin typeface="Arial"/>
                          <a:ea typeface="Arial"/>
                          <a:cs typeface="Arial"/>
                        </a:rPr>
                        <a:t>14–20/12</a:t>
                      </a:r>
                    </a:p>
                  </a:txBody>
                  <a:tcPr>
                    <a:solidFill>
                      <a:srgbClr val="203237"/>
                    </a:solidFill>
                  </a:tcPr>
                </a:tc>
                <a:tc>
                  <a:txBody>
                    <a:bodyPr/>
                    <a:lstStyle/>
                    <a:p>
                      <a:r>
                        <a:rPr sz="1800" b="0">
                          <a:solidFill>
                            <a:srgbClr val="F1EBDD"/>
                          </a:solidFill>
                          <a:latin typeface="Arial"/>
                          <a:ea typeface="Arial"/>
                          <a:cs typeface="Arial"/>
                        </a:rPr>
                        <a:t>Ổn định và báo cáo cuối</a:t>
                      </a:r>
                    </a:p>
                  </a:txBody>
                  <a:tcPr>
                    <a:solidFill>
                      <a:srgbClr val="203237"/>
                    </a:solidFill>
                  </a:tcPr>
                </a:tc>
                <a:tc>
                  <a:txBody>
                    <a:bodyPr/>
                    <a:lstStyle/>
                    <a:p>
                      <a:r>
                        <a:rPr sz="1800" b="0">
                          <a:solidFill>
                            <a:srgbClr val="F1EBDD"/>
                          </a:solidFill>
                          <a:latin typeface="Arial"/>
                          <a:ea typeface="Arial"/>
                          <a:cs typeface="Arial"/>
                        </a:rPr>
                        <a:t>Release, báo cáo, slide và video demo</a:t>
                      </a:r>
                    </a:p>
                  </a:txBody>
                  <a:tcPr>
                    <a:solidFill>
                      <a:srgbClr val="203237"/>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8BD41FB9-48D6-4CD0-BE0A-FC463E91D804}"/>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11</a:t>
            </a:r>
          </a:p>
        </p:txBody>
      </p:sp>
    </p:spTree>
    <p:extLst>
      <p:ext uri="{BB962C8B-B14F-4D97-AF65-F5344CB8AC3E}">
        <p14:creationId xmlns:p14="http://schemas.microsoft.com/office/powerpoint/2010/main" val="877933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BDE58CD-E03F-49FF-BFA7-5015161274BF}"/>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A2ACD263-A6A1-46D7-B1B9-D146A8074F6C}"/>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Phân công nhóm 4 Hollows</a:t>
            </a:r>
          </a:p>
        </p:txBody>
      </p:sp>
      <p:graphicFrame>
        <p:nvGraphicFramePr>
          <p:cNvPr id="3" name="Table 2">
            <a:extLst>
              <a:ext uri="{FF2B5EF4-FFF2-40B4-BE49-F238E27FC236}">
                <a16:creationId xmlns:a16="http://schemas.microsoft.com/office/drawing/2014/main" id="{8F64F06B-5345-4006-B3A1-6004CEA0D64B}"/>
              </a:ext>
            </a:extLst>
          </p:cNvPr>
          <p:cNvGraphicFramePr/>
          <p:nvPr/>
        </p:nvGraphicFramePr>
        <p:xfrm>
          <a:off x="609600" y="1952625"/>
          <a:ext cx="10972800" cy="3619500"/>
        </p:xfrm>
        <a:graphic>
          <a:graphicData uri="http://schemas.openxmlformats.org/drawingml/2006/table">
            <a:tbl>
              <a:tblPr/>
              <a:tblGrid>
                <a:gridCol w="2286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723900">
                <a:tc>
                  <a:txBody>
                    <a:bodyPr/>
                    <a:lstStyle/>
                    <a:p>
                      <a:r>
                        <a:rPr sz="1800" b="1">
                          <a:solidFill>
                            <a:srgbClr val="D3B777"/>
                          </a:solidFill>
                          <a:latin typeface="Arial"/>
                          <a:ea typeface="Arial"/>
                          <a:cs typeface="Arial"/>
                        </a:rPr>
                        <a:t>Thành viên</a:t>
                      </a:r>
                    </a:p>
                  </a:txBody>
                  <a:tcPr>
                    <a:solidFill>
                      <a:srgbClr val="344344"/>
                    </a:solidFill>
                  </a:tcPr>
                </a:tc>
                <a:tc>
                  <a:txBody>
                    <a:bodyPr/>
                    <a:lstStyle/>
                    <a:p>
                      <a:r>
                        <a:rPr sz="1800" b="1">
                          <a:solidFill>
                            <a:srgbClr val="D3B777"/>
                          </a:solidFill>
                          <a:latin typeface="Arial"/>
                          <a:ea typeface="Arial"/>
                          <a:cs typeface="Arial"/>
                        </a:rPr>
                        <a:t>Phụ trách chính</a:t>
                      </a:r>
                    </a:p>
                  </a:txBody>
                  <a:tcPr>
                    <a:solidFill>
                      <a:srgbClr val="344344"/>
                    </a:solidFill>
                  </a:tcPr>
                </a:tc>
                <a:tc>
                  <a:txBody>
                    <a:bodyPr/>
                    <a:lstStyle/>
                    <a:p>
                      <a:r>
                        <a:rPr sz="1800" b="1">
                          <a:solidFill>
                            <a:srgbClr val="D3B777"/>
                          </a:solidFill>
                          <a:latin typeface="Arial"/>
                          <a:ea typeface="Arial"/>
                          <a:cs typeface="Arial"/>
                        </a:rPr>
                        <a:t>Đầu ra chịu trách nhiệm</a:t>
                      </a:r>
                    </a:p>
                  </a:txBody>
                  <a:tcPr>
                    <a:solidFill>
                      <a:srgbClr val="344344"/>
                    </a:solidFill>
                  </a:tcPr>
                </a:tc>
                <a:extLst>
                  <a:ext uri="{0D108BD9-81ED-4DB2-BD59-A6C34878D82A}">
                    <a16:rowId xmlns:a16="http://schemas.microsoft.com/office/drawing/2014/main" val="10000"/>
                  </a:ext>
                </a:extLst>
              </a:tr>
              <a:tr h="723900">
                <a:tc>
                  <a:txBody>
                    <a:bodyPr/>
                    <a:lstStyle/>
                    <a:p>
                      <a:r>
                        <a:rPr sz="1800" b="0">
                          <a:solidFill>
                            <a:srgbClr val="F1EBDD"/>
                          </a:solidFill>
                          <a:latin typeface="Arial"/>
                          <a:ea typeface="Arial"/>
                          <a:cs typeface="Arial"/>
                        </a:rPr>
                        <a:t>TV1</a:t>
                      </a:r>
                    </a:p>
                  </a:txBody>
                  <a:tcPr>
                    <a:solidFill>
                      <a:srgbClr val="19282D"/>
                    </a:solidFill>
                  </a:tcPr>
                </a:tc>
                <a:tc>
                  <a:txBody>
                    <a:bodyPr/>
                    <a:lstStyle/>
                    <a:p>
                      <a:r>
                        <a:rPr sz="1800" b="0">
                          <a:solidFill>
                            <a:srgbClr val="F1EBDD"/>
                          </a:solidFill>
                          <a:latin typeface="Arial"/>
                          <a:ea typeface="Arial"/>
                          <a:cs typeface="Arial"/>
                        </a:rPr>
                        <a:t>Lead, backend, DevOps</a:t>
                      </a:r>
                    </a:p>
                  </a:txBody>
                  <a:tcPr>
                    <a:solidFill>
                      <a:srgbClr val="19282D"/>
                    </a:solidFill>
                  </a:tcPr>
                </a:tc>
                <a:tc>
                  <a:txBody>
                    <a:bodyPr/>
                    <a:lstStyle/>
                    <a:p>
                      <a:r>
                        <a:rPr sz="1800" b="0">
                          <a:solidFill>
                            <a:srgbClr val="F1EBDD"/>
                          </a:solidFill>
                          <a:latin typeface="Arial"/>
                          <a:ea typeface="Arial"/>
                          <a:cs typeface="Arial"/>
                        </a:rPr>
                        <a:t>API, DB, Docker, tích hợp và deploy</a:t>
                      </a:r>
                    </a:p>
                  </a:txBody>
                  <a:tcPr>
                    <a:solidFill>
                      <a:srgbClr val="19282D"/>
                    </a:solidFill>
                  </a:tcPr>
                </a:tc>
                <a:extLst>
                  <a:ext uri="{0D108BD9-81ED-4DB2-BD59-A6C34878D82A}">
                    <a16:rowId xmlns:a16="http://schemas.microsoft.com/office/drawing/2014/main" val="10001"/>
                  </a:ext>
                </a:extLst>
              </a:tr>
              <a:tr h="723900">
                <a:tc>
                  <a:txBody>
                    <a:bodyPr/>
                    <a:lstStyle/>
                    <a:p>
                      <a:r>
                        <a:rPr sz="1800" b="0">
                          <a:solidFill>
                            <a:srgbClr val="F1EBDD"/>
                          </a:solidFill>
                          <a:latin typeface="Arial"/>
                          <a:ea typeface="Arial"/>
                          <a:cs typeface="Arial"/>
                        </a:rPr>
                        <a:t>TV2</a:t>
                      </a:r>
                    </a:p>
                  </a:txBody>
                  <a:tcPr>
                    <a:solidFill>
                      <a:srgbClr val="203237"/>
                    </a:solidFill>
                  </a:tcPr>
                </a:tc>
                <a:tc>
                  <a:txBody>
                    <a:bodyPr/>
                    <a:lstStyle/>
                    <a:p>
                      <a:r>
                        <a:rPr sz="1800" b="0">
                          <a:solidFill>
                            <a:srgbClr val="F1EBDD"/>
                          </a:solidFill>
                          <a:latin typeface="Arial"/>
                          <a:ea typeface="Arial"/>
                          <a:cs typeface="Arial"/>
                        </a:rPr>
                        <a:t>Dữ liệu</a:t>
                      </a:r>
                    </a:p>
                  </a:txBody>
                  <a:tcPr>
                    <a:solidFill>
                      <a:srgbClr val="203237"/>
                    </a:solidFill>
                  </a:tcPr>
                </a:tc>
                <a:tc>
                  <a:txBody>
                    <a:bodyPr/>
                    <a:lstStyle/>
                    <a:p>
                      <a:r>
                        <a:rPr sz="1800" b="0">
                          <a:solidFill>
                            <a:srgbClr val="F1EBDD"/>
                          </a:solidFill>
                          <a:latin typeface="Arial"/>
                          <a:ea typeface="Arial"/>
                          <a:cs typeface="Arial"/>
                        </a:rPr>
                        <a:t>Khảo sát nguồn, crawler, corpus sạch</a:t>
                      </a:r>
                    </a:p>
                  </a:txBody>
                  <a:tcPr>
                    <a:solidFill>
                      <a:srgbClr val="203237"/>
                    </a:solidFill>
                  </a:tcPr>
                </a:tc>
                <a:extLst>
                  <a:ext uri="{0D108BD9-81ED-4DB2-BD59-A6C34878D82A}">
                    <a16:rowId xmlns:a16="http://schemas.microsoft.com/office/drawing/2014/main" val="10002"/>
                  </a:ext>
                </a:extLst>
              </a:tr>
              <a:tr h="723900">
                <a:tc>
                  <a:txBody>
                    <a:bodyPr/>
                    <a:lstStyle/>
                    <a:p>
                      <a:r>
                        <a:rPr sz="1800" b="0">
                          <a:solidFill>
                            <a:srgbClr val="F1EBDD"/>
                          </a:solidFill>
                          <a:latin typeface="Arial"/>
                          <a:ea typeface="Arial"/>
                          <a:cs typeface="Arial"/>
                        </a:rPr>
                        <a:t>TV3</a:t>
                      </a:r>
                    </a:p>
                  </a:txBody>
                  <a:tcPr>
                    <a:solidFill>
                      <a:srgbClr val="19282D"/>
                    </a:solidFill>
                  </a:tcPr>
                </a:tc>
                <a:tc>
                  <a:txBody>
                    <a:bodyPr/>
                    <a:lstStyle/>
                    <a:p>
                      <a:r>
                        <a:rPr sz="1800" b="0">
                          <a:solidFill>
                            <a:srgbClr val="F1EBDD"/>
                          </a:solidFill>
                          <a:latin typeface="Arial"/>
                          <a:ea typeface="Arial"/>
                          <a:cs typeface="Arial"/>
                        </a:rPr>
                        <a:t>RAG và đánh giá</a:t>
                      </a:r>
                    </a:p>
                  </a:txBody>
                  <a:tcPr>
                    <a:solidFill>
                      <a:srgbClr val="19282D"/>
                    </a:solidFill>
                  </a:tcPr>
                </a:tc>
                <a:tc>
                  <a:txBody>
                    <a:bodyPr/>
                    <a:lstStyle/>
                    <a:p>
                      <a:r>
                        <a:rPr sz="1800" b="0">
                          <a:solidFill>
                            <a:srgbClr val="F1EBDD"/>
                          </a:solidFill>
                          <a:latin typeface="Arial"/>
                          <a:ea typeface="Arial"/>
                          <a:cs typeface="Arial"/>
                        </a:rPr>
                        <a:t>Retrieval, generation, thí nghiệm</a:t>
                      </a:r>
                    </a:p>
                  </a:txBody>
                  <a:tcPr>
                    <a:solidFill>
                      <a:srgbClr val="19282D"/>
                    </a:solidFill>
                  </a:tcPr>
                </a:tc>
                <a:extLst>
                  <a:ext uri="{0D108BD9-81ED-4DB2-BD59-A6C34878D82A}">
                    <a16:rowId xmlns:a16="http://schemas.microsoft.com/office/drawing/2014/main" val="10003"/>
                  </a:ext>
                </a:extLst>
              </a:tr>
              <a:tr h="723900">
                <a:tc>
                  <a:txBody>
                    <a:bodyPr/>
                    <a:lstStyle/>
                    <a:p>
                      <a:r>
                        <a:rPr sz="1800" b="0">
                          <a:solidFill>
                            <a:srgbClr val="F1EBDD"/>
                          </a:solidFill>
                          <a:latin typeface="Arial"/>
                          <a:ea typeface="Arial"/>
                          <a:cs typeface="Arial"/>
                        </a:rPr>
                        <a:t>TV4</a:t>
                      </a:r>
                    </a:p>
                  </a:txBody>
                  <a:tcPr>
                    <a:solidFill>
                      <a:srgbClr val="203237"/>
                    </a:solidFill>
                  </a:tcPr>
                </a:tc>
                <a:tc>
                  <a:txBody>
                    <a:bodyPr/>
                    <a:lstStyle/>
                    <a:p>
                      <a:r>
                        <a:rPr sz="1800" b="0">
                          <a:solidFill>
                            <a:srgbClr val="F1EBDD"/>
                          </a:solidFill>
                          <a:latin typeface="Arial"/>
                          <a:ea typeface="Arial"/>
                          <a:cs typeface="Arial"/>
                        </a:rPr>
                        <a:t>Web và Discord</a:t>
                      </a:r>
                    </a:p>
                  </a:txBody>
                  <a:tcPr>
                    <a:solidFill>
                      <a:srgbClr val="203237"/>
                    </a:solidFill>
                  </a:tcPr>
                </a:tc>
                <a:tc>
                  <a:txBody>
                    <a:bodyPr/>
                    <a:lstStyle/>
                    <a:p>
                      <a:r>
                        <a:rPr sz="1800" b="0">
                          <a:solidFill>
                            <a:srgbClr val="F1EBDD"/>
                          </a:solidFill>
                          <a:latin typeface="Arial"/>
                          <a:ea typeface="Arial"/>
                          <a:cs typeface="Arial"/>
                        </a:rPr>
                        <a:t>Giao diện, /ask, phản hồi người dùng</a:t>
                      </a:r>
                    </a:p>
                  </a:txBody>
                  <a:tcPr>
                    <a:solidFill>
                      <a:srgbClr val="203237"/>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E5CEC001-DDC7-476C-BB7D-8286B9AABB57}"/>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12</a:t>
            </a:r>
          </a:p>
        </p:txBody>
      </p:sp>
    </p:spTree>
    <p:extLst>
      <p:ext uri="{BB962C8B-B14F-4D97-AF65-F5344CB8AC3E}">
        <p14:creationId xmlns:p14="http://schemas.microsoft.com/office/powerpoint/2010/main" val="944812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60214C-75D6-498A-826E-AC6908E062A2}"/>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5B3F7C79-8094-4801-9D7F-AF06CDC20262}"/>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Đầu ra cần hoàn tất tuần này</a:t>
            </a:r>
          </a:p>
        </p:txBody>
      </p:sp>
      <p:sp>
        <p:nvSpPr>
          <p:cNvPr id="3" name="Rectangle 2">
            <a:extLst>
              <a:ext uri="{FF2B5EF4-FFF2-40B4-BE49-F238E27FC236}">
                <a16:creationId xmlns:a16="http://schemas.microsoft.com/office/drawing/2014/main" id="{82A03184-6837-42B3-81FF-FE83D47BAC3E}"/>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AE451E7C-F074-4F76-A663-4142E5F87CEF}"/>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TV1: phiếu đăng ký, đề cương bài toán, repo và bảng phân công.</a:t>
            </a:r>
          </a:p>
        </p:txBody>
      </p:sp>
      <p:sp>
        <p:nvSpPr>
          <p:cNvPr id="5" name="Rectangle 4">
            <a:extLst>
              <a:ext uri="{FF2B5EF4-FFF2-40B4-BE49-F238E27FC236}">
                <a16:creationId xmlns:a16="http://schemas.microsoft.com/office/drawing/2014/main" id="{DECCFAF1-01C0-4410-9198-E6934440DB0E}"/>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1B3D094F-A071-485A-B5C6-CEB94071B4FC}"/>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TV2: bảng nguồn dữ liệu, 20–30 trang mẫu, báo cáo truy cập và giấy phép.</a:t>
            </a:r>
          </a:p>
        </p:txBody>
      </p:sp>
      <p:sp>
        <p:nvSpPr>
          <p:cNvPr id="7" name="Rectangle 6">
            <a:extLst>
              <a:ext uri="{FF2B5EF4-FFF2-40B4-BE49-F238E27FC236}">
                <a16:creationId xmlns:a16="http://schemas.microsoft.com/office/drawing/2014/main" id="{30019F30-17F8-4570-A2F5-7E11D9473DA9}"/>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1125B353-682C-47D7-BD0A-9CDF62812E9E}"/>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TV3: bảng survey, 30 câu hỏi mẫu, thiết kế baseline và metric.</a:t>
            </a:r>
          </a:p>
        </p:txBody>
      </p:sp>
      <p:sp>
        <p:nvSpPr>
          <p:cNvPr id="9" name="Rectangle 8">
            <a:extLst>
              <a:ext uri="{FF2B5EF4-FFF2-40B4-BE49-F238E27FC236}">
                <a16:creationId xmlns:a16="http://schemas.microsoft.com/office/drawing/2014/main" id="{A3D00154-E3F3-476A-9094-BCBFB5E632C9}"/>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1B223CBC-6C33-4698-B83F-20AD931F0574}"/>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TV4: wireframe web, luồng /ask, tổng hợp slide và kịch bản demo.</a:t>
            </a:r>
          </a:p>
        </p:txBody>
      </p:sp>
      <p:sp>
        <p:nvSpPr>
          <p:cNvPr id="11" name="Rectangle 10">
            <a:extLst>
              <a:ext uri="{FF2B5EF4-FFF2-40B4-BE49-F238E27FC236}">
                <a16:creationId xmlns:a16="http://schemas.microsoft.com/office/drawing/2014/main" id="{E2584729-7E06-4A08-B4EF-5ABE9FA99769}"/>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13</a:t>
            </a:r>
          </a:p>
        </p:txBody>
      </p:sp>
    </p:spTree>
    <p:extLst>
      <p:ext uri="{BB962C8B-B14F-4D97-AF65-F5344CB8AC3E}">
        <p14:creationId xmlns:p14="http://schemas.microsoft.com/office/powerpoint/2010/main" val="149499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07B7F7-7F5E-43A8-9B27-D23B9975D85C}"/>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29488408-C2A0-4DB9-A78B-B9C1691A4E09}"/>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Rủi ro và tiêu chí hoàn thành</a:t>
            </a:r>
          </a:p>
        </p:txBody>
      </p:sp>
      <p:sp>
        <p:nvSpPr>
          <p:cNvPr id="3" name="Rectangle 2">
            <a:extLst>
              <a:ext uri="{FF2B5EF4-FFF2-40B4-BE49-F238E27FC236}">
                <a16:creationId xmlns:a16="http://schemas.microsoft.com/office/drawing/2014/main" id="{924437A4-82F9-4F3A-BE02-5CE504207FDF}"/>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7037E215-36D3-471A-A436-52A4E49CE9DA}"/>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Nguồn khó truy cập: dùng corpus mẫu đã được phép và lưu bản thô có nguồn.</a:t>
            </a:r>
          </a:p>
        </p:txBody>
      </p:sp>
      <p:sp>
        <p:nvSpPr>
          <p:cNvPr id="5" name="Rectangle 4">
            <a:extLst>
              <a:ext uri="{FF2B5EF4-FFF2-40B4-BE49-F238E27FC236}">
                <a16:creationId xmlns:a16="http://schemas.microsoft.com/office/drawing/2014/main" id="{CB8EE627-2A0F-4BAA-B0A8-8A2C905A0D7B}"/>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B75CD674-5911-48CE-921B-A018B673D5CE}"/>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Retrieval yếu: kiểm tra dữ liệu, chunk và lỗi truy vấn trước khi tăng độ phức tạp.</a:t>
            </a:r>
          </a:p>
        </p:txBody>
      </p:sp>
      <p:sp>
        <p:nvSpPr>
          <p:cNvPr id="7" name="Rectangle 6">
            <a:extLst>
              <a:ext uri="{FF2B5EF4-FFF2-40B4-BE49-F238E27FC236}">
                <a16:creationId xmlns:a16="http://schemas.microsoft.com/office/drawing/2014/main" id="{5658D347-AB49-433B-90DC-9EC7C5DD88AD}"/>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04AAC748-F4B1-48E4-A4EC-7AD1DC98EEE5}"/>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Model chậm hoặc tốn phí: giảm ngữ cảnh, đo token và chọn cấu hình phù hợp.</a:t>
            </a:r>
          </a:p>
        </p:txBody>
      </p:sp>
      <p:sp>
        <p:nvSpPr>
          <p:cNvPr id="9" name="Rectangle 8">
            <a:extLst>
              <a:ext uri="{FF2B5EF4-FFF2-40B4-BE49-F238E27FC236}">
                <a16:creationId xmlns:a16="http://schemas.microsoft.com/office/drawing/2014/main" id="{65FBC2BB-90A4-43F7-8AB9-86298FC89505}"/>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EB1E8DE9-C2D6-406E-A6E4-24FF54731494}"/>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Hoàn thành: demo hai kênh, có nguồn kiểm chứng và báo cáo so sánh tái lập được.</a:t>
            </a:r>
          </a:p>
        </p:txBody>
      </p:sp>
      <p:sp>
        <p:nvSpPr>
          <p:cNvPr id="11" name="Rectangle 10">
            <a:extLst>
              <a:ext uri="{FF2B5EF4-FFF2-40B4-BE49-F238E27FC236}">
                <a16:creationId xmlns:a16="http://schemas.microsoft.com/office/drawing/2014/main" id="{7054174F-ABD0-4358-B5D1-E885F4819459}"/>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14</a:t>
            </a:r>
          </a:p>
        </p:txBody>
      </p:sp>
    </p:spTree>
    <p:extLst>
      <p:ext uri="{BB962C8B-B14F-4D97-AF65-F5344CB8AC3E}">
        <p14:creationId xmlns:p14="http://schemas.microsoft.com/office/powerpoint/2010/main" val="1516650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6706DB-9F1F-4108-AF24-D14D4F4F8AE9}"/>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739DFF01-EC99-4983-8DC2-A93706C03E60}"/>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Phụ lục khảo sát và nguồn đọc</a:t>
            </a:r>
          </a:p>
        </p:txBody>
      </p:sp>
      <p:sp>
        <p:nvSpPr>
          <p:cNvPr id="3" name="Rectangle 2">
            <a:extLst>
              <a:ext uri="{FF2B5EF4-FFF2-40B4-BE49-F238E27FC236}">
                <a16:creationId xmlns:a16="http://schemas.microsoft.com/office/drawing/2014/main" id="{1FAA5B44-23D9-4066-AC11-11971DB1FFB7}"/>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17B6D9C5-E721-4404-8DB6-E2AEA576937A}"/>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Lewis et al. (2020): RAG và đối chứng với mô hình chỉ dùng tham số.</a:t>
            </a:r>
          </a:p>
        </p:txBody>
      </p:sp>
      <p:sp>
        <p:nvSpPr>
          <p:cNvPr id="5" name="Rectangle 4">
            <a:extLst>
              <a:ext uri="{FF2B5EF4-FFF2-40B4-BE49-F238E27FC236}">
                <a16:creationId xmlns:a16="http://schemas.microsoft.com/office/drawing/2014/main" id="{48A4207E-AE65-4780-92DB-0DE8D43E5102}"/>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3293565B-265B-4104-AC30-CE35A149CFB4}"/>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Multilingual E5: embedding đa ngôn ngữ, cách chuẩn bị query và passage.</a:t>
            </a:r>
          </a:p>
        </p:txBody>
      </p:sp>
      <p:sp>
        <p:nvSpPr>
          <p:cNvPr id="7" name="Rectangle 6">
            <a:extLst>
              <a:ext uri="{FF2B5EF4-FFF2-40B4-BE49-F238E27FC236}">
                <a16:creationId xmlns:a16="http://schemas.microsoft.com/office/drawing/2014/main" id="{ABAF5FA8-5592-470F-9DFD-125BDF8C47E4}"/>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B3E69F9F-229C-4DBC-B949-C94EEB12C18D}"/>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Qdrant Query API: hybrid, fusion và cách đánh chỉ mục.</a:t>
            </a:r>
          </a:p>
        </p:txBody>
      </p:sp>
      <p:sp>
        <p:nvSpPr>
          <p:cNvPr id="9" name="Rectangle 8">
            <a:extLst>
              <a:ext uri="{FF2B5EF4-FFF2-40B4-BE49-F238E27FC236}">
                <a16:creationId xmlns:a16="http://schemas.microsoft.com/office/drawing/2014/main" id="{9FABC1DE-01FC-4848-AF89-1DA56AAAD747}"/>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F6289840-32D8-43F9-A314-9F40E9A8F7A9}"/>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Mẫu survey: nguồn, bài toán, phương pháp, dữ liệu, metric, hạn chế, cách áp dụng.</a:t>
            </a:r>
          </a:p>
        </p:txBody>
      </p:sp>
      <p:sp>
        <p:nvSpPr>
          <p:cNvPr id="11" name="Rectangle 10">
            <a:extLst>
              <a:ext uri="{FF2B5EF4-FFF2-40B4-BE49-F238E27FC236}">
                <a16:creationId xmlns:a16="http://schemas.microsoft.com/office/drawing/2014/main" id="{2905B4F3-665C-4410-A195-90C5C104604A}"/>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15</a:t>
            </a:r>
          </a:p>
        </p:txBody>
      </p:sp>
    </p:spTree>
    <p:extLst>
      <p:ext uri="{BB962C8B-B14F-4D97-AF65-F5344CB8AC3E}">
        <p14:creationId xmlns:p14="http://schemas.microsoft.com/office/powerpoint/2010/main" val="174493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C2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DA0A69D-9D99-4E0F-9426-E38BD81FB3D7}"/>
              </a:ext>
            </a:extLst>
          </p:cNvPr>
          <p:cNvSpPr>
            <a:spLocks noGrp="1"/>
          </p:cNvSpPr>
          <p:nvPr/>
        </p:nvSpPr>
        <p:spPr>
          <a:xfrm>
            <a:off x="609600" y="285750"/>
            <a:ext cx="8572500" cy="304800"/>
          </a:xfrm>
          <a:prstGeom prst="rect">
            <a:avLst/>
          </a:prstGeom>
          <a:noFill/>
          <a:ln w="0">
            <a:noFill/>
          </a:ln>
        </p:spPr>
        <p:txBody>
          <a:bodyPr/>
          <a:lstStyle>
            <a:defPPr>
              <a:defRPr sz="1350" b="0">
                <a:solidFill>
                  <a:srgbClr val="D3B777"/>
                </a:solidFill>
                <a:latin typeface="Arial"/>
                <a:ea typeface="Arial"/>
                <a:cs typeface="Arial"/>
              </a:defRPr>
            </a:defPPr>
            <a:lvl1pPr>
              <a:defRPr sz="1350" b="0">
                <a:solidFill>
                  <a:srgbClr val="D3B777"/>
                </a:solidFill>
                <a:latin typeface="Arial"/>
                <a:ea typeface="Arial"/>
                <a:cs typeface="Arial"/>
              </a:defRPr>
            </a:lvl1pPr>
            <a:lvl2pPr>
              <a:defRPr sz="1350" b="0">
                <a:solidFill>
                  <a:srgbClr val="D3B777"/>
                </a:solidFill>
                <a:latin typeface="Arial"/>
                <a:ea typeface="Arial"/>
                <a:cs typeface="Arial"/>
              </a:defRPr>
            </a:lvl2pPr>
            <a:lvl3pPr>
              <a:defRPr sz="1350" b="0">
                <a:solidFill>
                  <a:srgbClr val="D3B777"/>
                </a:solidFill>
                <a:latin typeface="Arial"/>
                <a:ea typeface="Arial"/>
                <a:cs typeface="Arial"/>
              </a:defRPr>
            </a:lvl3pPr>
            <a:lvl4pPr>
              <a:defRPr sz="1350" b="0">
                <a:solidFill>
                  <a:srgbClr val="D3B777"/>
                </a:solidFill>
                <a:latin typeface="Arial"/>
                <a:ea typeface="Arial"/>
                <a:cs typeface="Arial"/>
              </a:defRPr>
            </a:lvl4pPr>
            <a:lvl5pPr>
              <a:defRPr sz="1350" b="0">
                <a:solidFill>
                  <a:srgbClr val="D3B777"/>
                </a:solidFill>
                <a:latin typeface="Arial"/>
                <a:ea typeface="Arial"/>
                <a:cs typeface="Arial"/>
              </a:defRPr>
            </a:lvl5pPr>
            <a:lvl6pPr>
              <a:defRPr sz="1350" b="0">
                <a:solidFill>
                  <a:srgbClr val="D3B777"/>
                </a:solidFill>
                <a:latin typeface="Arial"/>
                <a:ea typeface="Arial"/>
                <a:cs typeface="Arial"/>
              </a:defRPr>
            </a:lvl6pPr>
            <a:lvl7pPr>
              <a:defRPr sz="1350" b="0">
                <a:solidFill>
                  <a:srgbClr val="D3B777"/>
                </a:solidFill>
                <a:latin typeface="Arial"/>
                <a:ea typeface="Arial"/>
                <a:cs typeface="Arial"/>
              </a:defRPr>
            </a:lvl7pPr>
            <a:lvl8pPr>
              <a:defRPr sz="1350" b="0">
                <a:solidFill>
                  <a:srgbClr val="D3B777"/>
                </a:solidFill>
                <a:latin typeface="Arial"/>
                <a:ea typeface="Arial"/>
                <a:cs typeface="Arial"/>
              </a:defRPr>
            </a:lvl8pPr>
            <a:lvl9pPr>
              <a:defRPr sz="1350" b="0">
                <a:solidFill>
                  <a:srgbClr val="D3B777"/>
                </a:solidFill>
                <a:latin typeface="Arial"/>
                <a:ea typeface="Arial"/>
                <a:cs typeface="Arial"/>
              </a:defRPr>
            </a:lvl9pPr>
          </a:lstStyle>
          <a:p>
            <a:pPr>
              <a:defRPr sz="1350" b="0">
                <a:solidFill>
                  <a:srgbClr val="D3B777"/>
                </a:solidFill>
                <a:latin typeface="Arial"/>
                <a:ea typeface="Arial"/>
                <a:cs typeface="Arial"/>
              </a:defRPr>
            </a:pPr>
            <a:r>
              <a:rPr sz="1350" b="0">
                <a:solidFill>
                  <a:srgbClr val="D3B777"/>
                </a:solidFill>
                <a:latin typeface="Arial"/>
                <a:ea typeface="Arial"/>
                <a:cs typeface="Arial"/>
              </a:rPr>
              <a:t>4 HOLLOWS   /   NLP</a:t>
            </a:r>
          </a:p>
        </p:txBody>
      </p:sp>
      <p:sp>
        <p:nvSpPr>
          <p:cNvPr id="2" name="Rectangle 1">
            <a:extLst>
              <a:ext uri="{FF2B5EF4-FFF2-40B4-BE49-F238E27FC236}">
                <a16:creationId xmlns:a16="http://schemas.microsoft.com/office/drawing/2014/main" id="{ADA71723-E014-412F-8A3E-0E0C5B5A96B2}"/>
              </a:ext>
            </a:extLst>
          </p:cNvPr>
          <p:cNvSpPr>
            <a:spLocks noGrp="1"/>
          </p:cNvSpPr>
          <p:nvPr/>
        </p:nvSpPr>
        <p:spPr>
          <a:xfrm>
            <a:off x="609600" y="809625"/>
            <a:ext cx="10953750" cy="952500"/>
          </a:xfrm>
          <a:prstGeom prst="rect">
            <a:avLst/>
          </a:prstGeom>
          <a:noFill/>
          <a:ln w="0">
            <a:noFill/>
          </a:ln>
        </p:spPr>
        <p:txBody>
          <a:bodyPr/>
          <a:lstStyle>
            <a:defPPr>
              <a:defRPr sz="3300" b="1">
                <a:solidFill>
                  <a:srgbClr val="F1EBDD"/>
                </a:solidFill>
                <a:latin typeface="Arial"/>
                <a:ea typeface="Arial"/>
                <a:cs typeface="Arial"/>
              </a:defRPr>
            </a:defPPr>
            <a:lvl1pPr>
              <a:defRPr sz="3300" b="1">
                <a:solidFill>
                  <a:srgbClr val="F1EBDD"/>
                </a:solidFill>
                <a:latin typeface="Arial"/>
                <a:ea typeface="Arial"/>
                <a:cs typeface="Arial"/>
              </a:defRPr>
            </a:lvl1pPr>
            <a:lvl2pPr>
              <a:defRPr sz="3300" b="1">
                <a:solidFill>
                  <a:srgbClr val="F1EBDD"/>
                </a:solidFill>
                <a:latin typeface="Arial"/>
                <a:ea typeface="Arial"/>
                <a:cs typeface="Arial"/>
              </a:defRPr>
            </a:lvl2pPr>
            <a:lvl3pPr>
              <a:defRPr sz="3300" b="1">
                <a:solidFill>
                  <a:srgbClr val="F1EBDD"/>
                </a:solidFill>
                <a:latin typeface="Arial"/>
                <a:ea typeface="Arial"/>
                <a:cs typeface="Arial"/>
              </a:defRPr>
            </a:lvl3pPr>
            <a:lvl4pPr>
              <a:defRPr sz="3300" b="1">
                <a:solidFill>
                  <a:srgbClr val="F1EBDD"/>
                </a:solidFill>
                <a:latin typeface="Arial"/>
                <a:ea typeface="Arial"/>
                <a:cs typeface="Arial"/>
              </a:defRPr>
            </a:lvl4pPr>
            <a:lvl5pPr>
              <a:defRPr sz="3300" b="1">
                <a:solidFill>
                  <a:srgbClr val="F1EBDD"/>
                </a:solidFill>
                <a:latin typeface="Arial"/>
                <a:ea typeface="Arial"/>
                <a:cs typeface="Arial"/>
              </a:defRPr>
            </a:lvl5pPr>
            <a:lvl6pPr>
              <a:defRPr sz="3300" b="1">
                <a:solidFill>
                  <a:srgbClr val="F1EBDD"/>
                </a:solidFill>
                <a:latin typeface="Arial"/>
                <a:ea typeface="Arial"/>
                <a:cs typeface="Arial"/>
              </a:defRPr>
            </a:lvl6pPr>
            <a:lvl7pPr>
              <a:defRPr sz="3300" b="1">
                <a:solidFill>
                  <a:srgbClr val="F1EBDD"/>
                </a:solidFill>
                <a:latin typeface="Arial"/>
                <a:ea typeface="Arial"/>
                <a:cs typeface="Arial"/>
              </a:defRPr>
            </a:lvl7pPr>
            <a:lvl8pPr>
              <a:defRPr sz="3300" b="1">
                <a:solidFill>
                  <a:srgbClr val="F1EBDD"/>
                </a:solidFill>
                <a:latin typeface="Arial"/>
                <a:ea typeface="Arial"/>
                <a:cs typeface="Arial"/>
              </a:defRPr>
            </a:lvl8pPr>
            <a:lvl9pPr>
              <a:defRPr sz="3300" b="1">
                <a:solidFill>
                  <a:srgbClr val="F1EBDD"/>
                </a:solidFill>
                <a:latin typeface="Arial"/>
                <a:ea typeface="Arial"/>
                <a:cs typeface="Arial"/>
              </a:defRPr>
            </a:lvl9pPr>
          </a:lstStyle>
          <a:p>
            <a:pPr>
              <a:defRPr sz="3300" b="1">
                <a:solidFill>
                  <a:srgbClr val="F1EBDD"/>
                </a:solidFill>
                <a:latin typeface="Arial"/>
                <a:ea typeface="Arial"/>
                <a:cs typeface="Arial"/>
              </a:defRPr>
            </a:pPr>
            <a:r>
              <a:rPr sz="3300" b="1">
                <a:solidFill>
                  <a:srgbClr val="F1EBDD"/>
                </a:solidFill>
                <a:latin typeface="Arial"/>
                <a:ea typeface="Arial"/>
                <a:cs typeface="Arial"/>
              </a:rPr>
              <a:t>Phụ lục hỏi đáp với giảng viên</a:t>
            </a:r>
          </a:p>
        </p:txBody>
      </p:sp>
      <p:sp>
        <p:nvSpPr>
          <p:cNvPr id="3" name="Rectangle 2">
            <a:extLst>
              <a:ext uri="{FF2B5EF4-FFF2-40B4-BE49-F238E27FC236}">
                <a16:creationId xmlns:a16="http://schemas.microsoft.com/office/drawing/2014/main" id="{101C4507-52CA-49FD-8E71-2995EB1241F5}"/>
              </a:ext>
            </a:extLst>
          </p:cNvPr>
          <p:cNvSpPr>
            <a:spLocks noGrp="1"/>
          </p:cNvSpPr>
          <p:nvPr/>
        </p:nvSpPr>
        <p:spPr>
          <a:xfrm>
            <a:off x="609600" y="204787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01</a:t>
            </a:r>
          </a:p>
        </p:txBody>
      </p:sp>
      <p:sp>
        <p:nvSpPr>
          <p:cNvPr id="4" name="Rectangle 3">
            <a:extLst>
              <a:ext uri="{FF2B5EF4-FFF2-40B4-BE49-F238E27FC236}">
                <a16:creationId xmlns:a16="http://schemas.microsoft.com/office/drawing/2014/main" id="{9C21D5B3-9BFD-4301-AEED-CFA6EB20EFA6}"/>
              </a:ext>
            </a:extLst>
          </p:cNvPr>
          <p:cNvSpPr>
            <a:spLocks noGrp="1"/>
          </p:cNvSpPr>
          <p:nvPr/>
        </p:nvSpPr>
        <p:spPr>
          <a:xfrm>
            <a:off x="1285875" y="200025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“Điểm NLP nằm ở đâu?” Ở retrieval đa ngôn ngữ, chunking và thí nghiệm đối chứng.</a:t>
            </a:r>
          </a:p>
        </p:txBody>
      </p:sp>
      <p:sp>
        <p:nvSpPr>
          <p:cNvPr id="5" name="Rectangle 4">
            <a:extLst>
              <a:ext uri="{FF2B5EF4-FFF2-40B4-BE49-F238E27FC236}">
                <a16:creationId xmlns:a16="http://schemas.microsoft.com/office/drawing/2014/main" id="{E5C4221C-98F2-40BF-AA29-5D27C14380B2}"/>
              </a:ext>
            </a:extLst>
          </p:cNvPr>
          <p:cNvSpPr>
            <a:spLocks noGrp="1"/>
          </p:cNvSpPr>
          <p:nvPr/>
        </p:nvSpPr>
        <p:spPr>
          <a:xfrm>
            <a:off x="609600" y="304800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02</a:t>
            </a:r>
          </a:p>
        </p:txBody>
      </p:sp>
      <p:sp>
        <p:nvSpPr>
          <p:cNvPr id="6" name="Rectangle 5">
            <a:extLst>
              <a:ext uri="{FF2B5EF4-FFF2-40B4-BE49-F238E27FC236}">
                <a16:creationId xmlns:a16="http://schemas.microsoft.com/office/drawing/2014/main" id="{3CE78681-ABB9-4BB6-9F6B-18B3E60454D6}"/>
              </a:ext>
            </a:extLst>
          </p:cNvPr>
          <p:cNvSpPr>
            <a:spLocks noGrp="1"/>
          </p:cNvSpPr>
          <p:nvPr/>
        </p:nvSpPr>
        <p:spPr>
          <a:xfrm>
            <a:off x="1285875" y="300037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“Sao không chỉ dùng LLM?” Nhóm đo thêm khả năng bám nguồn và kiểm chứng câu trả lời.</a:t>
            </a:r>
          </a:p>
        </p:txBody>
      </p:sp>
      <p:sp>
        <p:nvSpPr>
          <p:cNvPr id="7" name="Rectangle 6">
            <a:extLst>
              <a:ext uri="{FF2B5EF4-FFF2-40B4-BE49-F238E27FC236}">
                <a16:creationId xmlns:a16="http://schemas.microsoft.com/office/drawing/2014/main" id="{A7738FDB-A04F-4E8A-90A1-B3CFA9DAC98B}"/>
              </a:ext>
            </a:extLst>
          </p:cNvPr>
          <p:cNvSpPr>
            <a:spLocks noGrp="1"/>
          </p:cNvSpPr>
          <p:nvPr/>
        </p:nvSpPr>
        <p:spPr>
          <a:xfrm>
            <a:off x="609600" y="4048125"/>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03</a:t>
            </a:r>
          </a:p>
        </p:txBody>
      </p:sp>
      <p:sp>
        <p:nvSpPr>
          <p:cNvPr id="8" name="Rectangle 7">
            <a:extLst>
              <a:ext uri="{FF2B5EF4-FFF2-40B4-BE49-F238E27FC236}">
                <a16:creationId xmlns:a16="http://schemas.microsoft.com/office/drawing/2014/main" id="{F3346A05-671B-4F81-B661-C3A000411856}"/>
              </a:ext>
            </a:extLst>
          </p:cNvPr>
          <p:cNvSpPr>
            <a:spLocks noGrp="1"/>
          </p:cNvSpPr>
          <p:nvPr/>
        </p:nvSpPr>
        <p:spPr>
          <a:xfrm>
            <a:off x="1285875" y="4000500"/>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“Dữ liệu đã có chưa?” Đang khảo sát, tuần 1 bàn giao mẫu cùng thông tin nguồn.</a:t>
            </a:r>
          </a:p>
        </p:txBody>
      </p:sp>
      <p:sp>
        <p:nvSpPr>
          <p:cNvPr id="9" name="Rectangle 8">
            <a:extLst>
              <a:ext uri="{FF2B5EF4-FFF2-40B4-BE49-F238E27FC236}">
                <a16:creationId xmlns:a16="http://schemas.microsoft.com/office/drawing/2014/main" id="{58E382E1-FED4-4B14-92AF-C4CB58C5E735}"/>
              </a:ext>
            </a:extLst>
          </p:cNvPr>
          <p:cNvSpPr>
            <a:spLocks noGrp="1"/>
          </p:cNvSpPr>
          <p:nvPr/>
        </p:nvSpPr>
        <p:spPr>
          <a:xfrm>
            <a:off x="609600" y="5048250"/>
            <a:ext cx="533400" cy="476250"/>
          </a:xfrm>
          <a:prstGeom prst="rect">
            <a:avLst/>
          </a:prstGeom>
          <a:noFill/>
          <a:ln w="0">
            <a:noFill/>
          </a:ln>
        </p:spPr>
        <p:txBody>
          <a:bodyPr/>
          <a:lstStyle>
            <a:defPPr>
              <a:defRPr sz="1800" b="1">
                <a:solidFill>
                  <a:srgbClr val="D3B777"/>
                </a:solidFill>
                <a:latin typeface="Arial"/>
                <a:ea typeface="Arial"/>
                <a:cs typeface="Arial"/>
              </a:defRPr>
            </a:defPPr>
            <a:lvl1pPr>
              <a:defRPr sz="1800" b="1">
                <a:solidFill>
                  <a:srgbClr val="D3B777"/>
                </a:solidFill>
                <a:latin typeface="Arial"/>
                <a:ea typeface="Arial"/>
                <a:cs typeface="Arial"/>
              </a:defRPr>
            </a:lvl1pPr>
            <a:lvl2pPr>
              <a:defRPr sz="1800" b="1">
                <a:solidFill>
                  <a:srgbClr val="D3B777"/>
                </a:solidFill>
                <a:latin typeface="Arial"/>
                <a:ea typeface="Arial"/>
                <a:cs typeface="Arial"/>
              </a:defRPr>
            </a:lvl2pPr>
            <a:lvl3pPr>
              <a:defRPr sz="1800" b="1">
                <a:solidFill>
                  <a:srgbClr val="D3B777"/>
                </a:solidFill>
                <a:latin typeface="Arial"/>
                <a:ea typeface="Arial"/>
                <a:cs typeface="Arial"/>
              </a:defRPr>
            </a:lvl3pPr>
            <a:lvl4pPr>
              <a:defRPr sz="1800" b="1">
                <a:solidFill>
                  <a:srgbClr val="D3B777"/>
                </a:solidFill>
                <a:latin typeface="Arial"/>
                <a:ea typeface="Arial"/>
                <a:cs typeface="Arial"/>
              </a:defRPr>
            </a:lvl4pPr>
            <a:lvl5pPr>
              <a:defRPr sz="1800" b="1">
                <a:solidFill>
                  <a:srgbClr val="D3B777"/>
                </a:solidFill>
                <a:latin typeface="Arial"/>
                <a:ea typeface="Arial"/>
                <a:cs typeface="Arial"/>
              </a:defRPr>
            </a:lvl5pPr>
            <a:lvl6pPr>
              <a:defRPr sz="1800" b="1">
                <a:solidFill>
                  <a:srgbClr val="D3B777"/>
                </a:solidFill>
                <a:latin typeface="Arial"/>
                <a:ea typeface="Arial"/>
                <a:cs typeface="Arial"/>
              </a:defRPr>
            </a:lvl6pPr>
            <a:lvl7pPr>
              <a:defRPr sz="1800" b="1">
                <a:solidFill>
                  <a:srgbClr val="D3B777"/>
                </a:solidFill>
                <a:latin typeface="Arial"/>
                <a:ea typeface="Arial"/>
                <a:cs typeface="Arial"/>
              </a:defRPr>
            </a:lvl7pPr>
            <a:lvl8pPr>
              <a:defRPr sz="1800" b="1">
                <a:solidFill>
                  <a:srgbClr val="D3B777"/>
                </a:solidFill>
                <a:latin typeface="Arial"/>
                <a:ea typeface="Arial"/>
                <a:cs typeface="Arial"/>
              </a:defRPr>
            </a:lvl8pPr>
            <a:lvl9pPr>
              <a:defRPr sz="1800" b="1">
                <a:solidFill>
                  <a:srgbClr val="D3B777"/>
                </a:solidFill>
                <a:latin typeface="Arial"/>
                <a:ea typeface="Arial"/>
                <a:cs typeface="Arial"/>
              </a:defRPr>
            </a:lvl9pPr>
          </a:lstStyle>
          <a:p>
            <a:pPr>
              <a:defRPr sz="1800" b="1">
                <a:solidFill>
                  <a:srgbClr val="D3B777"/>
                </a:solidFill>
                <a:latin typeface="Arial"/>
                <a:ea typeface="Arial"/>
                <a:cs typeface="Arial"/>
              </a:defRPr>
            </a:pPr>
            <a:r>
              <a:rPr sz="1800" b="1">
                <a:solidFill>
                  <a:srgbClr val="D3B777"/>
                </a:solidFill>
                <a:latin typeface="Arial"/>
                <a:ea typeface="Arial"/>
                <a:cs typeface="Arial"/>
              </a:rPr>
              <a:t>04</a:t>
            </a:r>
          </a:p>
        </p:txBody>
      </p:sp>
      <p:sp>
        <p:nvSpPr>
          <p:cNvPr id="10" name="Rectangle 9">
            <a:extLst>
              <a:ext uri="{FF2B5EF4-FFF2-40B4-BE49-F238E27FC236}">
                <a16:creationId xmlns:a16="http://schemas.microsoft.com/office/drawing/2014/main" id="{7C26BC28-560E-420F-8B16-8F74C7BB229D}"/>
              </a:ext>
            </a:extLst>
          </p:cNvPr>
          <p:cNvSpPr>
            <a:spLocks noGrp="1"/>
          </p:cNvSpPr>
          <p:nvPr/>
        </p:nvSpPr>
        <p:spPr>
          <a:xfrm>
            <a:off x="1285875" y="5000625"/>
            <a:ext cx="10096500" cy="904875"/>
          </a:xfrm>
          <a:prstGeom prst="rect">
            <a:avLst/>
          </a:prstGeom>
          <a:noFill/>
          <a:ln w="0">
            <a:noFill/>
          </a:ln>
        </p:spPr>
        <p:txBody>
          <a:bodyPr/>
          <a:lstStyle>
            <a:defPPr>
              <a:defRPr sz="2175" b="0">
                <a:solidFill>
                  <a:srgbClr val="F1EBDD"/>
                </a:solidFill>
                <a:latin typeface="Arial"/>
                <a:ea typeface="Arial"/>
                <a:cs typeface="Arial"/>
              </a:defRPr>
            </a:defPPr>
            <a:lvl1pPr>
              <a:defRPr sz="2175" b="0">
                <a:solidFill>
                  <a:srgbClr val="F1EBDD"/>
                </a:solidFill>
                <a:latin typeface="Arial"/>
                <a:ea typeface="Arial"/>
                <a:cs typeface="Arial"/>
              </a:defRPr>
            </a:lvl1pPr>
            <a:lvl2pPr>
              <a:defRPr sz="2175" b="0">
                <a:solidFill>
                  <a:srgbClr val="F1EBDD"/>
                </a:solidFill>
                <a:latin typeface="Arial"/>
                <a:ea typeface="Arial"/>
                <a:cs typeface="Arial"/>
              </a:defRPr>
            </a:lvl2pPr>
            <a:lvl3pPr>
              <a:defRPr sz="2175" b="0">
                <a:solidFill>
                  <a:srgbClr val="F1EBDD"/>
                </a:solidFill>
                <a:latin typeface="Arial"/>
                <a:ea typeface="Arial"/>
                <a:cs typeface="Arial"/>
              </a:defRPr>
            </a:lvl3pPr>
            <a:lvl4pPr>
              <a:defRPr sz="2175" b="0">
                <a:solidFill>
                  <a:srgbClr val="F1EBDD"/>
                </a:solidFill>
                <a:latin typeface="Arial"/>
                <a:ea typeface="Arial"/>
                <a:cs typeface="Arial"/>
              </a:defRPr>
            </a:lvl4pPr>
            <a:lvl5pPr>
              <a:defRPr sz="2175" b="0">
                <a:solidFill>
                  <a:srgbClr val="F1EBDD"/>
                </a:solidFill>
                <a:latin typeface="Arial"/>
                <a:ea typeface="Arial"/>
                <a:cs typeface="Arial"/>
              </a:defRPr>
            </a:lvl5pPr>
            <a:lvl6pPr>
              <a:defRPr sz="2175" b="0">
                <a:solidFill>
                  <a:srgbClr val="F1EBDD"/>
                </a:solidFill>
                <a:latin typeface="Arial"/>
                <a:ea typeface="Arial"/>
                <a:cs typeface="Arial"/>
              </a:defRPr>
            </a:lvl6pPr>
            <a:lvl7pPr>
              <a:defRPr sz="2175" b="0">
                <a:solidFill>
                  <a:srgbClr val="F1EBDD"/>
                </a:solidFill>
                <a:latin typeface="Arial"/>
                <a:ea typeface="Arial"/>
                <a:cs typeface="Arial"/>
              </a:defRPr>
            </a:lvl7pPr>
            <a:lvl8pPr>
              <a:defRPr sz="2175" b="0">
                <a:solidFill>
                  <a:srgbClr val="F1EBDD"/>
                </a:solidFill>
                <a:latin typeface="Arial"/>
                <a:ea typeface="Arial"/>
                <a:cs typeface="Arial"/>
              </a:defRPr>
            </a:lvl8pPr>
            <a:lvl9pPr>
              <a:defRPr sz="2175" b="0">
                <a:solidFill>
                  <a:srgbClr val="F1EBDD"/>
                </a:solidFill>
                <a:latin typeface="Arial"/>
                <a:ea typeface="Arial"/>
                <a:cs typeface="Arial"/>
              </a:defRPr>
            </a:lvl9pPr>
          </a:lstStyle>
          <a:p>
            <a:pPr>
              <a:defRPr sz="2175" b="0">
                <a:solidFill>
                  <a:srgbClr val="F1EBDD"/>
                </a:solidFill>
                <a:latin typeface="Arial"/>
                <a:ea typeface="Arial"/>
                <a:cs typeface="Arial"/>
              </a:defRPr>
            </a:pPr>
            <a:r>
              <a:rPr sz="2175" b="0">
                <a:solidFill>
                  <a:srgbClr val="F1EBDD"/>
                </a:solidFill>
                <a:latin typeface="Arial"/>
                <a:ea typeface="Arial"/>
                <a:cs typeface="Arial"/>
              </a:rPr>
              <a:t>“Có kịp 9 tuần?” Baseline tuần 3, MVP tuần 6, dành 3 tuần cho đánh giá và hoàn thiện.</a:t>
            </a:r>
          </a:p>
        </p:txBody>
      </p:sp>
      <p:sp>
        <p:nvSpPr>
          <p:cNvPr id="11" name="Rectangle 10">
            <a:extLst>
              <a:ext uri="{FF2B5EF4-FFF2-40B4-BE49-F238E27FC236}">
                <a16:creationId xmlns:a16="http://schemas.microsoft.com/office/drawing/2014/main" id="{8912A1E4-0A05-4AC5-834E-B854566FFBFC}"/>
              </a:ext>
            </a:extLst>
          </p:cNvPr>
          <p:cNvSpPr>
            <a:spLocks noGrp="1"/>
          </p:cNvSpPr>
          <p:nvPr/>
        </p:nvSpPr>
        <p:spPr>
          <a:xfrm>
            <a:off x="609600" y="6438900"/>
            <a:ext cx="857250" cy="238125"/>
          </a:xfrm>
          <a:prstGeom prst="rect">
            <a:avLst/>
          </a:prstGeom>
          <a:noFill/>
          <a:ln w="0">
            <a:noFill/>
          </a:ln>
        </p:spPr>
        <p:txBody>
          <a:bodyPr/>
          <a:lstStyle>
            <a:defPPr>
              <a:defRPr sz="1200" b="0">
                <a:solidFill>
                  <a:srgbClr val="BDC7C5"/>
                </a:solidFill>
                <a:latin typeface="Arial"/>
                <a:ea typeface="Arial"/>
                <a:cs typeface="Arial"/>
              </a:defRPr>
            </a:defPPr>
            <a:lvl1pPr>
              <a:defRPr sz="1200" b="0">
                <a:solidFill>
                  <a:srgbClr val="BDC7C5"/>
                </a:solidFill>
                <a:latin typeface="Arial"/>
                <a:ea typeface="Arial"/>
                <a:cs typeface="Arial"/>
              </a:defRPr>
            </a:lvl1pPr>
            <a:lvl2pPr>
              <a:defRPr sz="1200" b="0">
                <a:solidFill>
                  <a:srgbClr val="BDC7C5"/>
                </a:solidFill>
                <a:latin typeface="Arial"/>
                <a:ea typeface="Arial"/>
                <a:cs typeface="Arial"/>
              </a:defRPr>
            </a:lvl2pPr>
            <a:lvl3pPr>
              <a:defRPr sz="1200" b="0">
                <a:solidFill>
                  <a:srgbClr val="BDC7C5"/>
                </a:solidFill>
                <a:latin typeface="Arial"/>
                <a:ea typeface="Arial"/>
                <a:cs typeface="Arial"/>
              </a:defRPr>
            </a:lvl3pPr>
            <a:lvl4pPr>
              <a:defRPr sz="1200" b="0">
                <a:solidFill>
                  <a:srgbClr val="BDC7C5"/>
                </a:solidFill>
                <a:latin typeface="Arial"/>
                <a:ea typeface="Arial"/>
                <a:cs typeface="Arial"/>
              </a:defRPr>
            </a:lvl4pPr>
            <a:lvl5pPr>
              <a:defRPr sz="1200" b="0">
                <a:solidFill>
                  <a:srgbClr val="BDC7C5"/>
                </a:solidFill>
                <a:latin typeface="Arial"/>
                <a:ea typeface="Arial"/>
                <a:cs typeface="Arial"/>
              </a:defRPr>
            </a:lvl5pPr>
            <a:lvl6pPr>
              <a:defRPr sz="1200" b="0">
                <a:solidFill>
                  <a:srgbClr val="BDC7C5"/>
                </a:solidFill>
                <a:latin typeface="Arial"/>
                <a:ea typeface="Arial"/>
                <a:cs typeface="Arial"/>
              </a:defRPr>
            </a:lvl6pPr>
            <a:lvl7pPr>
              <a:defRPr sz="1200" b="0">
                <a:solidFill>
                  <a:srgbClr val="BDC7C5"/>
                </a:solidFill>
                <a:latin typeface="Arial"/>
                <a:ea typeface="Arial"/>
                <a:cs typeface="Arial"/>
              </a:defRPr>
            </a:lvl7pPr>
            <a:lvl8pPr>
              <a:defRPr sz="1200" b="0">
                <a:solidFill>
                  <a:srgbClr val="BDC7C5"/>
                </a:solidFill>
                <a:latin typeface="Arial"/>
                <a:ea typeface="Arial"/>
                <a:cs typeface="Arial"/>
              </a:defRPr>
            </a:lvl8pPr>
            <a:lvl9pPr>
              <a:defRPr sz="1200" b="0">
                <a:solidFill>
                  <a:srgbClr val="BDC7C5"/>
                </a:solidFill>
                <a:latin typeface="Arial"/>
                <a:ea typeface="Arial"/>
                <a:cs typeface="Arial"/>
              </a:defRPr>
            </a:lvl9pPr>
          </a:lstStyle>
          <a:p>
            <a:pPr>
              <a:defRPr sz="1200" b="0">
                <a:solidFill>
                  <a:srgbClr val="BDC7C5"/>
                </a:solidFill>
                <a:latin typeface="Arial"/>
                <a:ea typeface="Arial"/>
                <a:cs typeface="Arial"/>
              </a:defRPr>
            </a:pPr>
            <a:r>
              <a:rPr sz="1200" b="0">
                <a:solidFill>
                  <a:srgbClr val="BDC7C5"/>
                </a:solidFill>
                <a:latin typeface="Arial"/>
                <a:ea typeface="Arial"/>
                <a:cs typeface="Arial"/>
              </a:rPr>
              <a:t>16</a:t>
            </a:r>
          </a:p>
        </p:txBody>
      </p:sp>
    </p:spTree>
    <p:extLst>
      <p:ext uri="{BB962C8B-B14F-4D97-AF65-F5344CB8AC3E}">
        <p14:creationId xmlns:p14="http://schemas.microsoft.com/office/powerpoint/2010/main" val="13272751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2850</Words>
  <Application>Microsoft Office PowerPoint</Application>
  <DocSecurity>0</DocSecurity>
  <PresentationFormat>Widescreen</PresentationFormat>
  <Paragraphs>275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Minh Nguyen</cp:lastModifiedBy>
  <cp:revision>2</cp:revision>
  <dcterms:created xsi:type="dcterms:W3CDTF">2026-10-19T01:08:16Z</dcterms:created>
  <dcterms:modified xsi:type="dcterms:W3CDTF">2026-10-19T01:18:59Z</dcterms:modified>
</cp:coreProperties>
</file>