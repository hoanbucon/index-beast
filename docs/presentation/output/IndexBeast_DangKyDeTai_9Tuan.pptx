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147e7e6700414f" /><Relationship Type="http://schemas.openxmlformats.org/officeDocument/2006/relationships/extended-properties" Target="/docProps/app.xml" Id="R8948faa73022435a" /><Relationship Type="http://schemas.openxmlformats.org/officeDocument/2006/relationships/officeDocument" Target="/ppt/presentation.xml" Id="R52fa2318b1084404" /></Relationships>
</file>

<file path=ppt/presentation.xml><?xml version="1.0" encoding="utf-8"?>
<p:presentation xmlns:p="http://schemas.openxmlformats.org/presentationml/2006/main">
  <p:sldMasterIdLst>
    <p:sldMasterId xmlns:r="http://schemas.openxmlformats.org/officeDocument/2006/relationships" id="2147483648" r:id="R00342cc9b5e84e59"/>
  </p:sldMasterIdLst>
  <p:notesMasterIdLst>
    <p:notesMasterId xmlns:r="http://schemas.openxmlformats.org/officeDocument/2006/relationships" r:id="R7cabfdd605f6424f"/>
  </p:notesMasterIdLst>
  <p:sldIdLst>
    <p:sldId xmlns:r="http://schemas.openxmlformats.org/officeDocument/2006/relationships" id="256" r:id="Rad189dafbc0840f9"/>
    <p:sldId xmlns:r="http://schemas.openxmlformats.org/officeDocument/2006/relationships" id="257" r:id="R9f1ca45aa00a4d69"/>
    <p:sldId xmlns:r="http://schemas.openxmlformats.org/officeDocument/2006/relationships" id="258" r:id="Rccf6e1aa847b4415"/>
    <p:sldId xmlns:r="http://schemas.openxmlformats.org/officeDocument/2006/relationships" id="259" r:id="R32230041932e4f2f"/>
    <p:sldId xmlns:r="http://schemas.openxmlformats.org/officeDocument/2006/relationships" id="260" r:id="R9b317a88ba8a4340"/>
    <p:sldId xmlns:r="http://schemas.openxmlformats.org/officeDocument/2006/relationships" id="261" r:id="R5283e673e60742ab"/>
    <p:sldId xmlns:r="http://schemas.openxmlformats.org/officeDocument/2006/relationships" id="262" r:id="Rd4b6002a354e49cf"/>
    <p:sldId xmlns:r="http://schemas.openxmlformats.org/officeDocument/2006/relationships" id="263" r:id="R924de2e574dd4fc0"/>
    <p:sldId xmlns:r="http://schemas.openxmlformats.org/officeDocument/2006/relationships" id="264" r:id="Rfe3106d6c6a04ae2"/>
    <p:sldId xmlns:r="http://schemas.openxmlformats.org/officeDocument/2006/relationships" id="265" r:id="Rb7332423620b4f17"/>
    <p:sldId xmlns:r="http://schemas.openxmlformats.org/officeDocument/2006/relationships" id="266" r:id="Rcc5ef80674c94f8b"/>
    <p:sldId xmlns:r="http://schemas.openxmlformats.org/officeDocument/2006/relationships" id="267" r:id="R59bc64deb2e2494f"/>
    <p:sldId xmlns:r="http://schemas.openxmlformats.org/officeDocument/2006/relationships" id="268" r:id="R0a1268eb347c4990"/>
    <p:sldId xmlns:r="http://schemas.openxmlformats.org/officeDocument/2006/relationships" id="269" r:id="Rf63ca1afb34c4044"/>
    <p:sldId xmlns:r="http://schemas.openxmlformats.org/officeDocument/2006/relationships" id="270" r:id="Rfa4becdda87a4509"/>
    <p:sldId xmlns:r="http://schemas.openxmlformats.org/officeDocument/2006/relationships" id="271" r:id="R8ee9a2a21d2b4d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d926b67b39548d3" /><Relationship Type="http://schemas.openxmlformats.org/officeDocument/2006/relationships/slideMaster" Target="/ppt/slideMasters/slideMaster1.xml" Id="R00342cc9b5e84e59" /><Relationship Type="http://schemas.openxmlformats.org/officeDocument/2006/relationships/notesMaster" Target="/ppt/notesMasters/notesMaster1.xml" Id="R7cabfdd605f6424f" /><Relationship Type="http://schemas.openxmlformats.org/officeDocument/2006/relationships/presProps" Target="/ppt/presProps.xml" Id="R641b261aa940464b" /><Relationship Type="http://schemas.openxmlformats.org/officeDocument/2006/relationships/tableStyles" Target="/ppt/tableStyles.xml" Id="R8daf1d0c7e5e44c0" /><Relationship Type="http://schemas.openxmlformats.org/officeDocument/2006/relationships/slide" Target="/ppt/slides/slide1.xml" Id="Rad189dafbc0840f9" /><Relationship Type="http://schemas.openxmlformats.org/officeDocument/2006/relationships/slide" Target="/ppt/slides/slide2.xml" Id="R9f1ca45aa00a4d69" /><Relationship Type="http://schemas.openxmlformats.org/officeDocument/2006/relationships/slide" Target="/ppt/slides/slide3.xml" Id="Rccf6e1aa847b4415" /><Relationship Type="http://schemas.openxmlformats.org/officeDocument/2006/relationships/slide" Target="/ppt/slides/slide4.xml" Id="R32230041932e4f2f" /><Relationship Type="http://schemas.openxmlformats.org/officeDocument/2006/relationships/slide" Target="/ppt/slides/slide5.xml" Id="R9b317a88ba8a4340" /><Relationship Type="http://schemas.openxmlformats.org/officeDocument/2006/relationships/slide" Target="/ppt/slides/slide6.xml" Id="R5283e673e60742ab" /><Relationship Type="http://schemas.openxmlformats.org/officeDocument/2006/relationships/slide" Target="/ppt/slides/slide7.xml" Id="Rd4b6002a354e49cf" /><Relationship Type="http://schemas.openxmlformats.org/officeDocument/2006/relationships/slide" Target="/ppt/slides/slide8.xml" Id="R924de2e574dd4fc0" /><Relationship Type="http://schemas.openxmlformats.org/officeDocument/2006/relationships/slide" Target="/ppt/slides/slide9.xml" Id="Rfe3106d6c6a04ae2" /><Relationship Type="http://schemas.openxmlformats.org/officeDocument/2006/relationships/slide" Target="/ppt/slides/slide10.xml" Id="Rb7332423620b4f17" /><Relationship Type="http://schemas.openxmlformats.org/officeDocument/2006/relationships/slide" Target="/ppt/slides/slide11.xml" Id="Rcc5ef80674c94f8b" /><Relationship Type="http://schemas.openxmlformats.org/officeDocument/2006/relationships/slide" Target="/ppt/slides/slide12.xml" Id="R59bc64deb2e2494f" /><Relationship Type="http://schemas.openxmlformats.org/officeDocument/2006/relationships/slide" Target="/ppt/slides/slide13.xml" Id="R0a1268eb347c4990" /><Relationship Type="http://schemas.openxmlformats.org/officeDocument/2006/relationships/slide" Target="/ppt/slides/slide14.xml" Id="Rf63ca1afb34c4044" /><Relationship Type="http://schemas.openxmlformats.org/officeDocument/2006/relationships/slide" Target="/ppt/slides/slide15.xml" Id="Rfa4becdda87a4509" /><Relationship Type="http://schemas.openxmlformats.org/officeDocument/2006/relationships/slide" Target="/ppt/slides/slide16.xml" Id="R8ee9a2a21d2b4d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7f51ca16a848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b3cc09f2364a32" /><Relationship Type="http://schemas.openxmlformats.org/officeDocument/2006/relationships/notesMaster" Target="/ppt/notesMasters/notesMaster1.xml" Id="Ra72fe2218e224f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c71a79e0544080" /><Relationship Type="http://schemas.openxmlformats.org/officeDocument/2006/relationships/notesMaster" Target="/ppt/notesMasters/notesMaster1.xml" Id="R4dc3e169764041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4650ba1cc44491" /><Relationship Type="http://schemas.openxmlformats.org/officeDocument/2006/relationships/notesMaster" Target="/ppt/notesMasters/notesMaster1.xml" Id="R1089a8b63ff947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7912413f8b44054" /><Relationship Type="http://schemas.openxmlformats.org/officeDocument/2006/relationships/notesMaster" Target="/ppt/notesMasters/notesMaster1.xml" Id="R5d25c3355ad346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e35e63db514026" /><Relationship Type="http://schemas.openxmlformats.org/officeDocument/2006/relationships/notesMaster" Target="/ppt/notesMasters/notesMaster1.xml" Id="R5ae93ab35eff48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1eaeee6bd904567" /><Relationship Type="http://schemas.openxmlformats.org/officeDocument/2006/relationships/notesMaster" Target="/ppt/notesMasters/notesMaster1.xml" Id="R8043a51c301143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0a14f480eb4d81" /><Relationship Type="http://schemas.openxmlformats.org/officeDocument/2006/relationships/notesMaster" Target="/ppt/notesMasters/notesMaster1.xml" Id="R8af2bed85e234f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e517a8c98a42d2" /><Relationship Type="http://schemas.openxmlformats.org/officeDocument/2006/relationships/notesMaster" Target="/ppt/notesMasters/notesMaster1.xml" Id="R1236aeaaffdb4b74"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fa1e8b18db4be6" /><Relationship Type="http://schemas.openxmlformats.org/officeDocument/2006/relationships/notesMaster" Target="/ppt/notesMasters/notesMaster1.xml" Id="Re8c8ebcc977845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837d2d912145c5" /><Relationship Type="http://schemas.openxmlformats.org/officeDocument/2006/relationships/notesMaster" Target="/ppt/notesMasters/notesMaster1.xml" Id="R570322173fca46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eddbf469cf14d57" /><Relationship Type="http://schemas.openxmlformats.org/officeDocument/2006/relationships/notesMaster" Target="/ppt/notesMasters/notesMaster1.xml" Id="R39e774af4e874da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6cdbcf346ce4450" /><Relationship Type="http://schemas.openxmlformats.org/officeDocument/2006/relationships/notesMaster" Target="/ppt/notesMasters/notesMaster1.xml" Id="Rc06fbf03d6e2406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2ae04e6908b4499" /><Relationship Type="http://schemas.openxmlformats.org/officeDocument/2006/relationships/notesMaster" Target="/ppt/notesMasters/notesMaster1.xml" Id="R4aa9934afa8a419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95b87d6326c4ead" /><Relationship Type="http://schemas.openxmlformats.org/officeDocument/2006/relationships/notesMaster" Target="/ppt/notesMasters/notesMaster1.xml" Id="R4d88460344bd4f5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f72805dfa6644cc" /><Relationship Type="http://schemas.openxmlformats.org/officeDocument/2006/relationships/notesMaster" Target="/ppt/notesMasters/notesMaster1.xml" Id="R75000c7cd3d648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6dafe6c68f742a3" /><Relationship Type="http://schemas.openxmlformats.org/officeDocument/2006/relationships/notesMaster" Target="/ppt/notesMasters/notesMaster1.xml" Id="Re6dd06f0688149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Chào thầy/cô, nhóm chúng em là 4 Hollows. Nhóm đăng ký đề tài xây dựng chatbot RAG hỏi đáp lore Elden Ring base game bằng tiếng Việt và tiếng Anh. Sản phẩm dự kiến có web và Discord dùng chung một backend. Hôm nay nhóm trình bày bài toán, khảo sát ban đầu, phân công và kế hoạch 9 tuần. Thời lượng đề xuất: 10–12 phút cho slide 1–14, slide 15–16 để tham khảo khi hỏi đáp. Thay TV1–TV4 bằng họ tên và MSSV trước khi nộp.</a:t>
            </a:r>
          </a:p>
          <a:p xmlns:a="http://schemas.openxmlformats.org/drawingml/2006/main">
            <a:r>
              <a:t/>
            </a:r>
          </a:p>
          <a:p xmlns:a="http://schemas.openxmlformats.org/drawingml/2006/main">
            <a:r>
              <a:t>Nguồn tham khảo / hình ảnh:</a:t>
            </a:r>
          </a:p>
          <a:p xmlns:a="http://schemas.openxmlformats.org/drawingml/2006/main">
            <a:r>
              <a:t>https://en.bandainamcoent.eu/elden-ring/elden-ring</a:t>
            </a:r>
          </a:p>
          <a:p xmlns:a="http://schemas.openxmlformats.org/drawingml/2006/main">
            <a:r>
              <a:t>https://static.bandainamcoent.eu/high/elden-ring/elden-ring/00-page-setup/Elden-Ring-KF01.jpg</a:t>
            </a:r>
          </a:p>
          <a:p xmlns:a="http://schemas.openxmlformats.org/drawingml/2006/main">
            <a:r>
              <a:t>Hình ảnh thuộc quyền của chủ sở hữu Elden Ring, sử dụng minh họa học thuật.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Đây là mô tả bài toán dự kiến, chưa phải kết quả khảo sát người dùng. Ví dụ đầu vào là “Godrick the Grafted là ai?”. Đầu ra cần trả lời ngắn, đúng ngôn ngữ người hỏi, giữ tên riêng và dẫn đến đoạn nguồn. Khi không đủ bằng chứng, chatbot cần nói rõ giới hạn thay vì suy đoán.</a:t>
            </a:r>
          </a:p>
          <a:p xmlns:a="http://schemas.openxmlformats.org/drawingml/2006/main">
            <a:r>
              <a:t/>
            </a:r>
          </a:p>
          <a:p xmlns:a="http://schemas.openxmlformats.org/drawingml/2006/main">
            <a:r>
              <a:t>Nguồn tham khảo / hình ảnh:</a:t>
            </a:r>
          </a:p>
          <a:p xmlns:a="http://schemas.openxmlformats.org/drawingml/2006/main">
            <a:r>
              <a:t>https://en.bandainamcoent.eu/elden-ring/elden-ring</a:t>
            </a:r>
          </a:p>
          <a:p xmlns:a="http://schemas.openxmlformats.org/drawingml/2006/main">
            <a:r>
              <a:t>https://static.bandainamcoent.eu/high/elden-ring/elden-ring/00-page-setup/Elden-Ring-KF02.jpg</a:t>
            </a:r>
          </a:p>
          <a:p xmlns:a="http://schemas.openxmlformats.org/drawingml/2006/main">
            <a:r>
              <a:t>Hình ảnh thuộc quyền của chủ sở hữu Elden Ring, sử dụng minh họa học thuật.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Nhóm tập trung hỏi đáp lore. Bài toán tính sát thương, tối ưu build và voice chat nằm ngoài mục tiêu sản phẩm. Web và Discord là hai giao diện kiểm thử cho cùng hệ thống NLP. Những sản phẩm liệt kê ở đây là đầu ra dự kiến, không tuyên bố đã hoàn thành.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Giữ cố định corpus, tập test và cấu hình sinh khi so sánh. Chúng em sẽ đo mức cải thiện thực tế, không mặc định hybrid hay rerank chắc chắn tốt hơn. Khía cạnh nghiên cứu nằm ở thiết kế đối chứng, đánh giá và phân tích lỗi, không chỉ ở việc gọi API LLM.</a:t>
            </a:r>
          </a:p>
          <a:p xmlns:a="http://schemas.openxmlformats.org/drawingml/2006/main">
            <a:r>
              <a:t/>
            </a:r>
          </a:p>
          <a:p xmlns:a="http://schemas.openxmlformats.org/drawingml/2006/main">
            <a:r>
              <a:t>Nguồn tham khảo / hình ảnh:</a:t>
            </a:r>
          </a:p>
          <a:p xmlns:a="http://schemas.openxmlformats.org/drawingml/2006/main">
            <a:r>
              <a:t>https://arxiv.org/abs/2005.11401</a:t>
            </a:r>
          </a:p>
          <a:p xmlns:a="http://schemas.openxmlformats.org/drawingml/2006/main">
            <a:r>
              <a:t>https://qdrant.tech/documentation/search/hybrid-queries/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Survey ban đầu dựa trên bài RAG của Lewis và cộng sự, model card multilingual-e5-small và tài liệu hybrid queries của Qdrant. Bảng này tóm tắt hướng áp dụng, không phải kết quả benchmark của nhóm. Tuần 1 mỗi thành viên phải đọc tài liệu gốc và ghi bài toán, phương pháp, dữ liệu, metric, hạn chế và ý nghĩa đối với IndexBeast.</a:t>
            </a:r>
          </a:p>
          <a:p xmlns:a="http://schemas.openxmlformats.org/drawingml/2006/main">
            <a:r>
              <a:t/>
            </a:r>
          </a:p>
          <a:p xmlns:a="http://schemas.openxmlformats.org/drawingml/2006/main">
            <a:r>
              <a:t>Nguồn tham khảo / hình ảnh:</a:t>
            </a:r>
          </a:p>
          <a:p xmlns:a="http://schemas.openxmlformats.org/drawingml/2006/main">
            <a:r>
              <a:t>https://arxiv.org/abs/2005.11401</a:t>
            </a:r>
          </a:p>
          <a:p xmlns:a="http://schemas.openxmlformats.org/drawingml/2006/main">
            <a:r>
              <a:t>https://huggingface.co/intfloat/multilingual-e5-small</a:t>
            </a:r>
          </a:p>
          <a:p xmlns:a="http://schemas.openxmlformats.org/drawingml/2006/main">
            <a:r>
              <a:t>https://qdrant.tech/documentation/search/hybrid-queries/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Chưa có thống kê corpus đã crawl trong repo. Không nêu số trang toàn bộ khi chưa đo. Tuần 1 lấy mẫu 20–30 trang, kiểm tra API, quyền sử dụng, cách ghi nguồn và độ sạch. Fan APIs là nguồn ứng viên cho danh sách thực thể, không mặc định đủ lore. wiki.gg chưa truy cập được bằng công cụ khảo sát trong lần chuẩn bị này, nên việc xác minh nguồn vẫn là công việc cần làm. Ảnh minh họa game không phải ảnh dữ liệu đã thu thập.</a:t>
            </a:r>
          </a:p>
          <a:p xmlns:a="http://schemas.openxmlformats.org/drawingml/2006/main">
            <a:r>
              <a:t/>
            </a:r>
          </a:p>
          <a:p xmlns:a="http://schemas.openxmlformats.org/drawingml/2006/main">
            <a:r>
              <a:t>Nguồn tham khảo / hình ảnh:</a:t>
            </a:r>
          </a:p>
          <a:p xmlns:a="http://schemas.openxmlformats.org/drawingml/2006/main">
            <a:r>
              <a:t>https://en.bandainamcoent.eu/elden-ring/elden-ring</a:t>
            </a:r>
          </a:p>
          <a:p xmlns:a="http://schemas.openxmlformats.org/drawingml/2006/main">
            <a:r>
              <a:t>https://eldenring.wiki.gg/</a:t>
            </a:r>
          </a:p>
          <a:p xmlns:a="http://schemas.openxmlformats.org/drawingml/2006/main">
            <a:r>
              <a:t>https://en.wikipedia.org/wiki/Elden_Ring</a:t>
            </a:r>
          </a:p>
          <a:p xmlns:a="http://schemas.openxmlformats.org/drawingml/2006/main">
            <a:r>
              <a:t>https://eldenring.fanapis.com/</a:t>
            </a:r>
          </a:p>
          <a:p xmlns:a="http://schemas.openxmlformats.org/drawingml/2006/main">
            <a:r>
              <a:t>https://en.bandainamcoent.eu/elden-ring/elden-ring</a:t>
            </a:r>
          </a:p>
          <a:p xmlns:a="http://schemas.openxmlformats.org/drawingml/2006/main">
            <a:r>
              <a:t>https://static.bandainamcoent.eu/high/elden-ring/elden-ring/00-page-setup/Elden-Ring-KF03.jpg</a:t>
            </a:r>
          </a:p>
          <a:p xmlns:a="http://schemas.openxmlformats.org/drawingml/2006/main">
            <a:r>
              <a:t>Hình ảnh thuộc quyền của chủ sở hữu Elden Ring, sử dụng minh họa học thuật.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Pipeline offline có thể chạy lại từ artifact từng bước. Pipeline online tìm bằng chứng trước khi sinh. Nguồn số [1], [2] trong câu trả lời phải ánh xạ tới chunk thật; việc có số trích dẫn chưa chứng minh câu trả lời đúng. Luồng này sẽ triển khai dần: dense baseline trước, hybrid và rerank sau.</a:t>
            </a:r>
          </a:p>
          <a:p xmlns:a="http://schemas.openxmlformats.org/drawingml/2006/main">
            <a:r>
              <a:t/>
            </a:r>
          </a:p>
          <a:p xmlns:a="http://schemas.openxmlformats.org/drawingml/2006/main">
            <a:r>
              <a:t>Nguồn tham khảo / hình ảnh:</a:t>
            </a:r>
          </a:p>
          <a:p xmlns:a="http://schemas.openxmlformats.org/drawingml/2006/main">
            <a:r>
              <a:t>https://arxiv.org/abs/2005.11401</a:t>
            </a:r>
          </a:p>
          <a:p xmlns:a="http://schemas.openxmlformats.org/drawingml/2006/main">
            <a:r>
              <a:t>https://qdrant.tech/documentation/search/hybrid-queries/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Đây là lựa chọn kiến trúc, chưa phải công suất hệ thống đã kiểm chứng. API LLM giúp nhóm có baseline sớm. Adapter gom lời gọi model để đổi nhà cung cấp. Không chốt tên model, giá hoặc RAM khi chưa kiểm tra. Với local, llama.cpp là phương án khảo sát; phải đo tốc độ và chất lượng trên máy thật trước khi chọn.</a:t>
            </a:r>
          </a:p>
          <a:p xmlns:a="http://schemas.openxmlformats.org/drawingml/2006/main">
            <a:r>
              <a:t/>
            </a:r>
          </a:p>
          <a:p xmlns:a="http://schemas.openxmlformats.org/drawingml/2006/main">
            <a:r>
              <a:t>Nguồn tham khảo / hình ảnh:</a:t>
            </a:r>
          </a:p>
          <a:p xmlns:a="http://schemas.openxmlformats.org/drawingml/2006/main">
            <a:r>
              <a:t>https://github.com/ggml-org/llama.cpp/tree/master/tools/server</a:t>
            </a:r>
          </a:p>
          <a:p xmlns:a="http://schemas.openxmlformats.org/drawingml/2006/main">
            <a:r>
              <a:t>D:/Index-Beast/docs/04_ARCHITECTURE.md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Đây là quy mô đề xuất. Các biến thể câu hỏi gần trùng phải cùng một phía của split để tránh rò rỉ. Tập test chỉ mở sau khi chốt cấu hình. Định nghĩa Recall@k bằng tỷ lệ nguồn liên quan được tìm thấy trong k kết quả trên các câu có nhãn nguồn. MRR là trung bình nghịch đảo hạng của kết quả đúng đầu tiên. Người chấm đối chiếu câu trả lời với nguồn. Nếu dùng LLM-as-judge phải kiểm tra chéo bằng người và ghi rubric.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Giả định tuần 1 bắt đầu ngày 19/10/2026. Kế hoạch này là đề xuất 9 tuần cho học phần, thay cho mốc 6 tuần khi trình bày. Tuần 1 hoàn tất đăng ký, phân công, bài toán, dữ liệu và survey. Mỗi tuần có sản phẩm bàn giao kiểm tra được, không chỉ ghi “tìm hiểu” hoặc “code”. Tuần 3 có baseline; tuần 5 có pipeline sinh câu trả lời.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Cuối tuần 6 có MVP web và Discord. Tuần 7 tập trung đánh giá, tuần 8 triển khai và lấy feedback. Tuần 9 dành cho sửa lỗi, báo cáo và tập dượt. Nếu chậm tiến độ, giảm trang admin, cache và các tính năng giao diện phụ để giữ đủ thời gian đánh giá NLP.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Điền tên và MSSV trước khi nộp. Mỗi hạng mục có một người chịu trách nhiệm chính và một người review. TV2 và TV3 thống nhất schema chunk; TV1 và TV4 thống nhất API sớm. Cả nhóm cùng đóng góp câu hỏi và review đáp án. Quy trình Git theo docs/quy_uoc.md: feature từ develop, PR và Mentor review trước khi merge.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Tuần 1 không cần tuyên bố hệ thống đã chạy. Đến ngày 25/10, mỗi đầu ra phải có link hoặc file minh chứng. Các số lượng 20–30 trang và 30 câu là mục tiêu tuần 1. Cả nhóm review chéo cuối tuần để chốt phạm vi, dữ liệu, câu hỏi nghiên cứu và kế hoạch. Họp giữa tuần ngắn để gỡ vướng.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Các ngưỡng chất lượng trong tài liệu cũ là mục tiêu, không phải kết quả đã đạt. Nhóm sẽ hiệu chỉnh sau baseline và công khai cấu hình, phiên bản dữ liệu, giới hạn và các nhóm câu còn sai. Kết bài: nhóm xin đăng ký đề tài và xin góp ý về phạm vi cùng thiết kế đánh giá. Không cần hứa khả năng tải lớn trước khi có số đo.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đọc chi tiết bên dưới. Survey tuần 1 cần bảng so sánh có dẫn nguồn, không chỉ danh sách tên thư viện. Bổ sung tài liệu chính thức về BM25, cross-encoder và hệ thống RAG có đánh giá. Lưu ngày đọc và phân biệt nhận xét của nhóm với kết quả tác giả công bố.</a:t>
            </a:r>
          </a:p>
          <a:p xmlns:a="http://schemas.openxmlformats.org/drawingml/2006/main">
            <a:r>
              <a:t/>
            </a:r>
          </a:p>
          <a:p xmlns:a="http://schemas.openxmlformats.org/drawingml/2006/main">
            <a:r>
              <a:t>Nguồn tham khảo / hình ảnh:</a:t>
            </a:r>
          </a:p>
          <a:p xmlns:a="http://schemas.openxmlformats.org/drawingml/2006/main">
            <a:r>
              <a:t>https://arxiv.org/abs/2005.11401</a:t>
            </a:r>
          </a:p>
          <a:p xmlns:a="http://schemas.openxmlformats.org/drawingml/2006/main">
            <a:r>
              <a:t>https://huggingface.co/intfloat/multilingual-e5-small</a:t>
            </a:r>
          </a:p>
          <a:p xmlns:a="http://schemas.openxmlformats.org/drawingml/2006/main">
            <a:r>
              <a:t>https://qdrant.tech/documentation/search/hybrid-queries/</a:t>
            </a:r>
          </a:p>
          <a:p xmlns:a="http://schemas.openxmlformats.org/drawingml/2006/main">
            <a:r>
              <a:t>https://github.com/ggml-org/llama.cpp/tree/master/tools/server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Trả lời đúng trạng thái thực tế của nhóm. Không trình bày số mục tiêu như kết quả đã đạt. Nếu trường có mẫu đăng ký, lấy tên đề tài, mục tiêu, phương pháp, đầu ra và phân công từ bộ tài liệu này để điền. Nhóm cần bổ sung họ tên, MSSV, lớp và tên giảng viên trước khi nộp.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57678bf6ac47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38e912b91648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c04d3a1b7e4af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bb7bc5c84e648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03bb15fcb444b1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52f67bb95344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7D067B-B248-452B-8850-D3C5A69CFF6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F47E172-8814-4407-A213-3CD6FDCE187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21B114A-8AD1-40D3-95B4-393F1EE563F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3E7981-8329-4308-9E81-1C50BB6E6D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428ED64-9524-40A9-97CD-365D71A88B0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FB99E42-2F0E-49C5-A5C7-2F90F86C67A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2F9183-08F6-44E5-9391-E72B01439B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072B46F-BC10-4E4B-A6DB-3F627389AEA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62E341-4879-4553-9E14-C093F5B653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0E575A-D5BB-44F9-967A-47FD5F2F959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bec734c909437d" /><Relationship Type="http://schemas.openxmlformats.org/officeDocument/2006/relationships/slideLayout" Target="/ppt/slideLayouts/slideLayout1.xml" Id="Rfb6e4ce322b3406a" /><Relationship Type="http://schemas.openxmlformats.org/officeDocument/2006/relationships/slideLayout" Target="/ppt/slideLayouts/slideLayout2.xml" Id="Rd9d382daf6a64876" /><Relationship Type="http://schemas.openxmlformats.org/officeDocument/2006/relationships/slideLayout" Target="/ppt/slideLayouts/slideLayout3.xml" Id="R4a18b5b3a95d4362" /><Relationship Type="http://schemas.openxmlformats.org/officeDocument/2006/relationships/slideLayout" Target="/ppt/slideLayouts/slideLayout4.xml" Id="R22addca3be5d4a4e" /><Relationship Type="http://schemas.openxmlformats.org/officeDocument/2006/relationships/slideLayout" Target="/ppt/slideLayouts/slideLayout5.xml" Id="R8863691e4f464545" /><Relationship Type="http://schemas.openxmlformats.org/officeDocument/2006/relationships/slideLayout" Target="/ppt/slideLayouts/slideLayout6.xml" Id="R3c3cb7716cca40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6e4ce322b3406a"/>
    <p:sldLayoutId xmlns:r="http://schemas.openxmlformats.org/officeDocument/2006/relationships" id="2147483650" r:id="Rd9d382daf6a64876"/>
    <p:sldLayoutId xmlns:r="http://schemas.openxmlformats.org/officeDocument/2006/relationships" id="2147483651" r:id="R4a18b5b3a95d4362"/>
    <p:sldLayoutId xmlns:r="http://schemas.openxmlformats.org/officeDocument/2006/relationships" id="2147483652" r:id="R22addca3be5d4a4e"/>
    <p:sldLayoutId xmlns:r="http://schemas.openxmlformats.org/officeDocument/2006/relationships" id="2147483653" r:id="R8863691e4f464545"/>
    <p:sldLayoutId xmlns:r="http://schemas.openxmlformats.org/officeDocument/2006/relationships" id="2147483654" r:id="R3c3cb7716cca40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1a9bf401412482a" /><Relationship Type="http://schemas.openxmlformats.org/officeDocument/2006/relationships/image" Target="/ppt/media/image.jpeg" Id="Rad82e176da4e4f46" /><Relationship Type="http://schemas.openxmlformats.org/officeDocument/2006/relationships/notesSlide" Target="/ppt/notesSlides/notesSlide1.xml" Id="R4ebfc4bc89fb44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7f2c2147f2d4284" /><Relationship Type="http://schemas.openxmlformats.org/officeDocument/2006/relationships/image" Target="/ppt/media/image2.jpeg" Id="R8838d85338604483" /><Relationship Type="http://schemas.openxmlformats.org/officeDocument/2006/relationships/notesSlide" Target="/ppt/notesSlides/notesSlide2.xml" Id="Ra2b0e959968e4b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a9d7dd35794410d" /><Relationship Type="http://schemas.openxmlformats.org/officeDocument/2006/relationships/notesSlide" Target="/ppt/notesSlides/notesSlide3.xml" Id="Re6869604033742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e61e6a5cecd4e5b" /><Relationship Type="http://schemas.openxmlformats.org/officeDocument/2006/relationships/notesSlide" Target="/ppt/notesSlides/notesSlide4.xml" Id="Rbadd9a20110346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10389da18ea4392" /><Relationship Type="http://schemas.openxmlformats.org/officeDocument/2006/relationships/notesSlide" Target="/ppt/notesSlides/notesSlide5.xml" Id="R05fc1188c53d47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a603d3c76d94721" /><Relationship Type="http://schemas.openxmlformats.org/officeDocument/2006/relationships/image" Target="/ppt/media/image3.jpeg" Id="R448796b69ab941de" /><Relationship Type="http://schemas.openxmlformats.org/officeDocument/2006/relationships/notesSlide" Target="/ppt/notesSlides/notesSlide6.xml" Id="R8679b5460e1e40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295f08267fb4c11" /><Relationship Type="http://schemas.openxmlformats.org/officeDocument/2006/relationships/notesSlide" Target="/ppt/notesSlides/notesSlide7.xml" Id="R4c1374350cb148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916c1cf0fb441d0" /><Relationship Type="http://schemas.openxmlformats.org/officeDocument/2006/relationships/notesSlide" Target="/ppt/notesSlides/notesSlide8.xml" Id="R6146cf3cd1c943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b39facecff84e87" /><Relationship Type="http://schemas.openxmlformats.org/officeDocument/2006/relationships/notesSlide" Target="/ppt/notesSlides/notesSlide9.xml" Id="Rea7fc163dedb46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6b9571e535c4eeb" /><Relationship Type="http://schemas.openxmlformats.org/officeDocument/2006/relationships/notesSlide" Target="/ppt/notesSlides/notesSlide10.xml" Id="R1f2395cbd04448a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6532b046bcf4c94" /><Relationship Type="http://schemas.openxmlformats.org/officeDocument/2006/relationships/notesSlide" Target="/ppt/notesSlides/notesSlide11.xml" Id="R37b73c108df8419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eeca0ba839341b7" /><Relationship Type="http://schemas.openxmlformats.org/officeDocument/2006/relationships/notesSlide" Target="/ppt/notesSlides/notesSlide12.xml" Id="R91142d2744f544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5b8e0b5bdf547bd" /><Relationship Type="http://schemas.openxmlformats.org/officeDocument/2006/relationships/notesSlide" Target="/ppt/notesSlides/notesSlide13.xml" Id="R661ce2eddee94a2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e1ecdd08da244b8" /><Relationship Type="http://schemas.openxmlformats.org/officeDocument/2006/relationships/notesSlide" Target="/ppt/notesSlides/notesSlide14.xml" Id="Rb6805006b5f948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e187da3c5ad4d9c" /><Relationship Type="http://schemas.openxmlformats.org/officeDocument/2006/relationships/notesSlide" Target="/ppt/notesSlides/notesSlide15.xml" Id="Rc0031893c05240c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c061a8a50ac4eea" /><Relationship Type="http://schemas.openxmlformats.org/officeDocument/2006/relationships/notesSlide" Target="/ppt/notesSlides/notesSlide16.xml" Id="R27286816cfff4e42" /></Relationships>
</file>

<file path=ppt/slides/slide1.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1FD38C-F0ED-4788-8680-4FD70C5A21FC}"/>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410F1A8C-98ED-41CC-A7DD-33C1E4DC7533}"/>
              </a:ext>
            </a:extLst>
          </p:cNvPr>
          <p:cNvSpPr>
            <a:spLocks xmlns:a="http://schemas.openxmlformats.org/drawingml/2006/main" noGrp="1"/>
          </p:cNvSpPr>
          <p:nvPr/>
        </p:nvSpPr>
        <p:spPr>
          <a:xfrm xmlns:a="http://schemas.openxmlformats.org/drawingml/2006/main">
            <a:off x="609600" y="1619250"/>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F1EBDD"/>
                </a:solidFill>
                <a:latin typeface="Arial"/>
                <a:ea typeface="Arial"/>
                <a:cs typeface="Arial"/>
              </a:defRPr>
            </a:defPPr>
            <a:lvl1pPr>
              <a:defRPr sz="5700" b="1">
                <a:solidFill>
                  <a:srgbClr val="F1EBDD"/>
                </a:solidFill>
                <a:latin typeface="Arial"/>
                <a:ea typeface="Arial"/>
                <a:cs typeface="Arial"/>
              </a:defRPr>
            </a:lvl1pPr>
            <a:lvl2pPr>
              <a:defRPr sz="5700" b="1">
                <a:solidFill>
                  <a:srgbClr val="F1EBDD"/>
                </a:solidFill>
                <a:latin typeface="Arial"/>
                <a:ea typeface="Arial"/>
                <a:cs typeface="Arial"/>
              </a:defRPr>
            </a:lvl2pPr>
            <a:lvl3pPr>
              <a:defRPr sz="5700" b="1">
                <a:solidFill>
                  <a:srgbClr val="F1EBDD"/>
                </a:solidFill>
                <a:latin typeface="Arial"/>
                <a:ea typeface="Arial"/>
                <a:cs typeface="Arial"/>
              </a:defRPr>
            </a:lvl3pPr>
            <a:lvl4pPr>
              <a:defRPr sz="5700" b="1">
                <a:solidFill>
                  <a:srgbClr val="F1EBDD"/>
                </a:solidFill>
                <a:latin typeface="Arial"/>
                <a:ea typeface="Arial"/>
                <a:cs typeface="Arial"/>
              </a:defRPr>
            </a:lvl4pPr>
            <a:lvl5pPr>
              <a:defRPr sz="5700" b="1">
                <a:solidFill>
                  <a:srgbClr val="F1EBDD"/>
                </a:solidFill>
                <a:latin typeface="Arial"/>
                <a:ea typeface="Arial"/>
                <a:cs typeface="Arial"/>
              </a:defRPr>
            </a:lvl5pPr>
            <a:lvl6pPr>
              <a:defRPr sz="5700" b="1">
                <a:solidFill>
                  <a:srgbClr val="F1EBDD"/>
                </a:solidFill>
                <a:latin typeface="Arial"/>
                <a:ea typeface="Arial"/>
                <a:cs typeface="Arial"/>
              </a:defRPr>
            </a:lvl6pPr>
            <a:lvl7pPr>
              <a:defRPr sz="5700" b="1">
                <a:solidFill>
                  <a:srgbClr val="F1EBDD"/>
                </a:solidFill>
                <a:latin typeface="Arial"/>
                <a:ea typeface="Arial"/>
                <a:cs typeface="Arial"/>
              </a:defRPr>
            </a:lvl7pPr>
            <a:lvl8pPr>
              <a:defRPr sz="5700" b="1">
                <a:solidFill>
                  <a:srgbClr val="F1EBDD"/>
                </a:solidFill>
                <a:latin typeface="Arial"/>
                <a:ea typeface="Arial"/>
                <a:cs typeface="Arial"/>
              </a:defRPr>
            </a:lvl8pPr>
            <a:lvl9pPr>
              <a:defRPr sz="5700" b="1">
                <a:solidFill>
                  <a:srgbClr val="F1EBDD"/>
                </a:solidFill>
                <a:latin typeface="Arial"/>
                <a:ea typeface="Arial"/>
                <a:cs typeface="Arial"/>
              </a:defRPr>
            </a:lvl9pPr>
          </a:lstStyle>
          <a:p xmlns:a="http://schemas.openxmlformats.org/drawingml/2006/main">
            <a:pPr>
              <a:defRPr sz="5700" b="1">
                <a:solidFill>
                  <a:srgbClr val="F1EBDD"/>
                </a:solidFill>
                <a:latin typeface="Arial"/>
                <a:ea typeface="Arial"/>
                <a:cs typeface="Arial"/>
              </a:defRPr>
            </a:pPr>
            <a:r>
              <a:rPr sz="5700" b="1">
                <a:solidFill>
                  <a:srgbClr val="F1EBDD"/>
                </a:solidFill>
                <a:latin typeface="Arial"/>
                <a:ea typeface="Arial"/>
                <a:cs typeface="Arial"/>
              </a:rPr>
              <a:t>IndexBeast</a:t>
            </a:r>
          </a:p>
        </p:txBody>
      </p:sp>
      <p:pic>
        <p:nvPicPr>
          <p:cNvPr id="3" name="">
            <a:extLst xmlns:a="http://schemas.openxmlformats.org/drawingml/2006/main">
              <a:ext uri="{FF2B5EF4-FFF2-40B4-BE49-F238E27FC236}">
                <a16:creationId xmlns:a16="http://schemas.microsoft.com/office/drawing/2014/main" id="{3DF1EE3D-3FA0-4687-B0E7-333B4FEF543E}"/>
              </a:ext>
            </a:extLst>
          </p:cNvPr>
          <p:cNvPicPr>
            <a:picLocks xmlns:a="http://schemas.openxmlformats.org/drawingml/2006/main" noChangeAspect="1"/>
          </p:cNvPicPr>
          <p:nvPr/>
        </p:nvPicPr>
        <p:blipFill>
          <a:blip xmlns:r="http://schemas.openxmlformats.org/officeDocument/2006/relationships" xmlns:a="http://schemas.openxmlformats.org/drawingml/2006/main" r:embed="Rad82e176da4e4f46"/>
          <a:srcRect xmlns:a="http://schemas.openxmlformats.org/drawingml/2006/main" l="30859" t="0" r="30859" b="0"/>
          <a:stretch xmlns:a="http://schemas.openxmlformats.org/drawingml/2006/main">
            <a:fillRect l="0" t="0" r="0" b="0"/>
          </a:stretch>
        </p:blipFill>
        <p:spPr>
          <a:xfrm xmlns:a="http://schemas.openxmlformats.org/drawingml/2006/main">
            <a:off x="7524750" y="0"/>
            <a:ext cx="466725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7A0475E-9D21-4C6A-953F-258BBC3817DA}"/>
              </a:ext>
            </a:extLst>
          </p:cNvPr>
          <p:cNvSpPr>
            <a:spLocks xmlns:a="http://schemas.openxmlformats.org/drawingml/2006/main" noGrp="1"/>
          </p:cNvSpPr>
          <p:nvPr/>
        </p:nvSpPr>
        <p:spPr>
          <a:xfrm xmlns:a="http://schemas.openxmlformats.org/drawingml/2006/main">
            <a:off x="609600" y="2781300"/>
            <a:ext cx="657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D3B777"/>
                </a:solidFill>
                <a:latin typeface="Arial"/>
                <a:ea typeface="Arial"/>
                <a:cs typeface="Arial"/>
              </a:defRPr>
            </a:defPPr>
            <a:lvl1pPr>
              <a:defRPr sz="2850" b="0">
                <a:solidFill>
                  <a:srgbClr val="D3B777"/>
                </a:solidFill>
                <a:latin typeface="Arial"/>
                <a:ea typeface="Arial"/>
                <a:cs typeface="Arial"/>
              </a:defRPr>
            </a:lvl1pPr>
            <a:lvl2pPr>
              <a:defRPr sz="2850" b="0">
                <a:solidFill>
                  <a:srgbClr val="D3B777"/>
                </a:solidFill>
                <a:latin typeface="Arial"/>
                <a:ea typeface="Arial"/>
                <a:cs typeface="Arial"/>
              </a:defRPr>
            </a:lvl2pPr>
            <a:lvl3pPr>
              <a:defRPr sz="2850" b="0">
                <a:solidFill>
                  <a:srgbClr val="D3B777"/>
                </a:solidFill>
                <a:latin typeface="Arial"/>
                <a:ea typeface="Arial"/>
                <a:cs typeface="Arial"/>
              </a:defRPr>
            </a:lvl3pPr>
            <a:lvl4pPr>
              <a:defRPr sz="2850" b="0">
                <a:solidFill>
                  <a:srgbClr val="D3B777"/>
                </a:solidFill>
                <a:latin typeface="Arial"/>
                <a:ea typeface="Arial"/>
                <a:cs typeface="Arial"/>
              </a:defRPr>
            </a:lvl4pPr>
            <a:lvl5pPr>
              <a:defRPr sz="2850" b="0">
                <a:solidFill>
                  <a:srgbClr val="D3B777"/>
                </a:solidFill>
                <a:latin typeface="Arial"/>
                <a:ea typeface="Arial"/>
                <a:cs typeface="Arial"/>
              </a:defRPr>
            </a:lvl5pPr>
            <a:lvl6pPr>
              <a:defRPr sz="2850" b="0">
                <a:solidFill>
                  <a:srgbClr val="D3B777"/>
                </a:solidFill>
                <a:latin typeface="Arial"/>
                <a:ea typeface="Arial"/>
                <a:cs typeface="Arial"/>
              </a:defRPr>
            </a:lvl6pPr>
            <a:lvl7pPr>
              <a:defRPr sz="2850" b="0">
                <a:solidFill>
                  <a:srgbClr val="D3B777"/>
                </a:solidFill>
                <a:latin typeface="Arial"/>
                <a:ea typeface="Arial"/>
                <a:cs typeface="Arial"/>
              </a:defRPr>
            </a:lvl7pPr>
            <a:lvl8pPr>
              <a:defRPr sz="2850" b="0">
                <a:solidFill>
                  <a:srgbClr val="D3B777"/>
                </a:solidFill>
                <a:latin typeface="Arial"/>
                <a:ea typeface="Arial"/>
                <a:cs typeface="Arial"/>
              </a:defRPr>
            </a:lvl8pPr>
            <a:lvl9pPr>
              <a:defRPr sz="2850" b="0">
                <a:solidFill>
                  <a:srgbClr val="D3B777"/>
                </a:solidFill>
                <a:latin typeface="Arial"/>
                <a:ea typeface="Arial"/>
                <a:cs typeface="Arial"/>
              </a:defRPr>
            </a:lvl9pPr>
          </a:lstStyle>
          <a:p xmlns:a="http://schemas.openxmlformats.org/drawingml/2006/main">
            <a:pPr>
              <a:defRPr sz="2850" b="0">
                <a:solidFill>
                  <a:srgbClr val="D3B777"/>
                </a:solidFill>
                <a:latin typeface="Arial"/>
                <a:ea typeface="Arial"/>
                <a:cs typeface="Arial"/>
              </a:defRPr>
            </a:pPr>
            <a:r>
              <a:rPr sz="2850" b="0">
                <a:solidFill>
                  <a:srgbClr val="D3B777"/>
                </a:solidFill>
                <a:latin typeface="Arial"/>
                <a:ea typeface="Arial"/>
                <a:cs typeface="Arial"/>
              </a:rPr>
              <a:t>Chatbot RAG hỏi đáp lore</a:t>
            </a:r>
          </a:p>
          <a:p xmlns:a="http://schemas.openxmlformats.org/drawingml/2006/main">
            <a:pPr>
              <a:defRPr sz="2850" b="0">
                <a:solidFill>
                  <a:srgbClr val="D3B777"/>
                </a:solidFill>
                <a:latin typeface="Arial"/>
                <a:ea typeface="Arial"/>
                <a:cs typeface="Arial"/>
              </a:defRPr>
            </a:pPr>
            <a:r>
              <a:rPr sz="2850" b="0">
                <a:solidFill>
                  <a:srgbClr val="D3B777"/>
                </a:solidFill>
                <a:latin typeface="Arial"/>
                <a:ea typeface="Arial"/>
                <a:cs typeface="Arial"/>
              </a:rPr>
              <a:t>Elden Ring base game</a:t>
            </a:r>
          </a:p>
        </p:txBody>
      </p:sp>
      <p:sp>
        <p:nvSpPr>
          <p:cNvPr id="5" name="">
            <a:extLst xmlns:a="http://schemas.openxmlformats.org/drawingml/2006/main">
              <a:ext uri="{FF2B5EF4-FFF2-40B4-BE49-F238E27FC236}">
                <a16:creationId xmlns:a16="http://schemas.microsoft.com/office/drawing/2014/main" id="{DE97DF97-EB0C-45DA-8686-6BDE4734B5F2}"/>
              </a:ext>
            </a:extLst>
          </p:cNvPr>
          <p:cNvSpPr>
            <a:spLocks xmlns:a="http://schemas.openxmlformats.org/drawingml/2006/main" noGrp="1"/>
          </p:cNvSpPr>
          <p:nvPr/>
        </p:nvSpPr>
        <p:spPr>
          <a:xfrm xmlns:a="http://schemas.openxmlformats.org/drawingml/2006/main">
            <a:off x="609600" y="4810125"/>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DC7C5"/>
                </a:solidFill>
                <a:latin typeface="Arial"/>
                <a:ea typeface="Arial"/>
                <a:cs typeface="Arial"/>
              </a:defRPr>
            </a:defPPr>
            <a:lvl1pPr>
              <a:defRPr sz="1875" b="0">
                <a:solidFill>
                  <a:srgbClr val="BDC7C5"/>
                </a:solidFill>
                <a:latin typeface="Arial"/>
                <a:ea typeface="Arial"/>
                <a:cs typeface="Arial"/>
              </a:defRPr>
            </a:lvl1pPr>
            <a:lvl2pPr>
              <a:defRPr sz="1875" b="0">
                <a:solidFill>
                  <a:srgbClr val="BDC7C5"/>
                </a:solidFill>
                <a:latin typeface="Arial"/>
                <a:ea typeface="Arial"/>
                <a:cs typeface="Arial"/>
              </a:defRPr>
            </a:lvl2pPr>
            <a:lvl3pPr>
              <a:defRPr sz="1875" b="0">
                <a:solidFill>
                  <a:srgbClr val="BDC7C5"/>
                </a:solidFill>
                <a:latin typeface="Arial"/>
                <a:ea typeface="Arial"/>
                <a:cs typeface="Arial"/>
              </a:defRPr>
            </a:lvl3pPr>
            <a:lvl4pPr>
              <a:defRPr sz="1875" b="0">
                <a:solidFill>
                  <a:srgbClr val="BDC7C5"/>
                </a:solidFill>
                <a:latin typeface="Arial"/>
                <a:ea typeface="Arial"/>
                <a:cs typeface="Arial"/>
              </a:defRPr>
            </a:lvl4pPr>
            <a:lvl5pPr>
              <a:defRPr sz="1875" b="0">
                <a:solidFill>
                  <a:srgbClr val="BDC7C5"/>
                </a:solidFill>
                <a:latin typeface="Arial"/>
                <a:ea typeface="Arial"/>
                <a:cs typeface="Arial"/>
              </a:defRPr>
            </a:lvl5pPr>
            <a:lvl6pPr>
              <a:defRPr sz="1875" b="0">
                <a:solidFill>
                  <a:srgbClr val="BDC7C5"/>
                </a:solidFill>
                <a:latin typeface="Arial"/>
                <a:ea typeface="Arial"/>
                <a:cs typeface="Arial"/>
              </a:defRPr>
            </a:lvl6pPr>
            <a:lvl7pPr>
              <a:defRPr sz="1875" b="0">
                <a:solidFill>
                  <a:srgbClr val="BDC7C5"/>
                </a:solidFill>
                <a:latin typeface="Arial"/>
                <a:ea typeface="Arial"/>
                <a:cs typeface="Arial"/>
              </a:defRPr>
            </a:lvl7pPr>
            <a:lvl8pPr>
              <a:defRPr sz="1875" b="0">
                <a:solidFill>
                  <a:srgbClr val="BDC7C5"/>
                </a:solidFill>
                <a:latin typeface="Arial"/>
                <a:ea typeface="Arial"/>
                <a:cs typeface="Arial"/>
              </a:defRPr>
            </a:lvl8pPr>
            <a:lvl9pPr>
              <a:defRPr sz="1875" b="0">
                <a:solidFill>
                  <a:srgbClr val="BDC7C5"/>
                </a:solidFill>
                <a:latin typeface="Arial"/>
                <a:ea typeface="Arial"/>
                <a:cs typeface="Arial"/>
              </a:defRPr>
            </a:lvl9pPr>
          </a:lstStyle>
          <a:p xmlns:a="http://schemas.openxmlformats.org/drawingml/2006/main">
            <a:pPr>
              <a:defRPr sz="1875" b="0">
                <a:solidFill>
                  <a:srgbClr val="BDC7C5"/>
                </a:solidFill>
                <a:latin typeface="Arial"/>
                <a:ea typeface="Arial"/>
                <a:cs typeface="Arial"/>
              </a:defRPr>
            </a:pPr>
            <a:r>
              <a:rPr sz="1875" b="0">
                <a:solidFill>
                  <a:srgbClr val="BDC7C5"/>
                </a:solidFill>
                <a:latin typeface="Arial"/>
                <a:ea typeface="Arial"/>
                <a:cs typeface="Arial"/>
              </a:rPr>
              <a:t>Đăng ký đề tài và kế hoạch 9 tuần</a:t>
            </a:r>
          </a:p>
          <a:p xmlns:a="http://schemas.openxmlformats.org/drawingml/2006/main">
            <a:pPr>
              <a:defRPr sz="1875" b="0">
                <a:solidFill>
                  <a:srgbClr val="BDC7C5"/>
                </a:solidFill>
                <a:latin typeface="Arial"/>
                <a:ea typeface="Arial"/>
                <a:cs typeface="Arial"/>
              </a:defRPr>
            </a:pPr>
            <a:r>
              <a:rPr sz="1875" b="0">
                <a:solidFill>
                  <a:srgbClr val="BDC7C5"/>
                </a:solidFill>
                <a:latin typeface="Arial"/>
                <a:ea typeface="Arial"/>
                <a:cs typeface="Arial"/>
              </a:rPr>
              <a:t>19/10/2026 – 20/12/2026</a:t>
            </a:r>
          </a:p>
        </p:txBody>
      </p:sp>
      <p:sp>
        <p:nvSpPr>
          <p:cNvPr id="6" name="">
            <a:extLst xmlns:a="http://schemas.openxmlformats.org/drawingml/2006/main">
              <a:ext uri="{FF2B5EF4-FFF2-40B4-BE49-F238E27FC236}">
                <a16:creationId xmlns:a16="http://schemas.microsoft.com/office/drawing/2014/main" id="{690725C5-57CF-4E1C-B73C-D30DA1B55775}"/>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01</a:t>
            </a:r>
          </a:p>
        </p:txBody>
      </p:sp>
    </p:spTree>
    <p:extLst>
      <p:ext uri="{BB962C8B-B14F-4D97-AF65-F5344CB8AC3E}">
        <p14:creationId xmlns:p14="http://schemas.microsoft.com/office/powerpoint/2010/main" val="861459205"/>
      </p:ext>
    </p:extLst>
  </p:cSld>
</p:sld>
</file>

<file path=ppt/slides/slide2.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947E4F-E07C-45B5-9D4B-5DE31382B112}"/>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AAAE2DBE-FD5A-4C52-B5D8-10F7C31B3091}"/>
              </a:ext>
            </a:extLst>
          </p:cNvPr>
          <p:cNvSpPr>
            <a:spLocks xmlns:a="http://schemas.openxmlformats.org/drawingml/2006/main" noGrp="1"/>
          </p:cNvSpPr>
          <p:nvPr/>
        </p:nvSpPr>
        <p:spPr>
          <a:xfrm xmlns:a="http://schemas.openxmlformats.org/drawingml/2006/main">
            <a:off x="609600" y="809625"/>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Bài toán và người sử dụng</a:t>
            </a:r>
          </a:p>
        </p:txBody>
      </p:sp>
      <p:pic>
        <p:nvPicPr>
          <p:cNvPr id="3" name="">
            <a:extLst xmlns:a="http://schemas.openxmlformats.org/drawingml/2006/main">
              <a:ext uri="{FF2B5EF4-FFF2-40B4-BE49-F238E27FC236}">
                <a16:creationId xmlns:a16="http://schemas.microsoft.com/office/drawing/2014/main" id="{2398A5C5-75E8-4635-96F1-75157D3FC932}"/>
              </a:ext>
            </a:extLst>
          </p:cNvPr>
          <p:cNvPicPr>
            <a:picLocks xmlns:a="http://schemas.openxmlformats.org/drawingml/2006/main" noChangeAspect="1"/>
          </p:cNvPicPr>
          <p:nvPr/>
        </p:nvPicPr>
        <p:blipFill>
          <a:blip xmlns:r="http://schemas.openxmlformats.org/officeDocument/2006/relationships" xmlns:a="http://schemas.openxmlformats.org/drawingml/2006/main" r:embed="R8838d85338604483"/>
          <a:srcRect xmlns:a="http://schemas.openxmlformats.org/drawingml/2006/main" l="30859" t="0" r="30859" b="0"/>
          <a:stretch xmlns:a="http://schemas.openxmlformats.org/drawingml/2006/main">
            <a:fillRect l="0" t="0" r="0" b="0"/>
          </a:stretch>
        </p:blipFill>
        <p:spPr>
          <a:xfrm xmlns:a="http://schemas.openxmlformats.org/drawingml/2006/main">
            <a:off x="7524750" y="0"/>
            <a:ext cx="466725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6D29767-A2F0-4179-918F-06252B0B8D1A}"/>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FE949F0E-696F-4E92-9331-B708E3DD1521}"/>
              </a:ext>
            </a:extLst>
          </p:cNvPr>
          <p:cNvSpPr>
            <a:spLocks xmlns:a="http://schemas.openxmlformats.org/drawingml/2006/main" noGrp="1"/>
          </p:cNvSpPr>
          <p:nvPr/>
        </p:nvSpPr>
        <p:spPr>
          <a:xfrm xmlns:a="http://schemas.openxmlformats.org/drawingml/2006/main">
            <a:off x="1285875" y="2000250"/>
            <a:ext cx="5762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1EBDD"/>
                </a:solidFill>
                <a:latin typeface="Arial"/>
                <a:ea typeface="Arial"/>
                <a:cs typeface="Arial"/>
              </a:defRPr>
            </a:defPPr>
            <a:lvl1pPr>
              <a:defRPr sz="2025" b="0">
                <a:solidFill>
                  <a:srgbClr val="F1EBDD"/>
                </a:solidFill>
                <a:latin typeface="Arial"/>
                <a:ea typeface="Arial"/>
                <a:cs typeface="Arial"/>
              </a:defRPr>
            </a:lvl1pPr>
            <a:lvl2pPr>
              <a:defRPr sz="2025" b="0">
                <a:solidFill>
                  <a:srgbClr val="F1EBDD"/>
                </a:solidFill>
                <a:latin typeface="Arial"/>
                <a:ea typeface="Arial"/>
                <a:cs typeface="Arial"/>
              </a:defRPr>
            </a:lvl2pPr>
            <a:lvl3pPr>
              <a:defRPr sz="2025" b="0">
                <a:solidFill>
                  <a:srgbClr val="F1EBDD"/>
                </a:solidFill>
                <a:latin typeface="Arial"/>
                <a:ea typeface="Arial"/>
                <a:cs typeface="Arial"/>
              </a:defRPr>
            </a:lvl3pPr>
            <a:lvl4pPr>
              <a:defRPr sz="2025" b="0">
                <a:solidFill>
                  <a:srgbClr val="F1EBDD"/>
                </a:solidFill>
                <a:latin typeface="Arial"/>
                <a:ea typeface="Arial"/>
                <a:cs typeface="Arial"/>
              </a:defRPr>
            </a:lvl4pPr>
            <a:lvl5pPr>
              <a:defRPr sz="2025" b="0">
                <a:solidFill>
                  <a:srgbClr val="F1EBDD"/>
                </a:solidFill>
                <a:latin typeface="Arial"/>
                <a:ea typeface="Arial"/>
                <a:cs typeface="Arial"/>
              </a:defRPr>
            </a:lvl5pPr>
            <a:lvl6pPr>
              <a:defRPr sz="2025" b="0">
                <a:solidFill>
                  <a:srgbClr val="F1EBDD"/>
                </a:solidFill>
                <a:latin typeface="Arial"/>
                <a:ea typeface="Arial"/>
                <a:cs typeface="Arial"/>
              </a:defRPr>
            </a:lvl6pPr>
            <a:lvl7pPr>
              <a:defRPr sz="2025" b="0">
                <a:solidFill>
                  <a:srgbClr val="F1EBDD"/>
                </a:solidFill>
                <a:latin typeface="Arial"/>
                <a:ea typeface="Arial"/>
                <a:cs typeface="Arial"/>
              </a:defRPr>
            </a:lvl7pPr>
            <a:lvl8pPr>
              <a:defRPr sz="2025" b="0">
                <a:solidFill>
                  <a:srgbClr val="F1EBDD"/>
                </a:solidFill>
                <a:latin typeface="Arial"/>
                <a:ea typeface="Arial"/>
                <a:cs typeface="Arial"/>
              </a:defRPr>
            </a:lvl8pPr>
            <a:lvl9pPr>
              <a:defRPr sz="2025" b="0">
                <a:solidFill>
                  <a:srgbClr val="F1EBDD"/>
                </a:solidFill>
                <a:latin typeface="Arial"/>
                <a:ea typeface="Arial"/>
                <a:cs typeface="Arial"/>
              </a:defRPr>
            </a:lvl9pPr>
          </a:lstStyle>
          <a:p xmlns:a="http://schemas.openxmlformats.org/drawingml/2006/main">
            <a:pPr>
              <a:defRPr sz="2025" b="0">
                <a:solidFill>
                  <a:srgbClr val="F1EBDD"/>
                </a:solidFill>
                <a:latin typeface="Arial"/>
                <a:ea typeface="Arial"/>
                <a:cs typeface="Arial"/>
              </a:defRPr>
            </a:pPr>
            <a:r>
              <a:rPr sz="2025" b="0">
                <a:solidFill>
                  <a:srgbClr val="F1EBDD"/>
                </a:solidFill>
                <a:latin typeface="Arial"/>
                <a:ea typeface="Arial"/>
                <a:cs typeface="Arial"/>
              </a:rPr>
              <a:t>Người chơi hỏi về nhân vật, sự kiện, địa điểm và mô tả vật phẩm.</a:t>
            </a:r>
          </a:p>
        </p:txBody>
      </p:sp>
      <p:sp>
        <p:nvSpPr>
          <p:cNvPr id="6" name="">
            <a:extLst xmlns:a="http://schemas.openxmlformats.org/drawingml/2006/main">
              <a:ext uri="{FF2B5EF4-FFF2-40B4-BE49-F238E27FC236}">
                <a16:creationId xmlns:a16="http://schemas.microsoft.com/office/drawing/2014/main" id="{58E45BDF-658B-4D40-BC59-86253CB1FC6C}"/>
              </a:ext>
            </a:extLst>
          </p:cNvPr>
          <p:cNvSpPr>
            <a:spLocks xmlns:a="http://schemas.openxmlformats.org/drawingml/2006/main" noGrp="1"/>
          </p:cNvSpPr>
          <p:nvPr/>
        </p:nvSpPr>
        <p:spPr>
          <a:xfrm xmlns:a="http://schemas.openxmlformats.org/drawingml/2006/main">
            <a:off x="609600" y="32575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0C8ADC63-36A7-4E39-96C6-DFC00E86E8F2}"/>
              </a:ext>
            </a:extLst>
          </p:cNvPr>
          <p:cNvSpPr>
            <a:spLocks xmlns:a="http://schemas.openxmlformats.org/drawingml/2006/main" noGrp="1"/>
          </p:cNvSpPr>
          <p:nvPr/>
        </p:nvSpPr>
        <p:spPr>
          <a:xfrm xmlns:a="http://schemas.openxmlformats.org/drawingml/2006/main">
            <a:off x="1285875" y="3209925"/>
            <a:ext cx="5762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1EBDD"/>
                </a:solidFill>
                <a:latin typeface="Arial"/>
                <a:ea typeface="Arial"/>
                <a:cs typeface="Arial"/>
              </a:defRPr>
            </a:defPPr>
            <a:lvl1pPr>
              <a:defRPr sz="2025" b="0">
                <a:solidFill>
                  <a:srgbClr val="F1EBDD"/>
                </a:solidFill>
                <a:latin typeface="Arial"/>
                <a:ea typeface="Arial"/>
                <a:cs typeface="Arial"/>
              </a:defRPr>
            </a:lvl1pPr>
            <a:lvl2pPr>
              <a:defRPr sz="2025" b="0">
                <a:solidFill>
                  <a:srgbClr val="F1EBDD"/>
                </a:solidFill>
                <a:latin typeface="Arial"/>
                <a:ea typeface="Arial"/>
                <a:cs typeface="Arial"/>
              </a:defRPr>
            </a:lvl2pPr>
            <a:lvl3pPr>
              <a:defRPr sz="2025" b="0">
                <a:solidFill>
                  <a:srgbClr val="F1EBDD"/>
                </a:solidFill>
                <a:latin typeface="Arial"/>
                <a:ea typeface="Arial"/>
                <a:cs typeface="Arial"/>
              </a:defRPr>
            </a:lvl3pPr>
            <a:lvl4pPr>
              <a:defRPr sz="2025" b="0">
                <a:solidFill>
                  <a:srgbClr val="F1EBDD"/>
                </a:solidFill>
                <a:latin typeface="Arial"/>
                <a:ea typeface="Arial"/>
                <a:cs typeface="Arial"/>
              </a:defRPr>
            </a:lvl4pPr>
            <a:lvl5pPr>
              <a:defRPr sz="2025" b="0">
                <a:solidFill>
                  <a:srgbClr val="F1EBDD"/>
                </a:solidFill>
                <a:latin typeface="Arial"/>
                <a:ea typeface="Arial"/>
                <a:cs typeface="Arial"/>
              </a:defRPr>
            </a:lvl5pPr>
            <a:lvl6pPr>
              <a:defRPr sz="2025" b="0">
                <a:solidFill>
                  <a:srgbClr val="F1EBDD"/>
                </a:solidFill>
                <a:latin typeface="Arial"/>
                <a:ea typeface="Arial"/>
                <a:cs typeface="Arial"/>
              </a:defRPr>
            </a:lvl6pPr>
            <a:lvl7pPr>
              <a:defRPr sz="2025" b="0">
                <a:solidFill>
                  <a:srgbClr val="F1EBDD"/>
                </a:solidFill>
                <a:latin typeface="Arial"/>
                <a:ea typeface="Arial"/>
                <a:cs typeface="Arial"/>
              </a:defRPr>
            </a:lvl7pPr>
            <a:lvl8pPr>
              <a:defRPr sz="2025" b="0">
                <a:solidFill>
                  <a:srgbClr val="F1EBDD"/>
                </a:solidFill>
                <a:latin typeface="Arial"/>
                <a:ea typeface="Arial"/>
                <a:cs typeface="Arial"/>
              </a:defRPr>
            </a:lvl8pPr>
            <a:lvl9pPr>
              <a:defRPr sz="2025" b="0">
                <a:solidFill>
                  <a:srgbClr val="F1EBDD"/>
                </a:solidFill>
                <a:latin typeface="Arial"/>
                <a:ea typeface="Arial"/>
                <a:cs typeface="Arial"/>
              </a:defRPr>
            </a:lvl9pPr>
          </a:lstStyle>
          <a:p xmlns:a="http://schemas.openxmlformats.org/drawingml/2006/main">
            <a:pPr>
              <a:defRPr sz="2025" b="0">
                <a:solidFill>
                  <a:srgbClr val="F1EBDD"/>
                </a:solidFill>
                <a:latin typeface="Arial"/>
                <a:ea typeface="Arial"/>
                <a:cs typeface="Arial"/>
              </a:defRPr>
            </a:pPr>
            <a:r>
              <a:rPr sz="2025" b="0">
                <a:solidFill>
                  <a:srgbClr val="F1EBDD"/>
                </a:solidFill>
                <a:latin typeface="Arial"/>
                <a:ea typeface="Arial"/>
                <a:cs typeface="Arial"/>
              </a:rPr>
              <a:t>Thông tin nằm rải rác trong các trang và đoạn văn khác nhau.</a:t>
            </a:r>
          </a:p>
        </p:txBody>
      </p:sp>
      <p:sp>
        <p:nvSpPr>
          <p:cNvPr id="8" name="">
            <a:extLst xmlns:a="http://schemas.openxmlformats.org/drawingml/2006/main">
              <a:ext uri="{FF2B5EF4-FFF2-40B4-BE49-F238E27FC236}">
                <a16:creationId xmlns:a16="http://schemas.microsoft.com/office/drawing/2014/main" id="{8329A560-4D49-4BB0-BF62-FF7E697948FD}"/>
              </a:ext>
            </a:extLst>
          </p:cNvPr>
          <p:cNvSpPr>
            <a:spLocks xmlns:a="http://schemas.openxmlformats.org/drawingml/2006/main" noGrp="1"/>
          </p:cNvSpPr>
          <p:nvPr/>
        </p:nvSpPr>
        <p:spPr>
          <a:xfrm xmlns:a="http://schemas.openxmlformats.org/drawingml/2006/main">
            <a:off x="609600" y="44672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903FAA86-D047-4996-8DD1-BE425DB38547}"/>
              </a:ext>
            </a:extLst>
          </p:cNvPr>
          <p:cNvSpPr>
            <a:spLocks xmlns:a="http://schemas.openxmlformats.org/drawingml/2006/main" noGrp="1"/>
          </p:cNvSpPr>
          <p:nvPr/>
        </p:nvSpPr>
        <p:spPr>
          <a:xfrm xmlns:a="http://schemas.openxmlformats.org/drawingml/2006/main">
            <a:off x="1285875" y="4419600"/>
            <a:ext cx="5762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1EBDD"/>
                </a:solidFill>
                <a:latin typeface="Arial"/>
                <a:ea typeface="Arial"/>
                <a:cs typeface="Arial"/>
              </a:defRPr>
            </a:defPPr>
            <a:lvl1pPr>
              <a:defRPr sz="2025" b="0">
                <a:solidFill>
                  <a:srgbClr val="F1EBDD"/>
                </a:solidFill>
                <a:latin typeface="Arial"/>
                <a:ea typeface="Arial"/>
                <a:cs typeface="Arial"/>
              </a:defRPr>
            </a:lvl1pPr>
            <a:lvl2pPr>
              <a:defRPr sz="2025" b="0">
                <a:solidFill>
                  <a:srgbClr val="F1EBDD"/>
                </a:solidFill>
                <a:latin typeface="Arial"/>
                <a:ea typeface="Arial"/>
                <a:cs typeface="Arial"/>
              </a:defRPr>
            </a:lvl2pPr>
            <a:lvl3pPr>
              <a:defRPr sz="2025" b="0">
                <a:solidFill>
                  <a:srgbClr val="F1EBDD"/>
                </a:solidFill>
                <a:latin typeface="Arial"/>
                <a:ea typeface="Arial"/>
                <a:cs typeface="Arial"/>
              </a:defRPr>
            </a:lvl3pPr>
            <a:lvl4pPr>
              <a:defRPr sz="2025" b="0">
                <a:solidFill>
                  <a:srgbClr val="F1EBDD"/>
                </a:solidFill>
                <a:latin typeface="Arial"/>
                <a:ea typeface="Arial"/>
                <a:cs typeface="Arial"/>
              </a:defRPr>
            </a:lvl4pPr>
            <a:lvl5pPr>
              <a:defRPr sz="2025" b="0">
                <a:solidFill>
                  <a:srgbClr val="F1EBDD"/>
                </a:solidFill>
                <a:latin typeface="Arial"/>
                <a:ea typeface="Arial"/>
                <a:cs typeface="Arial"/>
              </a:defRPr>
            </a:lvl5pPr>
            <a:lvl6pPr>
              <a:defRPr sz="2025" b="0">
                <a:solidFill>
                  <a:srgbClr val="F1EBDD"/>
                </a:solidFill>
                <a:latin typeface="Arial"/>
                <a:ea typeface="Arial"/>
                <a:cs typeface="Arial"/>
              </a:defRPr>
            </a:lvl6pPr>
            <a:lvl7pPr>
              <a:defRPr sz="2025" b="0">
                <a:solidFill>
                  <a:srgbClr val="F1EBDD"/>
                </a:solidFill>
                <a:latin typeface="Arial"/>
                <a:ea typeface="Arial"/>
                <a:cs typeface="Arial"/>
              </a:defRPr>
            </a:lvl7pPr>
            <a:lvl8pPr>
              <a:defRPr sz="2025" b="0">
                <a:solidFill>
                  <a:srgbClr val="F1EBDD"/>
                </a:solidFill>
                <a:latin typeface="Arial"/>
                <a:ea typeface="Arial"/>
                <a:cs typeface="Arial"/>
              </a:defRPr>
            </a:lvl8pPr>
            <a:lvl9pPr>
              <a:defRPr sz="2025" b="0">
                <a:solidFill>
                  <a:srgbClr val="F1EBDD"/>
                </a:solidFill>
                <a:latin typeface="Arial"/>
                <a:ea typeface="Arial"/>
                <a:cs typeface="Arial"/>
              </a:defRPr>
            </a:lvl9pPr>
          </a:lstStyle>
          <a:p xmlns:a="http://schemas.openxmlformats.org/drawingml/2006/main">
            <a:pPr>
              <a:defRPr sz="2025" b="0">
                <a:solidFill>
                  <a:srgbClr val="F1EBDD"/>
                </a:solidFill>
                <a:latin typeface="Arial"/>
                <a:ea typeface="Arial"/>
                <a:cs typeface="Arial"/>
              </a:defRPr>
            </a:pPr>
            <a:r>
              <a:rPr sz="2025" b="0">
                <a:solidFill>
                  <a:srgbClr val="F1EBDD"/>
                </a:solidFill>
                <a:latin typeface="Arial"/>
                <a:ea typeface="Arial"/>
                <a:cs typeface="Arial"/>
              </a:rPr>
              <a:t>Sinh viên và giảng viên cần thử chatbot, mở nguồn và kiểm tra câu trả lời.</a:t>
            </a:r>
          </a:p>
        </p:txBody>
      </p:sp>
      <p:sp>
        <p:nvSpPr>
          <p:cNvPr id="10" name="">
            <a:extLst xmlns:a="http://schemas.openxmlformats.org/drawingml/2006/main">
              <a:ext uri="{FF2B5EF4-FFF2-40B4-BE49-F238E27FC236}">
                <a16:creationId xmlns:a16="http://schemas.microsoft.com/office/drawing/2014/main" id="{58E05478-2CBE-463E-AA86-55BDA824B041}"/>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02</a:t>
            </a:r>
          </a:p>
        </p:txBody>
      </p:sp>
    </p:spTree>
    <p:extLst>
      <p:ext uri="{BB962C8B-B14F-4D97-AF65-F5344CB8AC3E}">
        <p14:creationId xmlns:p14="http://schemas.microsoft.com/office/powerpoint/2010/main" val="1682255652"/>
      </p:ext>
    </p:extLst>
  </p:cSld>
</p:sld>
</file>

<file path=ppt/slides/slide3.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E011EA-9134-4151-BABB-52B210478E18}"/>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364F8403-2472-4EAA-98AF-19C4DD1260DF}"/>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Phạm vi và sản phẩm dự kiến</a:t>
            </a:r>
          </a:p>
        </p:txBody>
      </p:sp>
      <p:sp>
        <p:nvSpPr>
          <p:cNvPr id="3" name="">
            <a:extLst xmlns:a="http://schemas.openxmlformats.org/drawingml/2006/main">
              <a:ext uri="{FF2B5EF4-FFF2-40B4-BE49-F238E27FC236}">
                <a16:creationId xmlns:a16="http://schemas.microsoft.com/office/drawing/2014/main" id="{CF113C2C-1F22-4084-B628-7C8247458168}"/>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8A3E4CAF-CC68-42D0-AF67-56F68C2C224E}"/>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Nội dung: lore Elden Ring base game, hỗ trợ tiếng Việt và tiếng Anh.</a:t>
            </a:r>
          </a:p>
        </p:txBody>
      </p:sp>
      <p:sp>
        <p:nvSpPr>
          <p:cNvPr id="5" name="">
            <a:extLst xmlns:a="http://schemas.openxmlformats.org/drawingml/2006/main">
              <a:ext uri="{FF2B5EF4-FFF2-40B4-BE49-F238E27FC236}">
                <a16:creationId xmlns:a16="http://schemas.microsoft.com/office/drawing/2014/main" id="{1D898C97-0E6F-441D-886E-5BA4607E0CD9}"/>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CF4001E5-847C-4945-8E66-7D0378224388}"/>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Web chat và lệnh /ask trên Discord sử dụng chung API.</a:t>
            </a:r>
          </a:p>
        </p:txBody>
      </p:sp>
      <p:sp>
        <p:nvSpPr>
          <p:cNvPr id="7" name="">
            <a:extLst xmlns:a="http://schemas.openxmlformats.org/drawingml/2006/main">
              <a:ext uri="{FF2B5EF4-FFF2-40B4-BE49-F238E27FC236}">
                <a16:creationId xmlns:a16="http://schemas.microsoft.com/office/drawing/2014/main" id="{67FF5B0E-0E89-4FF4-AE4F-9BB7AE663360}"/>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8297E9DB-3AF2-4689-BE69-FCB8F3A5658E}"/>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Mỗi câu trả lời kèm liên kết nguồn và đoạn văn tham chiếu.</a:t>
            </a:r>
          </a:p>
        </p:txBody>
      </p:sp>
      <p:sp>
        <p:nvSpPr>
          <p:cNvPr id="9" name="">
            <a:extLst xmlns:a="http://schemas.openxmlformats.org/drawingml/2006/main">
              <a:ext uri="{FF2B5EF4-FFF2-40B4-BE49-F238E27FC236}">
                <a16:creationId xmlns:a16="http://schemas.microsoft.com/office/drawing/2014/main" id="{02CD6DF0-8179-44D2-81CC-31012E03C57D}"/>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054F6370-8AB9-4ECB-A255-53A19545F0E5}"/>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Bàn giao corpus có metadata, mã nguồn, bộ đánh giá và báo cáo thí nghiệm.</a:t>
            </a:r>
          </a:p>
        </p:txBody>
      </p:sp>
      <p:sp>
        <p:nvSpPr>
          <p:cNvPr id="11" name="">
            <a:extLst xmlns:a="http://schemas.openxmlformats.org/drawingml/2006/main">
              <a:ext uri="{FF2B5EF4-FFF2-40B4-BE49-F238E27FC236}">
                <a16:creationId xmlns:a16="http://schemas.microsoft.com/office/drawing/2014/main" id="{8D472C5E-A699-4C00-83D3-8DD555F8E518}"/>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03</a:t>
            </a:r>
          </a:p>
        </p:txBody>
      </p:sp>
    </p:spTree>
    <p:extLst>
      <p:ext uri="{BB962C8B-B14F-4D97-AF65-F5344CB8AC3E}">
        <p14:creationId xmlns:p14="http://schemas.microsoft.com/office/powerpoint/2010/main" val="1604342288"/>
      </p:ext>
    </p:extLst>
  </p:cSld>
</p:sld>
</file>

<file path=ppt/slides/slide4.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119DFB0-0F53-4DB8-83F7-F81C69A33B32}"/>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EEFDCFF7-1D50-4C24-9E46-1A2D3246A27D}"/>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Câu hỏi nghiên cứu NLP</a:t>
            </a:r>
          </a:p>
        </p:txBody>
      </p:sp>
      <p:sp>
        <p:nvSpPr>
          <p:cNvPr id="3" name="">
            <a:extLst xmlns:a="http://schemas.openxmlformats.org/drawingml/2006/main">
              <a:ext uri="{FF2B5EF4-FFF2-40B4-BE49-F238E27FC236}">
                <a16:creationId xmlns:a16="http://schemas.microsoft.com/office/drawing/2014/main" id="{298AE276-F38F-419B-AD04-A5A996E4ADF8}"/>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C50771FE-F5AF-418B-9D42-B1E515BB8E4F}"/>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Hybrid có tìm đúng nguồn hơn dense hoặc BM25 riêng lẻ không?</a:t>
            </a:r>
          </a:p>
        </p:txBody>
      </p:sp>
      <p:sp>
        <p:nvSpPr>
          <p:cNvPr id="5" name="">
            <a:extLst xmlns:a="http://schemas.openxmlformats.org/drawingml/2006/main">
              <a:ext uri="{FF2B5EF4-FFF2-40B4-BE49-F238E27FC236}">
                <a16:creationId xmlns:a16="http://schemas.microsoft.com/office/drawing/2014/main" id="{418B973B-A686-4ED9-A0EB-1AAC91318BCB}"/>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86FDC639-2675-4434-9091-6736EB6B34A2}"/>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Reranker cải thiện thứ hạng nguồn đến mức nào, với chi phí độ trễ bao nhiêu?</a:t>
            </a:r>
          </a:p>
        </p:txBody>
      </p:sp>
      <p:sp>
        <p:nvSpPr>
          <p:cNvPr id="7" name="">
            <a:extLst xmlns:a="http://schemas.openxmlformats.org/drawingml/2006/main">
              <a:ext uri="{FF2B5EF4-FFF2-40B4-BE49-F238E27FC236}">
                <a16:creationId xmlns:a16="http://schemas.microsoft.com/office/drawing/2014/main" id="{A6E6834C-B675-4F5F-BC88-73DF0444473E}"/>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E4EEFBCC-ACA5-4AA7-B761-577A7E7B073C}"/>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Chunking và truy vấn tiếng Việt ảnh hưởng thế nào đến retrieval?</a:t>
            </a:r>
          </a:p>
        </p:txBody>
      </p:sp>
      <p:sp>
        <p:nvSpPr>
          <p:cNvPr id="9" name="">
            <a:extLst xmlns:a="http://schemas.openxmlformats.org/drawingml/2006/main">
              <a:ext uri="{FF2B5EF4-FFF2-40B4-BE49-F238E27FC236}">
                <a16:creationId xmlns:a16="http://schemas.microsoft.com/office/drawing/2014/main" id="{301AEADF-7D64-4240-B7FF-2F0C6AA1C057}"/>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40F046C2-42DD-4C0F-8199-D465C2A23A40}"/>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Ngữ cảnh truy xuất có giúp câu trả lời bám nguồn hơn LLM không dùng RAG?</a:t>
            </a:r>
          </a:p>
        </p:txBody>
      </p:sp>
      <p:sp>
        <p:nvSpPr>
          <p:cNvPr id="11" name="">
            <a:extLst xmlns:a="http://schemas.openxmlformats.org/drawingml/2006/main">
              <a:ext uri="{FF2B5EF4-FFF2-40B4-BE49-F238E27FC236}">
                <a16:creationId xmlns:a16="http://schemas.microsoft.com/office/drawing/2014/main" id="{8D31A0C7-C686-4B71-B0CB-711547CEB560}"/>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04</a:t>
            </a:r>
          </a:p>
        </p:txBody>
      </p:sp>
    </p:spTree>
    <p:extLst>
      <p:ext uri="{BB962C8B-B14F-4D97-AF65-F5344CB8AC3E}">
        <p14:creationId xmlns:p14="http://schemas.microsoft.com/office/powerpoint/2010/main" val="1355611093"/>
      </p:ext>
    </p:extLst>
  </p:cSld>
</p:sld>
</file>

<file path=ppt/slides/slide5.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B6B1569-30BA-41FB-B3AB-A0AD51D044DC}"/>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E0577C6A-53EF-4A3E-A525-09C5E9F31C6D}"/>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Khảo sát phương pháp ban đầu</a:t>
            </a:r>
          </a:p>
        </p:txBody>
      </p:sp>
      <p:graphicFrame>
        <p:nvGraphicFramePr>
          <p:cNvPr id="3" name="">
            <a:extLst xmlns:a="http://schemas.openxmlformats.org/drawingml/2006/main">
              <a:ext uri="{FF2B5EF4-FFF2-40B4-BE49-F238E27FC236}">
                <a16:creationId xmlns:a16="http://schemas.microsoft.com/office/drawing/2014/main" id="{E06C2A39-32BC-4D74-8735-2EB14E37CDC6}"/>
              </a:ext>
            </a:extLst>
          </p:cNvPr>
          <p:cNvGraphicFramePr/>
          <p:nvPr/>
        </p:nvGraphicFramePr>
        <p:xfrm>
          <a:off xmlns:a="http://schemas.openxmlformats.org/drawingml/2006/main" x="609600" y="1952625"/>
          <a:ext xmlns:a="http://schemas.openxmlformats.org/drawingml/2006/main" cx="10972800" cy="3619500"/>
        </p:xfrm>
        <a:graphic xmlns:a="http://schemas.openxmlformats.org/drawingml/2006/main">
          <a:graphicData uri="http://schemas.openxmlformats.org/drawingml/2006/table">
            <a:tbl>
              <a:tblPr/>
              <a:tblGrid>
                <a:gridCol w="2286000"/>
                <a:gridCol w="4191000"/>
                <a:gridCol w="4495800"/>
              </a:tblGrid>
              <a:tr h="723900">
                <a:tc>
                  <a:txBody>
                    <a:bodyPr/>
                    <a:lstStyle/>
                    <a:p>
                      <a:r>
                        <a:rPr sz="1800" b="1">
                          <a:solidFill>
                            <a:srgbClr val="D3B777"/>
                          </a:solidFill>
                          <a:latin typeface="Arial"/>
                          <a:ea typeface="Arial"/>
                          <a:cs typeface="Arial"/>
                        </a:rPr>
                        <a:t>Phương pháp</a:t>
                      </a:r>
                    </a:p>
                  </a:txBody>
                  <a:tcPr marL="91440" marR="91440" marT="45720" marB="45720">
                    <a:solidFill>
                      <a:srgbClr val="344344"/>
                    </a:solidFill>
                  </a:tcPr>
                </a:tc>
                <a:tc>
                  <a:txBody>
                    <a:bodyPr/>
                    <a:lstStyle/>
                    <a:p>
                      <a:r>
                        <a:rPr sz="1800" b="1">
                          <a:solidFill>
                            <a:srgbClr val="D3B777"/>
                          </a:solidFill>
                          <a:latin typeface="Arial"/>
                          <a:ea typeface="Arial"/>
                          <a:cs typeface="Arial"/>
                        </a:rPr>
                        <a:t>Điểm cần khảo sát</a:t>
                      </a:r>
                    </a:p>
                  </a:txBody>
                  <a:tcPr marL="91440" marR="91440" marT="45720" marB="45720">
                    <a:solidFill>
                      <a:srgbClr val="344344"/>
                    </a:solidFill>
                  </a:tcPr>
                </a:tc>
                <a:tc>
                  <a:txBody>
                    <a:bodyPr/>
                    <a:lstStyle/>
                    <a:p>
                      <a:r>
                        <a:rPr sz="1800" b="1">
                          <a:solidFill>
                            <a:srgbClr val="D3B777"/>
                          </a:solidFill>
                          <a:latin typeface="Arial"/>
                          <a:ea typeface="Arial"/>
                          <a:cs typeface="Arial"/>
                        </a:rPr>
                        <a:t>Vai trò trong đề tài</a:t>
                      </a:r>
                    </a:p>
                  </a:txBody>
                  <a:tcPr marL="91440" marR="91440" marT="45720" marB="45720">
                    <a:solidFill>
                      <a:srgbClr val="344344"/>
                    </a:solidFill>
                  </a:tcPr>
                </a:tc>
              </a:tr>
              <a:tr h="723900">
                <a:tc>
                  <a:txBody>
                    <a:bodyPr/>
                    <a:lstStyle/>
                    <a:p>
                      <a:r>
                        <a:rPr sz="1800" b="0">
                          <a:solidFill>
                            <a:srgbClr val="F1EBDD"/>
                          </a:solidFill>
                          <a:latin typeface="Arial"/>
                          <a:ea typeface="Arial"/>
                          <a:cs typeface="Arial"/>
                        </a:rPr>
                        <a:t>LLM không RAG</a:t>
                      </a:r>
                    </a:p>
                  </a:txBody>
                  <a:tcPr marL="91440" marR="91440" marT="45720" marB="45720">
                    <a:solidFill>
                      <a:srgbClr val="19282D"/>
                    </a:solidFill>
                  </a:tcPr>
                </a:tc>
                <a:tc>
                  <a:txBody>
                    <a:bodyPr/>
                    <a:lstStyle/>
                    <a:p>
                      <a:r>
                        <a:rPr sz="1800" b="0">
                          <a:solidFill>
                            <a:srgbClr val="F1EBDD"/>
                          </a:solidFill>
                          <a:latin typeface="Arial"/>
                          <a:ea typeface="Arial"/>
                          <a:cs typeface="Arial"/>
                        </a:rPr>
                        <a:t>Thiếu nguồn kiểm chứng</a:t>
                      </a:r>
                    </a:p>
                  </a:txBody>
                  <a:tcPr marL="91440" marR="91440" marT="45720" marB="45720">
                    <a:solidFill>
                      <a:srgbClr val="19282D"/>
                    </a:solidFill>
                  </a:tcPr>
                </a:tc>
                <a:tc>
                  <a:txBody>
                    <a:bodyPr/>
                    <a:lstStyle/>
                    <a:p>
                      <a:r>
                        <a:rPr sz="1800" b="0">
                          <a:solidFill>
                            <a:srgbClr val="F1EBDD"/>
                          </a:solidFill>
                          <a:latin typeface="Arial"/>
                          <a:ea typeface="Arial"/>
                          <a:cs typeface="Arial"/>
                        </a:rPr>
                        <a:t>Đối chứng câu trả lời</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BM25</a:t>
                      </a:r>
                    </a:p>
                  </a:txBody>
                  <a:tcPr marL="91440" marR="91440" marT="45720" marB="45720">
                    <a:solidFill>
                      <a:srgbClr val="203237"/>
                    </a:solidFill>
                  </a:tcPr>
                </a:tc>
                <a:tc>
                  <a:txBody>
                    <a:bodyPr/>
                    <a:lstStyle/>
                    <a:p>
                      <a:r>
                        <a:rPr sz="1800" b="0">
                          <a:solidFill>
                            <a:srgbClr val="F1EBDD"/>
                          </a:solidFill>
                          <a:latin typeface="Arial"/>
                          <a:ea typeface="Arial"/>
                          <a:cs typeface="Arial"/>
                        </a:rPr>
                        <a:t>Khớp từ khóa và tên riêng</a:t>
                      </a:r>
                    </a:p>
                  </a:txBody>
                  <a:tcPr marL="91440" marR="91440" marT="45720" marB="45720">
                    <a:solidFill>
                      <a:srgbClr val="203237"/>
                    </a:solidFill>
                  </a:tcPr>
                </a:tc>
                <a:tc>
                  <a:txBody>
                    <a:bodyPr/>
                    <a:lstStyle/>
                    <a:p>
                      <a:r>
                        <a:rPr sz="1800" b="0">
                          <a:solidFill>
                            <a:srgbClr val="F1EBDD"/>
                          </a:solidFill>
                          <a:latin typeface="Arial"/>
                          <a:ea typeface="Arial"/>
                          <a:cs typeface="Arial"/>
                        </a:rPr>
                        <a:t>Baseline từ vựng</a:t>
                      </a:r>
                    </a:p>
                  </a:txBody>
                  <a:tcPr marL="91440" marR="91440" marT="45720" marB="45720">
                    <a:solidFill>
                      <a:srgbClr val="203237"/>
                    </a:solidFill>
                  </a:tcPr>
                </a:tc>
              </a:tr>
              <a:tr h="723900">
                <a:tc>
                  <a:txBody>
                    <a:bodyPr/>
                    <a:lstStyle/>
                    <a:p>
                      <a:r>
                        <a:rPr sz="1800" b="0">
                          <a:solidFill>
                            <a:srgbClr val="F1EBDD"/>
                          </a:solidFill>
                          <a:latin typeface="Arial"/>
                          <a:ea typeface="Arial"/>
                          <a:cs typeface="Arial"/>
                        </a:rPr>
                        <a:t>Dense đa ngôn ngữ</a:t>
                      </a:r>
                    </a:p>
                  </a:txBody>
                  <a:tcPr marL="91440" marR="91440" marT="45720" marB="45720">
                    <a:solidFill>
                      <a:srgbClr val="19282D"/>
                    </a:solidFill>
                  </a:tcPr>
                </a:tc>
                <a:tc>
                  <a:txBody>
                    <a:bodyPr/>
                    <a:lstStyle/>
                    <a:p>
                      <a:r>
                        <a:rPr sz="1800" b="0">
                          <a:solidFill>
                            <a:srgbClr val="F1EBDD"/>
                          </a:solidFill>
                          <a:latin typeface="Arial"/>
                          <a:ea typeface="Arial"/>
                          <a:cs typeface="Arial"/>
                        </a:rPr>
                        <a:t>Hiểu nghĩa, truy vấn Việt/Anh</a:t>
                      </a:r>
                    </a:p>
                  </a:txBody>
                  <a:tcPr marL="91440" marR="91440" marT="45720" marB="45720">
                    <a:solidFill>
                      <a:srgbClr val="19282D"/>
                    </a:solidFill>
                  </a:tcPr>
                </a:tc>
                <a:tc>
                  <a:txBody>
                    <a:bodyPr/>
                    <a:lstStyle/>
                    <a:p>
                      <a:r>
                        <a:rPr sz="1800" b="0">
                          <a:solidFill>
                            <a:srgbClr val="F1EBDD"/>
                          </a:solidFill>
                          <a:latin typeface="Arial"/>
                          <a:ea typeface="Arial"/>
                          <a:cs typeface="Arial"/>
                        </a:rPr>
                        <a:t>Baseline ngữ nghĩa</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Hybrid + rerank</a:t>
                      </a:r>
                    </a:p>
                  </a:txBody>
                  <a:tcPr marL="91440" marR="91440" marT="45720" marB="45720">
                    <a:solidFill>
                      <a:srgbClr val="203237"/>
                    </a:solidFill>
                  </a:tcPr>
                </a:tc>
                <a:tc>
                  <a:txBody>
                    <a:bodyPr/>
                    <a:lstStyle/>
                    <a:p>
                      <a:r>
                        <a:rPr sz="1800" b="0">
                          <a:solidFill>
                            <a:srgbClr val="F1EBDD"/>
                          </a:solidFill>
                          <a:latin typeface="Arial"/>
                          <a:ea typeface="Arial"/>
                          <a:cs typeface="Arial"/>
                        </a:rPr>
                        <a:t>Kết hợp kết quả, chấm lại độ liên quan</a:t>
                      </a:r>
                    </a:p>
                  </a:txBody>
                  <a:tcPr marL="91440" marR="91440" marT="45720" marB="45720">
                    <a:solidFill>
                      <a:srgbClr val="203237"/>
                    </a:solidFill>
                  </a:tcPr>
                </a:tc>
                <a:tc>
                  <a:txBody>
                    <a:bodyPr/>
                    <a:lstStyle/>
                    <a:p>
                      <a:r>
                        <a:rPr sz="1800" b="0">
                          <a:solidFill>
                            <a:srgbClr val="F1EBDD"/>
                          </a:solidFill>
                          <a:latin typeface="Arial"/>
                          <a:ea typeface="Arial"/>
                          <a:cs typeface="Arial"/>
                        </a:rPr>
                        <a:t>Cấu hình cần kiểm nghiệm</a:t>
                      </a:r>
                    </a:p>
                  </a:txBody>
                  <a:tcPr marL="91440" marR="91440" marT="45720" marB="45720">
                    <a:solidFill>
                      <a:srgbClr val="203237"/>
                    </a:solidFill>
                  </a:tcPr>
                </a:tc>
              </a:tr>
            </a:tbl>
          </a:graphicData>
        </a:graphic>
      </p:graphicFrame>
      <p:sp>
        <p:nvSpPr>
          <p:cNvPr id="4" name="">
            <a:extLst xmlns:a="http://schemas.openxmlformats.org/drawingml/2006/main">
              <a:ext uri="{FF2B5EF4-FFF2-40B4-BE49-F238E27FC236}">
                <a16:creationId xmlns:a16="http://schemas.microsoft.com/office/drawing/2014/main" id="{8915849B-A098-45B0-A374-CD150C7AAAE7}"/>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05</a:t>
            </a:r>
          </a:p>
        </p:txBody>
      </p:sp>
    </p:spTree>
    <p:extLst>
      <p:ext uri="{BB962C8B-B14F-4D97-AF65-F5344CB8AC3E}">
        <p14:creationId xmlns:p14="http://schemas.microsoft.com/office/powerpoint/2010/main" val="2045409004"/>
      </p:ext>
    </p:extLst>
  </p:cSld>
</p:sld>
</file>

<file path=ppt/slides/slide6.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DC9176-3792-4F14-838F-7AFA9DA298B8}"/>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76D6AD57-F734-4F4F-8E44-5BD3EBEC869B}"/>
              </a:ext>
            </a:extLst>
          </p:cNvPr>
          <p:cNvSpPr>
            <a:spLocks xmlns:a="http://schemas.openxmlformats.org/drawingml/2006/main" noGrp="1"/>
          </p:cNvSpPr>
          <p:nvPr/>
        </p:nvSpPr>
        <p:spPr>
          <a:xfrm xmlns:a="http://schemas.openxmlformats.org/drawingml/2006/main">
            <a:off x="609600" y="809625"/>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Dữ liệu và khảo sát nguồn</a:t>
            </a:r>
          </a:p>
        </p:txBody>
      </p:sp>
      <p:pic>
        <p:nvPicPr>
          <p:cNvPr id="3" name="">
            <a:extLst xmlns:a="http://schemas.openxmlformats.org/drawingml/2006/main">
              <a:ext uri="{FF2B5EF4-FFF2-40B4-BE49-F238E27FC236}">
                <a16:creationId xmlns:a16="http://schemas.microsoft.com/office/drawing/2014/main" id="{B0ED36A8-EEC9-4767-ADE6-ABD774B59D39}"/>
              </a:ext>
            </a:extLst>
          </p:cNvPr>
          <p:cNvPicPr>
            <a:picLocks xmlns:a="http://schemas.openxmlformats.org/drawingml/2006/main" noChangeAspect="1"/>
          </p:cNvPicPr>
          <p:nvPr/>
        </p:nvPicPr>
        <p:blipFill>
          <a:blip xmlns:r="http://schemas.openxmlformats.org/officeDocument/2006/relationships" xmlns:a="http://schemas.openxmlformats.org/drawingml/2006/main" r:embed="R448796b69ab941de"/>
          <a:srcRect xmlns:a="http://schemas.openxmlformats.org/drawingml/2006/main" l="30859" t="0" r="30859" b="0"/>
          <a:stretch xmlns:a="http://schemas.openxmlformats.org/drawingml/2006/main">
            <a:fillRect l="0" t="0" r="0" b="0"/>
          </a:stretch>
        </p:blipFill>
        <p:spPr>
          <a:xfrm xmlns:a="http://schemas.openxmlformats.org/drawingml/2006/main">
            <a:off x="7524750" y="0"/>
            <a:ext cx="466725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23EE5D3-3F5D-46EE-B2BA-7C268548A57F}"/>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FACAB8FC-3027-48E5-A7A3-9010A9CE7FF9}"/>
              </a:ext>
            </a:extLst>
          </p:cNvPr>
          <p:cNvSpPr>
            <a:spLocks xmlns:a="http://schemas.openxmlformats.org/drawingml/2006/main" noGrp="1"/>
          </p:cNvSpPr>
          <p:nvPr/>
        </p:nvSpPr>
        <p:spPr>
          <a:xfrm xmlns:a="http://schemas.openxmlformats.org/drawingml/2006/main">
            <a:off x="1285875" y="2000250"/>
            <a:ext cx="5762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1EBDD"/>
                </a:solidFill>
                <a:latin typeface="Arial"/>
                <a:ea typeface="Arial"/>
                <a:cs typeface="Arial"/>
              </a:defRPr>
            </a:defPPr>
            <a:lvl1pPr>
              <a:defRPr sz="2025" b="0">
                <a:solidFill>
                  <a:srgbClr val="F1EBDD"/>
                </a:solidFill>
                <a:latin typeface="Arial"/>
                <a:ea typeface="Arial"/>
                <a:cs typeface="Arial"/>
              </a:defRPr>
            </a:lvl1pPr>
            <a:lvl2pPr>
              <a:defRPr sz="2025" b="0">
                <a:solidFill>
                  <a:srgbClr val="F1EBDD"/>
                </a:solidFill>
                <a:latin typeface="Arial"/>
                <a:ea typeface="Arial"/>
                <a:cs typeface="Arial"/>
              </a:defRPr>
            </a:lvl2pPr>
            <a:lvl3pPr>
              <a:defRPr sz="2025" b="0">
                <a:solidFill>
                  <a:srgbClr val="F1EBDD"/>
                </a:solidFill>
                <a:latin typeface="Arial"/>
                <a:ea typeface="Arial"/>
                <a:cs typeface="Arial"/>
              </a:defRPr>
            </a:lvl3pPr>
            <a:lvl4pPr>
              <a:defRPr sz="2025" b="0">
                <a:solidFill>
                  <a:srgbClr val="F1EBDD"/>
                </a:solidFill>
                <a:latin typeface="Arial"/>
                <a:ea typeface="Arial"/>
                <a:cs typeface="Arial"/>
              </a:defRPr>
            </a:lvl4pPr>
            <a:lvl5pPr>
              <a:defRPr sz="2025" b="0">
                <a:solidFill>
                  <a:srgbClr val="F1EBDD"/>
                </a:solidFill>
                <a:latin typeface="Arial"/>
                <a:ea typeface="Arial"/>
                <a:cs typeface="Arial"/>
              </a:defRPr>
            </a:lvl5pPr>
            <a:lvl6pPr>
              <a:defRPr sz="2025" b="0">
                <a:solidFill>
                  <a:srgbClr val="F1EBDD"/>
                </a:solidFill>
                <a:latin typeface="Arial"/>
                <a:ea typeface="Arial"/>
                <a:cs typeface="Arial"/>
              </a:defRPr>
            </a:lvl6pPr>
            <a:lvl7pPr>
              <a:defRPr sz="2025" b="0">
                <a:solidFill>
                  <a:srgbClr val="F1EBDD"/>
                </a:solidFill>
                <a:latin typeface="Arial"/>
                <a:ea typeface="Arial"/>
                <a:cs typeface="Arial"/>
              </a:defRPr>
            </a:lvl7pPr>
            <a:lvl8pPr>
              <a:defRPr sz="2025" b="0">
                <a:solidFill>
                  <a:srgbClr val="F1EBDD"/>
                </a:solidFill>
                <a:latin typeface="Arial"/>
                <a:ea typeface="Arial"/>
                <a:cs typeface="Arial"/>
              </a:defRPr>
            </a:lvl8pPr>
            <a:lvl9pPr>
              <a:defRPr sz="2025" b="0">
                <a:solidFill>
                  <a:srgbClr val="F1EBDD"/>
                </a:solidFill>
                <a:latin typeface="Arial"/>
                <a:ea typeface="Arial"/>
                <a:cs typeface="Arial"/>
              </a:defRPr>
            </a:lvl9pPr>
          </a:lstStyle>
          <a:p xmlns:a="http://schemas.openxmlformats.org/drawingml/2006/main">
            <a:pPr>
              <a:defRPr sz="2025" b="0">
                <a:solidFill>
                  <a:srgbClr val="F1EBDD"/>
                </a:solidFill>
                <a:latin typeface="Arial"/>
                <a:ea typeface="Arial"/>
                <a:cs typeface="Arial"/>
              </a:defRPr>
            </a:pPr>
            <a:r>
              <a:rPr sz="2025" b="0">
                <a:solidFill>
                  <a:srgbClr val="F1EBDD"/>
                </a:solidFill>
                <a:latin typeface="Arial"/>
                <a:ea typeface="Arial"/>
                <a:cs typeface="Arial"/>
              </a:rPr>
              <a:t>Nguồn ứng viên: wiki.gg, Wikipedia và Fan APIs.</a:t>
            </a:r>
          </a:p>
        </p:txBody>
      </p:sp>
      <p:sp>
        <p:nvSpPr>
          <p:cNvPr id="6" name="">
            <a:extLst xmlns:a="http://schemas.openxmlformats.org/drawingml/2006/main">
              <a:ext uri="{FF2B5EF4-FFF2-40B4-BE49-F238E27FC236}">
                <a16:creationId xmlns:a16="http://schemas.microsoft.com/office/drawing/2014/main" id="{18C2B31D-5B2C-4DD5-8E58-F11413755279}"/>
              </a:ext>
            </a:extLst>
          </p:cNvPr>
          <p:cNvSpPr>
            <a:spLocks xmlns:a="http://schemas.openxmlformats.org/drawingml/2006/main" noGrp="1"/>
          </p:cNvSpPr>
          <p:nvPr/>
        </p:nvSpPr>
        <p:spPr>
          <a:xfrm xmlns:a="http://schemas.openxmlformats.org/drawingml/2006/main">
            <a:off x="609600" y="32575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4FBFFE6B-3E0E-4ACA-A3BC-D57075E92351}"/>
              </a:ext>
            </a:extLst>
          </p:cNvPr>
          <p:cNvSpPr>
            <a:spLocks xmlns:a="http://schemas.openxmlformats.org/drawingml/2006/main" noGrp="1"/>
          </p:cNvSpPr>
          <p:nvPr/>
        </p:nvSpPr>
        <p:spPr>
          <a:xfrm xmlns:a="http://schemas.openxmlformats.org/drawingml/2006/main">
            <a:off x="1285875" y="3209925"/>
            <a:ext cx="5762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1EBDD"/>
                </a:solidFill>
                <a:latin typeface="Arial"/>
                <a:ea typeface="Arial"/>
                <a:cs typeface="Arial"/>
              </a:defRPr>
            </a:defPPr>
            <a:lvl1pPr>
              <a:defRPr sz="2025" b="0">
                <a:solidFill>
                  <a:srgbClr val="F1EBDD"/>
                </a:solidFill>
                <a:latin typeface="Arial"/>
                <a:ea typeface="Arial"/>
                <a:cs typeface="Arial"/>
              </a:defRPr>
            </a:lvl1pPr>
            <a:lvl2pPr>
              <a:defRPr sz="2025" b="0">
                <a:solidFill>
                  <a:srgbClr val="F1EBDD"/>
                </a:solidFill>
                <a:latin typeface="Arial"/>
                <a:ea typeface="Arial"/>
                <a:cs typeface="Arial"/>
              </a:defRPr>
            </a:lvl2pPr>
            <a:lvl3pPr>
              <a:defRPr sz="2025" b="0">
                <a:solidFill>
                  <a:srgbClr val="F1EBDD"/>
                </a:solidFill>
                <a:latin typeface="Arial"/>
                <a:ea typeface="Arial"/>
                <a:cs typeface="Arial"/>
              </a:defRPr>
            </a:lvl3pPr>
            <a:lvl4pPr>
              <a:defRPr sz="2025" b="0">
                <a:solidFill>
                  <a:srgbClr val="F1EBDD"/>
                </a:solidFill>
                <a:latin typeface="Arial"/>
                <a:ea typeface="Arial"/>
                <a:cs typeface="Arial"/>
              </a:defRPr>
            </a:lvl4pPr>
            <a:lvl5pPr>
              <a:defRPr sz="2025" b="0">
                <a:solidFill>
                  <a:srgbClr val="F1EBDD"/>
                </a:solidFill>
                <a:latin typeface="Arial"/>
                <a:ea typeface="Arial"/>
                <a:cs typeface="Arial"/>
              </a:defRPr>
            </a:lvl5pPr>
            <a:lvl6pPr>
              <a:defRPr sz="2025" b="0">
                <a:solidFill>
                  <a:srgbClr val="F1EBDD"/>
                </a:solidFill>
                <a:latin typeface="Arial"/>
                <a:ea typeface="Arial"/>
                <a:cs typeface="Arial"/>
              </a:defRPr>
            </a:lvl6pPr>
            <a:lvl7pPr>
              <a:defRPr sz="2025" b="0">
                <a:solidFill>
                  <a:srgbClr val="F1EBDD"/>
                </a:solidFill>
                <a:latin typeface="Arial"/>
                <a:ea typeface="Arial"/>
                <a:cs typeface="Arial"/>
              </a:defRPr>
            </a:lvl7pPr>
            <a:lvl8pPr>
              <a:defRPr sz="2025" b="0">
                <a:solidFill>
                  <a:srgbClr val="F1EBDD"/>
                </a:solidFill>
                <a:latin typeface="Arial"/>
                <a:ea typeface="Arial"/>
                <a:cs typeface="Arial"/>
              </a:defRPr>
            </a:lvl8pPr>
            <a:lvl9pPr>
              <a:defRPr sz="2025" b="0">
                <a:solidFill>
                  <a:srgbClr val="F1EBDD"/>
                </a:solidFill>
                <a:latin typeface="Arial"/>
                <a:ea typeface="Arial"/>
                <a:cs typeface="Arial"/>
              </a:defRPr>
            </a:lvl9pPr>
          </a:lstStyle>
          <a:p xmlns:a="http://schemas.openxmlformats.org/drawingml/2006/main">
            <a:pPr>
              <a:defRPr sz="2025" b="0">
                <a:solidFill>
                  <a:srgbClr val="F1EBDD"/>
                </a:solidFill>
                <a:latin typeface="Arial"/>
                <a:ea typeface="Arial"/>
                <a:cs typeface="Arial"/>
              </a:defRPr>
            </a:pPr>
            <a:r>
              <a:rPr sz="2025" b="0">
                <a:solidFill>
                  <a:srgbClr val="F1EBDD"/>
                </a:solidFill>
                <a:latin typeface="Arial"/>
                <a:ea typeface="Arial"/>
                <a:cs typeface="Arial"/>
              </a:rPr>
              <a:t>Ưu tiên mô tả nhân vật, sự kiện, địa điểm, vật phẩm thuộc base game.</a:t>
            </a:r>
          </a:p>
        </p:txBody>
      </p:sp>
      <p:sp>
        <p:nvSpPr>
          <p:cNvPr id="8" name="">
            <a:extLst xmlns:a="http://schemas.openxmlformats.org/drawingml/2006/main">
              <a:ext uri="{FF2B5EF4-FFF2-40B4-BE49-F238E27FC236}">
                <a16:creationId xmlns:a16="http://schemas.microsoft.com/office/drawing/2014/main" id="{B6D8E1CA-04F4-46D9-AA41-5842172E3BE2}"/>
              </a:ext>
            </a:extLst>
          </p:cNvPr>
          <p:cNvSpPr>
            <a:spLocks xmlns:a="http://schemas.openxmlformats.org/drawingml/2006/main" noGrp="1"/>
          </p:cNvSpPr>
          <p:nvPr/>
        </p:nvSpPr>
        <p:spPr>
          <a:xfrm xmlns:a="http://schemas.openxmlformats.org/drawingml/2006/main">
            <a:off x="609600" y="44672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5E469661-D78C-4BF2-A5A8-5C50E6B99E6D}"/>
              </a:ext>
            </a:extLst>
          </p:cNvPr>
          <p:cNvSpPr>
            <a:spLocks xmlns:a="http://schemas.openxmlformats.org/drawingml/2006/main" noGrp="1"/>
          </p:cNvSpPr>
          <p:nvPr/>
        </p:nvSpPr>
        <p:spPr>
          <a:xfrm xmlns:a="http://schemas.openxmlformats.org/drawingml/2006/main">
            <a:off x="1285875" y="4419600"/>
            <a:ext cx="5762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1EBDD"/>
                </a:solidFill>
                <a:latin typeface="Arial"/>
                <a:ea typeface="Arial"/>
                <a:cs typeface="Arial"/>
              </a:defRPr>
            </a:defPPr>
            <a:lvl1pPr>
              <a:defRPr sz="2025" b="0">
                <a:solidFill>
                  <a:srgbClr val="F1EBDD"/>
                </a:solidFill>
                <a:latin typeface="Arial"/>
                <a:ea typeface="Arial"/>
                <a:cs typeface="Arial"/>
              </a:defRPr>
            </a:lvl1pPr>
            <a:lvl2pPr>
              <a:defRPr sz="2025" b="0">
                <a:solidFill>
                  <a:srgbClr val="F1EBDD"/>
                </a:solidFill>
                <a:latin typeface="Arial"/>
                <a:ea typeface="Arial"/>
                <a:cs typeface="Arial"/>
              </a:defRPr>
            </a:lvl2pPr>
            <a:lvl3pPr>
              <a:defRPr sz="2025" b="0">
                <a:solidFill>
                  <a:srgbClr val="F1EBDD"/>
                </a:solidFill>
                <a:latin typeface="Arial"/>
                <a:ea typeface="Arial"/>
                <a:cs typeface="Arial"/>
              </a:defRPr>
            </a:lvl3pPr>
            <a:lvl4pPr>
              <a:defRPr sz="2025" b="0">
                <a:solidFill>
                  <a:srgbClr val="F1EBDD"/>
                </a:solidFill>
                <a:latin typeface="Arial"/>
                <a:ea typeface="Arial"/>
                <a:cs typeface="Arial"/>
              </a:defRPr>
            </a:lvl4pPr>
            <a:lvl5pPr>
              <a:defRPr sz="2025" b="0">
                <a:solidFill>
                  <a:srgbClr val="F1EBDD"/>
                </a:solidFill>
                <a:latin typeface="Arial"/>
                <a:ea typeface="Arial"/>
                <a:cs typeface="Arial"/>
              </a:defRPr>
            </a:lvl5pPr>
            <a:lvl6pPr>
              <a:defRPr sz="2025" b="0">
                <a:solidFill>
                  <a:srgbClr val="F1EBDD"/>
                </a:solidFill>
                <a:latin typeface="Arial"/>
                <a:ea typeface="Arial"/>
                <a:cs typeface="Arial"/>
              </a:defRPr>
            </a:lvl6pPr>
            <a:lvl7pPr>
              <a:defRPr sz="2025" b="0">
                <a:solidFill>
                  <a:srgbClr val="F1EBDD"/>
                </a:solidFill>
                <a:latin typeface="Arial"/>
                <a:ea typeface="Arial"/>
                <a:cs typeface="Arial"/>
              </a:defRPr>
            </a:lvl7pPr>
            <a:lvl8pPr>
              <a:defRPr sz="2025" b="0">
                <a:solidFill>
                  <a:srgbClr val="F1EBDD"/>
                </a:solidFill>
                <a:latin typeface="Arial"/>
                <a:ea typeface="Arial"/>
                <a:cs typeface="Arial"/>
              </a:defRPr>
            </a:lvl8pPr>
            <a:lvl9pPr>
              <a:defRPr sz="2025" b="0">
                <a:solidFill>
                  <a:srgbClr val="F1EBDD"/>
                </a:solidFill>
                <a:latin typeface="Arial"/>
                <a:ea typeface="Arial"/>
                <a:cs typeface="Arial"/>
              </a:defRPr>
            </a:lvl9pPr>
          </a:lstStyle>
          <a:p xmlns:a="http://schemas.openxmlformats.org/drawingml/2006/main">
            <a:pPr>
              <a:defRPr sz="2025" b="0">
                <a:solidFill>
                  <a:srgbClr val="F1EBDD"/>
                </a:solidFill>
                <a:latin typeface="Arial"/>
                <a:ea typeface="Arial"/>
                <a:cs typeface="Arial"/>
              </a:defRPr>
            </a:pPr>
            <a:r>
              <a:rPr sz="2025" b="0">
                <a:solidFill>
                  <a:srgbClr val="F1EBDD"/>
                </a:solidFill>
                <a:latin typeface="Arial"/>
                <a:ea typeface="Arial"/>
                <a:cs typeface="Arial"/>
              </a:rPr>
              <a:t>Lưu title, section, URL, revision và thời điểm lấy dữ liệu.</a:t>
            </a:r>
          </a:p>
        </p:txBody>
      </p:sp>
      <p:sp>
        <p:nvSpPr>
          <p:cNvPr id="10" name="">
            <a:extLst xmlns:a="http://schemas.openxmlformats.org/drawingml/2006/main">
              <a:ext uri="{FF2B5EF4-FFF2-40B4-BE49-F238E27FC236}">
                <a16:creationId xmlns:a16="http://schemas.microsoft.com/office/drawing/2014/main" id="{6F89128C-5747-4785-B541-27974BC3A0ED}"/>
              </a:ext>
            </a:extLst>
          </p:cNvPr>
          <p:cNvSpPr>
            <a:spLocks xmlns:a="http://schemas.openxmlformats.org/drawingml/2006/main" noGrp="1"/>
          </p:cNvSpPr>
          <p:nvPr/>
        </p:nvSpPr>
        <p:spPr>
          <a:xfrm xmlns:a="http://schemas.openxmlformats.org/drawingml/2006/main">
            <a:off x="609600" y="56769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1" name="">
            <a:extLst xmlns:a="http://schemas.openxmlformats.org/drawingml/2006/main">
              <a:ext uri="{FF2B5EF4-FFF2-40B4-BE49-F238E27FC236}">
                <a16:creationId xmlns:a16="http://schemas.microsoft.com/office/drawing/2014/main" id="{D3C69B97-9A14-41FB-96C4-B7DB407B8087}"/>
              </a:ext>
            </a:extLst>
          </p:cNvPr>
          <p:cNvSpPr>
            <a:spLocks xmlns:a="http://schemas.openxmlformats.org/drawingml/2006/main" noGrp="1"/>
          </p:cNvSpPr>
          <p:nvPr/>
        </p:nvSpPr>
        <p:spPr>
          <a:xfrm xmlns:a="http://schemas.openxmlformats.org/drawingml/2006/main">
            <a:off x="1285875" y="5629275"/>
            <a:ext cx="5762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1EBDD"/>
                </a:solidFill>
                <a:latin typeface="Arial"/>
                <a:ea typeface="Arial"/>
                <a:cs typeface="Arial"/>
              </a:defRPr>
            </a:defPPr>
            <a:lvl1pPr>
              <a:defRPr sz="2025" b="0">
                <a:solidFill>
                  <a:srgbClr val="F1EBDD"/>
                </a:solidFill>
                <a:latin typeface="Arial"/>
                <a:ea typeface="Arial"/>
                <a:cs typeface="Arial"/>
              </a:defRPr>
            </a:lvl1pPr>
            <a:lvl2pPr>
              <a:defRPr sz="2025" b="0">
                <a:solidFill>
                  <a:srgbClr val="F1EBDD"/>
                </a:solidFill>
                <a:latin typeface="Arial"/>
                <a:ea typeface="Arial"/>
                <a:cs typeface="Arial"/>
              </a:defRPr>
            </a:lvl2pPr>
            <a:lvl3pPr>
              <a:defRPr sz="2025" b="0">
                <a:solidFill>
                  <a:srgbClr val="F1EBDD"/>
                </a:solidFill>
                <a:latin typeface="Arial"/>
                <a:ea typeface="Arial"/>
                <a:cs typeface="Arial"/>
              </a:defRPr>
            </a:lvl3pPr>
            <a:lvl4pPr>
              <a:defRPr sz="2025" b="0">
                <a:solidFill>
                  <a:srgbClr val="F1EBDD"/>
                </a:solidFill>
                <a:latin typeface="Arial"/>
                <a:ea typeface="Arial"/>
                <a:cs typeface="Arial"/>
              </a:defRPr>
            </a:lvl4pPr>
            <a:lvl5pPr>
              <a:defRPr sz="2025" b="0">
                <a:solidFill>
                  <a:srgbClr val="F1EBDD"/>
                </a:solidFill>
                <a:latin typeface="Arial"/>
                <a:ea typeface="Arial"/>
                <a:cs typeface="Arial"/>
              </a:defRPr>
            </a:lvl5pPr>
            <a:lvl6pPr>
              <a:defRPr sz="2025" b="0">
                <a:solidFill>
                  <a:srgbClr val="F1EBDD"/>
                </a:solidFill>
                <a:latin typeface="Arial"/>
                <a:ea typeface="Arial"/>
                <a:cs typeface="Arial"/>
              </a:defRPr>
            </a:lvl6pPr>
            <a:lvl7pPr>
              <a:defRPr sz="2025" b="0">
                <a:solidFill>
                  <a:srgbClr val="F1EBDD"/>
                </a:solidFill>
                <a:latin typeface="Arial"/>
                <a:ea typeface="Arial"/>
                <a:cs typeface="Arial"/>
              </a:defRPr>
            </a:lvl7pPr>
            <a:lvl8pPr>
              <a:defRPr sz="2025" b="0">
                <a:solidFill>
                  <a:srgbClr val="F1EBDD"/>
                </a:solidFill>
                <a:latin typeface="Arial"/>
                <a:ea typeface="Arial"/>
                <a:cs typeface="Arial"/>
              </a:defRPr>
            </a:lvl8pPr>
            <a:lvl9pPr>
              <a:defRPr sz="2025" b="0">
                <a:solidFill>
                  <a:srgbClr val="F1EBDD"/>
                </a:solidFill>
                <a:latin typeface="Arial"/>
                <a:ea typeface="Arial"/>
                <a:cs typeface="Arial"/>
              </a:defRPr>
            </a:lvl9pPr>
          </a:lstStyle>
          <a:p xmlns:a="http://schemas.openxmlformats.org/drawingml/2006/main">
            <a:pPr>
              <a:defRPr sz="2025" b="0">
                <a:solidFill>
                  <a:srgbClr val="F1EBDD"/>
                </a:solidFill>
                <a:latin typeface="Arial"/>
                <a:ea typeface="Arial"/>
                <a:cs typeface="Arial"/>
              </a:defRPr>
            </a:pPr>
            <a:r>
              <a:rPr sz="2025" b="0">
                <a:solidFill>
                  <a:srgbClr val="F1EBDD"/>
                </a:solidFill>
                <a:latin typeface="Arial"/>
                <a:ea typeface="Arial"/>
                <a:cs typeface="Arial"/>
              </a:rPr>
              <a:t>Tuần 1 xác minh truy cập, giấy phép và chất lượng trước khi chốt nguồn.</a:t>
            </a:r>
          </a:p>
        </p:txBody>
      </p:sp>
      <p:sp>
        <p:nvSpPr>
          <p:cNvPr id="12" name="">
            <a:extLst xmlns:a="http://schemas.openxmlformats.org/drawingml/2006/main">
              <a:ext uri="{FF2B5EF4-FFF2-40B4-BE49-F238E27FC236}">
                <a16:creationId xmlns:a16="http://schemas.microsoft.com/office/drawing/2014/main" id="{D04B919C-1EC9-4F43-A262-77CADD14804B}"/>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06</a:t>
            </a:r>
          </a:p>
        </p:txBody>
      </p:sp>
    </p:spTree>
    <p:extLst>
      <p:ext uri="{BB962C8B-B14F-4D97-AF65-F5344CB8AC3E}">
        <p14:creationId xmlns:p14="http://schemas.microsoft.com/office/powerpoint/2010/main" val="380492158"/>
      </p:ext>
    </p:extLst>
  </p:cSld>
</p:sld>
</file>

<file path=ppt/slides/slide7.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1DCEEC3-FACA-439D-BABC-31518D2267EA}"/>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7F664D0C-D2A3-43A5-860A-3CE8530D3D31}"/>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Luồng xử lý RAG dự kiến</a:t>
            </a:r>
          </a:p>
        </p:txBody>
      </p:sp>
      <p:graphicFrame>
        <p:nvGraphicFramePr>
          <p:cNvPr id="3" name="">
            <a:extLst xmlns:a="http://schemas.openxmlformats.org/drawingml/2006/main">
              <a:ext uri="{FF2B5EF4-FFF2-40B4-BE49-F238E27FC236}">
                <a16:creationId xmlns:a16="http://schemas.microsoft.com/office/drawing/2014/main" id="{063BA0CA-496F-484A-B9C2-D2ABCED4E704}"/>
              </a:ext>
            </a:extLst>
          </p:cNvPr>
          <p:cNvGraphicFramePr/>
          <p:nvPr/>
        </p:nvGraphicFramePr>
        <p:xfrm>
          <a:off xmlns:a="http://schemas.openxmlformats.org/drawingml/2006/main" x="609600" y="1952625"/>
          <a:ext xmlns:a="http://schemas.openxmlformats.org/drawingml/2006/main" cx="10972800" cy="3619500"/>
        </p:xfrm>
        <a:graphic xmlns:a="http://schemas.openxmlformats.org/drawingml/2006/main">
          <a:graphicData uri="http://schemas.openxmlformats.org/drawingml/2006/table">
            <a:tbl>
              <a:tblPr/>
              <a:tblGrid>
                <a:gridCol w="2286000"/>
                <a:gridCol w="4191000"/>
                <a:gridCol w="4495800"/>
              </a:tblGrid>
              <a:tr h="723900">
                <a:tc>
                  <a:txBody>
                    <a:bodyPr/>
                    <a:lstStyle/>
                    <a:p>
                      <a:r>
                        <a:rPr sz="1800" b="1">
                          <a:solidFill>
                            <a:srgbClr val="D3B777"/>
                          </a:solidFill>
                          <a:latin typeface="Arial"/>
                          <a:ea typeface="Arial"/>
                          <a:cs typeface="Arial"/>
                        </a:rPr>
                        <a:t>Giai đoạn</a:t>
                      </a:r>
                    </a:p>
                  </a:txBody>
                  <a:tcPr marL="91440" marR="91440" marT="45720" marB="45720">
                    <a:solidFill>
                      <a:srgbClr val="344344"/>
                    </a:solidFill>
                  </a:tcPr>
                </a:tc>
                <a:tc>
                  <a:txBody>
                    <a:bodyPr/>
                    <a:lstStyle/>
                    <a:p>
                      <a:r>
                        <a:rPr sz="1800" b="1">
                          <a:solidFill>
                            <a:srgbClr val="D3B777"/>
                          </a:solidFill>
                          <a:latin typeface="Arial"/>
                          <a:ea typeface="Arial"/>
                          <a:cs typeface="Arial"/>
                        </a:rPr>
                        <a:t>Đầu vào và xử lý</a:t>
                      </a:r>
                    </a:p>
                  </a:txBody>
                  <a:tcPr marL="91440" marR="91440" marT="45720" marB="45720">
                    <a:solidFill>
                      <a:srgbClr val="344344"/>
                    </a:solidFill>
                  </a:tcPr>
                </a:tc>
                <a:tc>
                  <a:txBody>
                    <a:bodyPr/>
                    <a:lstStyle/>
                    <a:p>
                      <a:r>
                        <a:rPr sz="1800" b="1">
                          <a:solidFill>
                            <a:srgbClr val="D3B777"/>
                          </a:solidFill>
                          <a:latin typeface="Arial"/>
                          <a:ea typeface="Arial"/>
                          <a:cs typeface="Arial"/>
                        </a:rPr>
                        <a:t>Đầu ra</a:t>
                      </a:r>
                    </a:p>
                  </a:txBody>
                  <a:tcPr marL="91440" marR="91440" marT="45720" marB="45720">
                    <a:solidFill>
                      <a:srgbClr val="344344"/>
                    </a:solidFill>
                  </a:tcPr>
                </a:tc>
              </a:tr>
              <a:tr h="723900">
                <a:tc>
                  <a:txBody>
                    <a:bodyPr/>
                    <a:lstStyle/>
                    <a:p>
                      <a:r>
                        <a:rPr sz="1800" b="0">
                          <a:solidFill>
                            <a:srgbClr val="F1EBDD"/>
                          </a:solidFill>
                          <a:latin typeface="Arial"/>
                          <a:ea typeface="Arial"/>
                          <a:cs typeface="Arial"/>
                        </a:rPr>
                        <a:t>Chuẩn bị dữ liệu</a:t>
                      </a:r>
                    </a:p>
                  </a:txBody>
                  <a:tcPr marL="91440" marR="91440" marT="45720" marB="45720">
                    <a:solidFill>
                      <a:srgbClr val="19282D"/>
                    </a:solidFill>
                  </a:tcPr>
                </a:tc>
                <a:tc>
                  <a:txBody>
                    <a:bodyPr/>
                    <a:lstStyle/>
                    <a:p>
                      <a:r>
                        <a:rPr sz="1800" b="0">
                          <a:solidFill>
                            <a:srgbClr val="F1EBDD"/>
                          </a:solidFill>
                          <a:latin typeface="Arial"/>
                          <a:ea typeface="Arial"/>
                          <a:cs typeface="Arial"/>
                        </a:rPr>
                        <a:t>Thu thập, làm sạch, chia đoạn</a:t>
                      </a:r>
                    </a:p>
                  </a:txBody>
                  <a:tcPr marL="91440" marR="91440" marT="45720" marB="45720">
                    <a:solidFill>
                      <a:srgbClr val="19282D"/>
                    </a:solidFill>
                  </a:tcPr>
                </a:tc>
                <a:tc>
                  <a:txBody>
                    <a:bodyPr/>
                    <a:lstStyle/>
                    <a:p>
                      <a:r>
                        <a:rPr sz="1800" b="0">
                          <a:solidFill>
                            <a:srgbClr val="F1EBDD"/>
                          </a:solidFill>
                          <a:latin typeface="Arial"/>
                          <a:ea typeface="Arial"/>
                          <a:cs typeface="Arial"/>
                        </a:rPr>
                        <a:t>Corpus và chunk có nguồn</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Đánh chỉ mục</a:t>
                      </a:r>
                    </a:p>
                  </a:txBody>
                  <a:tcPr marL="91440" marR="91440" marT="45720" marB="45720">
                    <a:solidFill>
                      <a:srgbClr val="203237"/>
                    </a:solidFill>
                  </a:tcPr>
                </a:tc>
                <a:tc>
                  <a:txBody>
                    <a:bodyPr/>
                    <a:lstStyle/>
                    <a:p>
                      <a:r>
                        <a:rPr sz="1800" b="0">
                          <a:solidFill>
                            <a:srgbClr val="F1EBDD"/>
                          </a:solidFill>
                          <a:latin typeface="Arial"/>
                          <a:ea typeface="Arial"/>
                          <a:cs typeface="Arial"/>
                        </a:rPr>
                        <a:t>Embedding và BM25</a:t>
                      </a:r>
                    </a:p>
                  </a:txBody>
                  <a:tcPr marL="91440" marR="91440" marT="45720" marB="45720">
                    <a:solidFill>
                      <a:srgbClr val="203237"/>
                    </a:solidFill>
                  </a:tcPr>
                </a:tc>
                <a:tc>
                  <a:txBody>
                    <a:bodyPr/>
                    <a:lstStyle/>
                    <a:p>
                      <a:r>
                        <a:rPr sz="1800" b="0">
                          <a:solidFill>
                            <a:srgbClr val="F1EBDD"/>
                          </a:solidFill>
                          <a:latin typeface="Arial"/>
                          <a:ea typeface="Arial"/>
                          <a:cs typeface="Arial"/>
                        </a:rPr>
                        <a:t>Qdrant</a:t>
                      </a:r>
                    </a:p>
                  </a:txBody>
                  <a:tcPr marL="91440" marR="91440" marT="45720" marB="45720">
                    <a:solidFill>
                      <a:srgbClr val="203237"/>
                    </a:solidFill>
                  </a:tcPr>
                </a:tc>
              </a:tr>
              <a:tr h="723900">
                <a:tc>
                  <a:txBody>
                    <a:bodyPr/>
                    <a:lstStyle/>
                    <a:p>
                      <a:r>
                        <a:rPr sz="1800" b="0">
                          <a:solidFill>
                            <a:srgbClr val="F1EBDD"/>
                          </a:solidFill>
                          <a:latin typeface="Arial"/>
                          <a:ea typeface="Arial"/>
                          <a:cs typeface="Arial"/>
                        </a:rPr>
                        <a:t>Truy xuất</a:t>
                      </a:r>
                    </a:p>
                  </a:txBody>
                  <a:tcPr marL="91440" marR="91440" marT="45720" marB="45720">
                    <a:solidFill>
                      <a:srgbClr val="19282D"/>
                    </a:solidFill>
                  </a:tcPr>
                </a:tc>
                <a:tc>
                  <a:txBody>
                    <a:bodyPr/>
                    <a:lstStyle/>
                    <a:p>
                      <a:r>
                        <a:rPr sz="1800" b="0">
                          <a:solidFill>
                            <a:srgbClr val="F1EBDD"/>
                          </a:solidFill>
                          <a:latin typeface="Arial"/>
                          <a:ea typeface="Arial"/>
                          <a:cs typeface="Arial"/>
                        </a:rPr>
                        <a:t>Câu hỏi, viết lại truy vấn nếu cần</a:t>
                      </a:r>
                    </a:p>
                  </a:txBody>
                  <a:tcPr marL="91440" marR="91440" marT="45720" marB="45720">
                    <a:solidFill>
                      <a:srgbClr val="19282D"/>
                    </a:solidFill>
                  </a:tcPr>
                </a:tc>
                <a:tc>
                  <a:txBody>
                    <a:bodyPr/>
                    <a:lstStyle/>
                    <a:p>
                      <a:r>
                        <a:rPr sz="1800" b="0">
                          <a:solidFill>
                            <a:srgbClr val="F1EBDD"/>
                          </a:solidFill>
                          <a:latin typeface="Arial"/>
                          <a:ea typeface="Arial"/>
                          <a:cs typeface="Arial"/>
                        </a:rPr>
                        <a:t>Top-k đoạn, sau hybrid/rerank</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Sinh câu trả lời</a:t>
                      </a:r>
                    </a:p>
                  </a:txBody>
                  <a:tcPr marL="91440" marR="91440" marT="45720" marB="45720">
                    <a:solidFill>
                      <a:srgbClr val="203237"/>
                    </a:solidFill>
                  </a:tcPr>
                </a:tc>
                <a:tc>
                  <a:txBody>
                    <a:bodyPr/>
                    <a:lstStyle/>
                    <a:p>
                      <a:r>
                        <a:rPr sz="1800" b="0">
                          <a:solidFill>
                            <a:srgbClr val="F1EBDD"/>
                          </a:solidFill>
                          <a:latin typeface="Arial"/>
                          <a:ea typeface="Arial"/>
                          <a:cs typeface="Arial"/>
                        </a:rPr>
                        <a:t>Câu hỏi và ngữ cảnh có đánh số</a:t>
                      </a:r>
                    </a:p>
                  </a:txBody>
                  <a:tcPr marL="91440" marR="91440" marT="45720" marB="45720">
                    <a:solidFill>
                      <a:srgbClr val="203237"/>
                    </a:solidFill>
                  </a:tcPr>
                </a:tc>
                <a:tc>
                  <a:txBody>
                    <a:bodyPr/>
                    <a:lstStyle/>
                    <a:p>
                      <a:r>
                        <a:rPr sz="1800" b="0">
                          <a:solidFill>
                            <a:srgbClr val="F1EBDD"/>
                          </a:solidFill>
                          <a:latin typeface="Arial"/>
                          <a:ea typeface="Arial"/>
                          <a:cs typeface="Arial"/>
                        </a:rPr>
                        <a:t>Câu trả lời kèm trích dẫn</a:t>
                      </a:r>
                    </a:p>
                  </a:txBody>
                  <a:tcPr marL="91440" marR="91440" marT="45720" marB="45720">
                    <a:solidFill>
                      <a:srgbClr val="203237"/>
                    </a:solidFill>
                  </a:tcPr>
                </a:tc>
              </a:tr>
            </a:tbl>
          </a:graphicData>
        </a:graphic>
      </p:graphicFrame>
      <p:sp>
        <p:nvSpPr>
          <p:cNvPr id="4" name="">
            <a:extLst xmlns:a="http://schemas.openxmlformats.org/drawingml/2006/main">
              <a:ext uri="{FF2B5EF4-FFF2-40B4-BE49-F238E27FC236}">
                <a16:creationId xmlns:a16="http://schemas.microsoft.com/office/drawing/2014/main" id="{E372CCAA-5C87-417A-B45E-44B80381589A}"/>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07</a:t>
            </a:r>
          </a:p>
        </p:txBody>
      </p:sp>
    </p:spTree>
    <p:extLst>
      <p:ext uri="{BB962C8B-B14F-4D97-AF65-F5344CB8AC3E}">
        <p14:creationId xmlns:p14="http://schemas.microsoft.com/office/powerpoint/2010/main" val="1302115909"/>
      </p:ext>
    </p:extLst>
  </p:cSld>
</p:sld>
</file>

<file path=ppt/slides/slide8.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AB5FF94-AC1C-40C7-B4A7-9C59DB21C63E}"/>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3A8EEBA8-8D60-4C1B-BF81-B43731021F8D}"/>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Kiến trúc triển khai dự kiến</a:t>
            </a:r>
          </a:p>
        </p:txBody>
      </p:sp>
      <p:sp>
        <p:nvSpPr>
          <p:cNvPr id="3" name="">
            <a:extLst xmlns:a="http://schemas.openxmlformats.org/drawingml/2006/main">
              <a:ext uri="{FF2B5EF4-FFF2-40B4-BE49-F238E27FC236}">
                <a16:creationId xmlns:a16="http://schemas.microsoft.com/office/drawing/2014/main" id="{8473DE0D-E595-4E41-947E-C017FEA69990}"/>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7A24EABD-6BFD-4C44-AC05-F5DA0F53AA80}"/>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React web và Discord bot gọi FastAPI dùng chung.</a:t>
            </a:r>
          </a:p>
        </p:txBody>
      </p:sp>
      <p:sp>
        <p:nvSpPr>
          <p:cNvPr id="5" name="">
            <a:extLst xmlns:a="http://schemas.openxmlformats.org/drawingml/2006/main">
              <a:ext uri="{FF2B5EF4-FFF2-40B4-BE49-F238E27FC236}">
                <a16:creationId xmlns:a16="http://schemas.microsoft.com/office/drawing/2014/main" id="{627E21E8-BD02-478F-A657-BAC5F9420A73}"/>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4E7234E7-60E0-4FEB-ABCA-FF6BB38E0572}"/>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Qdrant lưu vector; PostgreSQL lưu hội thoại, metadata và feedback.</a:t>
            </a:r>
          </a:p>
        </p:txBody>
      </p:sp>
      <p:sp>
        <p:nvSpPr>
          <p:cNvPr id="7" name="">
            <a:extLst xmlns:a="http://schemas.openxmlformats.org/drawingml/2006/main">
              <a:ext uri="{FF2B5EF4-FFF2-40B4-BE49-F238E27FC236}">
                <a16:creationId xmlns:a16="http://schemas.microsoft.com/office/drawing/2014/main" id="{8331CF1E-3684-4EF3-89ED-679218684F66}"/>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114A5A24-92CA-460C-98AC-3D6E9425ECCE}"/>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Docker Compose đóng gói các dịch vụ; Redis bổ sung khi cần cache hoặc rate limit.</a:t>
            </a:r>
          </a:p>
        </p:txBody>
      </p:sp>
      <p:sp>
        <p:nvSpPr>
          <p:cNvPr id="9" name="">
            <a:extLst xmlns:a="http://schemas.openxmlformats.org/drawingml/2006/main">
              <a:ext uri="{FF2B5EF4-FFF2-40B4-BE49-F238E27FC236}">
                <a16:creationId xmlns:a16="http://schemas.microsoft.com/office/drawing/2014/main" id="{A8EEFB17-0D76-438A-B6CC-2EC9A17E4B98}"/>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DDE46586-E209-4FF5-9796-CD7A88B02977}"/>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LLM qua API cấu hình được; lựa chọn local dùng llama.cpp sau khi đo tài nguyên.</a:t>
            </a:r>
          </a:p>
        </p:txBody>
      </p:sp>
      <p:sp>
        <p:nvSpPr>
          <p:cNvPr id="11" name="">
            <a:extLst xmlns:a="http://schemas.openxmlformats.org/drawingml/2006/main">
              <a:ext uri="{FF2B5EF4-FFF2-40B4-BE49-F238E27FC236}">
                <a16:creationId xmlns:a16="http://schemas.microsoft.com/office/drawing/2014/main" id="{6B22BF1F-5466-416D-828E-6368F194267D}"/>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08</a:t>
            </a:r>
          </a:p>
        </p:txBody>
      </p:sp>
    </p:spTree>
    <p:extLst>
      <p:ext uri="{BB962C8B-B14F-4D97-AF65-F5344CB8AC3E}">
        <p14:creationId xmlns:p14="http://schemas.microsoft.com/office/powerpoint/2010/main" val="391534232"/>
      </p:ext>
    </p:extLst>
  </p:cSld>
</p:sld>
</file>

<file path=ppt/slides/slide9.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65E6140-5F6B-45C0-9720-B1D822561A9A}"/>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073BE289-75D8-4FBF-B3EC-7CAB34E9E076}"/>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Thiết kế đánh giá</a:t>
            </a:r>
          </a:p>
        </p:txBody>
      </p:sp>
      <p:sp>
        <p:nvSpPr>
          <p:cNvPr id="3" name="">
            <a:extLst xmlns:a="http://schemas.openxmlformats.org/drawingml/2006/main">
              <a:ext uri="{FF2B5EF4-FFF2-40B4-BE49-F238E27FC236}">
                <a16:creationId xmlns:a16="http://schemas.microsoft.com/office/drawing/2014/main" id="{3B66C814-8890-4235-B7C7-4C2E8AEBC3FD}"/>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B2AEB3AA-0C27-48F5-88EF-DD4D520B92C6}"/>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Dự kiến 120 câu, ít nhất 50% tiếng Việt, có nguồn và đáp án tham chiếu.</a:t>
            </a:r>
          </a:p>
        </p:txBody>
      </p:sp>
      <p:sp>
        <p:nvSpPr>
          <p:cNvPr id="5" name="">
            <a:extLst xmlns:a="http://schemas.openxmlformats.org/drawingml/2006/main">
              <a:ext uri="{FF2B5EF4-FFF2-40B4-BE49-F238E27FC236}">
                <a16:creationId xmlns:a16="http://schemas.microsoft.com/office/drawing/2014/main" id="{17D5D747-E22E-4C84-BE1D-86E36759C730}"/>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111D0A6C-F84D-46AB-8028-0E5FCC10649B}"/>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Tách 60 câu dev và 60 câu test theo nhóm chủ đề hoặc thực thể.</a:t>
            </a:r>
          </a:p>
        </p:txBody>
      </p:sp>
      <p:sp>
        <p:nvSpPr>
          <p:cNvPr id="7" name="">
            <a:extLst xmlns:a="http://schemas.openxmlformats.org/drawingml/2006/main">
              <a:ext uri="{FF2B5EF4-FFF2-40B4-BE49-F238E27FC236}">
                <a16:creationId xmlns:a16="http://schemas.microsoft.com/office/drawing/2014/main" id="{C5BB438D-B5EE-46FC-BCC7-5D2B605D03ED}"/>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8003A5C1-8812-47E3-ABF8-B5B7B15B457D}"/>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Retrieval: Recall@5, Recall@10, MRR; báo cáo riêng câu Việt và Anh.</a:t>
            </a:r>
          </a:p>
        </p:txBody>
      </p:sp>
      <p:sp>
        <p:nvSpPr>
          <p:cNvPr id="9" name="">
            <a:extLst xmlns:a="http://schemas.openxmlformats.org/drawingml/2006/main">
              <a:ext uri="{FF2B5EF4-FFF2-40B4-BE49-F238E27FC236}">
                <a16:creationId xmlns:a16="http://schemas.microsoft.com/office/drawing/2014/main" id="{0710DBED-6717-4062-B0E6-2DD6B9E5F868}"/>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57C605E9-2C31-4ED0-A0AA-E0BB27DE12BD}"/>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Generation: đúng đáp án, bám nguồn, trích dẫn hợp lệ; đo độ trễ và chi phí.</a:t>
            </a:r>
          </a:p>
        </p:txBody>
      </p:sp>
      <p:sp>
        <p:nvSpPr>
          <p:cNvPr id="11" name="">
            <a:extLst xmlns:a="http://schemas.openxmlformats.org/drawingml/2006/main">
              <a:ext uri="{FF2B5EF4-FFF2-40B4-BE49-F238E27FC236}">
                <a16:creationId xmlns:a16="http://schemas.microsoft.com/office/drawing/2014/main" id="{7105E0BB-4592-457A-B4C3-E123B9F31C6D}"/>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09</a:t>
            </a:r>
          </a:p>
        </p:txBody>
      </p:sp>
    </p:spTree>
    <p:extLst>
      <p:ext uri="{BB962C8B-B14F-4D97-AF65-F5344CB8AC3E}">
        <p14:creationId xmlns:p14="http://schemas.microsoft.com/office/powerpoint/2010/main" val="2029326915"/>
      </p:ext>
    </p:extLst>
  </p:cSld>
</p:sld>
</file>

<file path=ppt/slides/slide10.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48262BA-CFAF-4E6A-863D-B465261BE6DC}"/>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46EA8A80-FD87-4346-BAD2-4DC02C8993B7}"/>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Kế hoạch 9 tuần</a:t>
            </a:r>
          </a:p>
        </p:txBody>
      </p:sp>
      <p:graphicFrame>
        <p:nvGraphicFramePr>
          <p:cNvPr id="3" name="">
            <a:extLst xmlns:a="http://schemas.openxmlformats.org/drawingml/2006/main">
              <a:ext uri="{FF2B5EF4-FFF2-40B4-BE49-F238E27FC236}">
                <a16:creationId xmlns:a16="http://schemas.microsoft.com/office/drawing/2014/main" id="{F760685D-1096-437B-B277-8479805EFF49}"/>
              </a:ext>
            </a:extLst>
          </p:cNvPr>
          <p:cNvGraphicFramePr/>
          <p:nvPr/>
        </p:nvGraphicFramePr>
        <p:xfrm>
          <a:off xmlns:a="http://schemas.openxmlformats.org/drawingml/2006/main" x="609600" y="1952625"/>
          <a:ext xmlns:a="http://schemas.openxmlformats.org/drawingml/2006/main" cx="10972800" cy="3857625"/>
        </p:xfrm>
        <a:graphic xmlns:a="http://schemas.openxmlformats.org/drawingml/2006/main">
          <a:graphicData uri="http://schemas.openxmlformats.org/drawingml/2006/table">
            <a:tbl>
              <a:tblPr/>
              <a:tblGrid>
                <a:gridCol w="762000"/>
                <a:gridCol w="1809750"/>
                <a:gridCol w="4000500"/>
                <a:gridCol w="4400550"/>
              </a:tblGrid>
              <a:tr h="642938">
                <a:tc>
                  <a:txBody>
                    <a:bodyPr/>
                    <a:lstStyle/>
                    <a:p>
                      <a:r>
                        <a:rPr sz="1800" b="1">
                          <a:solidFill>
                            <a:srgbClr val="D3B777"/>
                          </a:solidFill>
                          <a:latin typeface="Arial"/>
                          <a:ea typeface="Arial"/>
                          <a:cs typeface="Arial"/>
                        </a:rPr>
                        <a:t>Tuần</a:t>
                      </a:r>
                    </a:p>
                  </a:txBody>
                  <a:tcPr marL="91440" marR="91440" marT="45720" marB="45720">
                    <a:solidFill>
                      <a:srgbClr val="344344"/>
                    </a:solidFill>
                  </a:tcPr>
                </a:tc>
                <a:tc>
                  <a:txBody>
                    <a:bodyPr/>
                    <a:lstStyle/>
                    <a:p>
                      <a:r>
                        <a:rPr sz="1800" b="1">
                          <a:solidFill>
                            <a:srgbClr val="D3B777"/>
                          </a:solidFill>
                          <a:latin typeface="Arial"/>
                          <a:ea typeface="Arial"/>
                          <a:cs typeface="Arial"/>
                        </a:rPr>
                        <a:t>Thời gian</a:t>
                      </a:r>
                    </a:p>
                  </a:txBody>
                  <a:tcPr marL="91440" marR="91440" marT="45720" marB="45720">
                    <a:solidFill>
                      <a:srgbClr val="344344"/>
                    </a:solidFill>
                  </a:tcPr>
                </a:tc>
                <a:tc>
                  <a:txBody>
                    <a:bodyPr/>
                    <a:lstStyle/>
                    <a:p>
                      <a:r>
                        <a:rPr sz="1800" b="1">
                          <a:solidFill>
                            <a:srgbClr val="D3B777"/>
                          </a:solidFill>
                          <a:latin typeface="Arial"/>
                          <a:ea typeface="Arial"/>
                          <a:cs typeface="Arial"/>
                        </a:rPr>
                        <a:t>Trọng tâm</a:t>
                      </a:r>
                    </a:p>
                  </a:txBody>
                  <a:tcPr marL="91440" marR="91440" marT="45720" marB="45720">
                    <a:solidFill>
                      <a:srgbClr val="344344"/>
                    </a:solidFill>
                  </a:tcPr>
                </a:tc>
                <a:tc>
                  <a:txBody>
                    <a:bodyPr/>
                    <a:lstStyle/>
                    <a:p>
                      <a:r>
                        <a:rPr sz="1800" b="1">
                          <a:solidFill>
                            <a:srgbClr val="D3B777"/>
                          </a:solidFill>
                          <a:latin typeface="Arial"/>
                          <a:ea typeface="Arial"/>
                          <a:cs typeface="Arial"/>
                        </a:rPr>
                        <a:t>Đầu ra</a:t>
                      </a:r>
                    </a:p>
                  </a:txBody>
                  <a:tcPr marL="91440" marR="91440" marT="45720" marB="45720">
                    <a:solidFill>
                      <a:srgbClr val="344344"/>
                    </a:solidFill>
                  </a:tcPr>
                </a:tc>
              </a:tr>
              <a:tr h="642938">
                <a:tc>
                  <a:txBody>
                    <a:bodyPr/>
                    <a:lstStyle/>
                    <a:p>
                      <a:r>
                        <a:rPr sz="1800" b="0">
                          <a:solidFill>
                            <a:srgbClr val="F1EBDD"/>
                          </a:solidFill>
                          <a:latin typeface="Arial"/>
                          <a:ea typeface="Arial"/>
                          <a:cs typeface="Arial"/>
                        </a:rPr>
                        <a:t>1</a:t>
                      </a:r>
                    </a:p>
                  </a:txBody>
                  <a:tcPr marL="91440" marR="91440" marT="45720" marB="45720">
                    <a:solidFill>
                      <a:srgbClr val="19282D"/>
                    </a:solidFill>
                  </a:tcPr>
                </a:tc>
                <a:tc>
                  <a:txBody>
                    <a:bodyPr/>
                    <a:lstStyle/>
                    <a:p>
                      <a:r>
                        <a:rPr sz="1800" b="0">
                          <a:solidFill>
                            <a:srgbClr val="F1EBDD"/>
                          </a:solidFill>
                          <a:latin typeface="Arial"/>
                          <a:ea typeface="Arial"/>
                          <a:cs typeface="Arial"/>
                        </a:rPr>
                        <a:t>19–25/10</a:t>
                      </a:r>
                    </a:p>
                  </a:txBody>
                  <a:tcPr marL="91440" marR="91440" marT="45720" marB="45720">
                    <a:solidFill>
                      <a:srgbClr val="19282D"/>
                    </a:solidFill>
                  </a:tcPr>
                </a:tc>
                <a:tc>
                  <a:txBody>
                    <a:bodyPr/>
                    <a:lstStyle/>
                    <a:p>
                      <a:r>
                        <a:rPr sz="1800" b="0">
                          <a:solidFill>
                            <a:srgbClr val="F1EBDD"/>
                          </a:solidFill>
                          <a:latin typeface="Arial"/>
                          <a:ea typeface="Arial"/>
                          <a:cs typeface="Arial"/>
                        </a:rPr>
                        <a:t>Đăng ký, survey, khảo sát dữ liệu</a:t>
                      </a:r>
                    </a:p>
                  </a:txBody>
                  <a:tcPr marL="91440" marR="91440" marT="45720" marB="45720">
                    <a:solidFill>
                      <a:srgbClr val="19282D"/>
                    </a:solidFill>
                  </a:tcPr>
                </a:tc>
                <a:tc>
                  <a:txBody>
                    <a:bodyPr/>
                    <a:lstStyle/>
                    <a:p>
                      <a:r>
                        <a:rPr sz="1800" b="0">
                          <a:solidFill>
                            <a:srgbClr val="F1EBDD"/>
                          </a:solidFill>
                          <a:latin typeface="Arial"/>
                          <a:ea typeface="Arial"/>
                          <a:cs typeface="Arial"/>
                        </a:rPr>
                        <a:t>Đề cương, bảng survey, 30 câu mẫu</a:t>
                      </a:r>
                    </a:p>
                  </a:txBody>
                  <a:tcPr marL="91440" marR="91440" marT="45720" marB="45720">
                    <a:solidFill>
                      <a:srgbClr val="19282D"/>
                    </a:solidFill>
                  </a:tcPr>
                </a:tc>
              </a:tr>
              <a:tr h="642938">
                <a:tc>
                  <a:txBody>
                    <a:bodyPr/>
                    <a:lstStyle/>
                    <a:p>
                      <a:r>
                        <a:rPr sz="1800" b="0">
                          <a:solidFill>
                            <a:srgbClr val="F1EBDD"/>
                          </a:solidFill>
                          <a:latin typeface="Arial"/>
                          <a:ea typeface="Arial"/>
                          <a:cs typeface="Arial"/>
                        </a:rPr>
                        <a:t>2</a:t>
                      </a:r>
                    </a:p>
                  </a:txBody>
                  <a:tcPr marL="91440" marR="91440" marT="45720" marB="45720">
                    <a:solidFill>
                      <a:srgbClr val="203237"/>
                    </a:solidFill>
                  </a:tcPr>
                </a:tc>
                <a:tc>
                  <a:txBody>
                    <a:bodyPr/>
                    <a:lstStyle/>
                    <a:p>
                      <a:r>
                        <a:rPr sz="1800" b="0">
                          <a:solidFill>
                            <a:srgbClr val="F1EBDD"/>
                          </a:solidFill>
                          <a:latin typeface="Arial"/>
                          <a:ea typeface="Arial"/>
                          <a:cs typeface="Arial"/>
                        </a:rPr>
                        <a:t>26/10–01/11</a:t>
                      </a:r>
                    </a:p>
                  </a:txBody>
                  <a:tcPr marL="91440" marR="91440" marT="45720" marB="45720">
                    <a:solidFill>
                      <a:srgbClr val="203237"/>
                    </a:solidFill>
                  </a:tcPr>
                </a:tc>
                <a:tc>
                  <a:txBody>
                    <a:bodyPr/>
                    <a:lstStyle/>
                    <a:p>
                      <a:r>
                        <a:rPr sz="1800" b="0">
                          <a:solidFill>
                            <a:srgbClr val="F1EBDD"/>
                          </a:solidFill>
                          <a:latin typeface="Arial"/>
                          <a:ea typeface="Arial"/>
                          <a:cs typeface="Arial"/>
                        </a:rPr>
                        <a:t>Crawler và làm sạch dữ liệu</a:t>
                      </a:r>
                    </a:p>
                  </a:txBody>
                  <a:tcPr marL="91440" marR="91440" marT="45720" marB="45720">
                    <a:solidFill>
                      <a:srgbClr val="203237"/>
                    </a:solidFill>
                  </a:tcPr>
                </a:tc>
                <a:tc>
                  <a:txBody>
                    <a:bodyPr/>
                    <a:lstStyle/>
                    <a:p>
                      <a:r>
                        <a:rPr sz="1800" b="0">
                          <a:solidFill>
                            <a:srgbClr val="F1EBDD"/>
                          </a:solidFill>
                          <a:latin typeface="Arial"/>
                          <a:ea typeface="Arial"/>
                          <a:cs typeface="Arial"/>
                        </a:rPr>
                        <a:t>Corpus mẫu, schema và báo cáo chất lượng</a:t>
                      </a:r>
                    </a:p>
                  </a:txBody>
                  <a:tcPr marL="91440" marR="91440" marT="45720" marB="45720">
                    <a:solidFill>
                      <a:srgbClr val="203237"/>
                    </a:solidFill>
                  </a:tcPr>
                </a:tc>
              </a:tr>
              <a:tr h="642938">
                <a:tc>
                  <a:txBody>
                    <a:bodyPr/>
                    <a:lstStyle/>
                    <a:p>
                      <a:r>
                        <a:rPr sz="1800" b="0">
                          <a:solidFill>
                            <a:srgbClr val="F1EBDD"/>
                          </a:solidFill>
                          <a:latin typeface="Arial"/>
                          <a:ea typeface="Arial"/>
                          <a:cs typeface="Arial"/>
                        </a:rPr>
                        <a:t>3</a:t>
                      </a:r>
                    </a:p>
                  </a:txBody>
                  <a:tcPr marL="91440" marR="91440" marT="45720" marB="45720">
                    <a:solidFill>
                      <a:srgbClr val="19282D"/>
                    </a:solidFill>
                  </a:tcPr>
                </a:tc>
                <a:tc>
                  <a:txBody>
                    <a:bodyPr/>
                    <a:lstStyle/>
                    <a:p>
                      <a:r>
                        <a:rPr sz="1800" b="0">
                          <a:solidFill>
                            <a:srgbClr val="F1EBDD"/>
                          </a:solidFill>
                          <a:latin typeface="Arial"/>
                          <a:ea typeface="Arial"/>
                          <a:cs typeface="Arial"/>
                        </a:rPr>
                        <a:t>02–08/11</a:t>
                      </a:r>
                    </a:p>
                  </a:txBody>
                  <a:tcPr marL="91440" marR="91440" marT="45720" marB="45720">
                    <a:solidFill>
                      <a:srgbClr val="19282D"/>
                    </a:solidFill>
                  </a:tcPr>
                </a:tc>
                <a:tc>
                  <a:txBody>
                    <a:bodyPr/>
                    <a:lstStyle/>
                    <a:p>
                      <a:r>
                        <a:rPr sz="1800" b="0">
                          <a:solidFill>
                            <a:srgbClr val="F1EBDD"/>
                          </a:solidFill>
                          <a:latin typeface="Arial"/>
                          <a:ea typeface="Arial"/>
                          <a:cs typeface="Arial"/>
                        </a:rPr>
                        <a:t>Chunk, embedding và Qdrant</a:t>
                      </a:r>
                    </a:p>
                  </a:txBody>
                  <a:tcPr marL="91440" marR="91440" marT="45720" marB="45720">
                    <a:solidFill>
                      <a:srgbClr val="19282D"/>
                    </a:solidFill>
                  </a:tcPr>
                </a:tc>
                <a:tc>
                  <a:txBody>
                    <a:bodyPr/>
                    <a:lstStyle/>
                    <a:p>
                      <a:r>
                        <a:rPr sz="1800" b="0">
                          <a:solidFill>
                            <a:srgbClr val="F1EBDD"/>
                          </a:solidFill>
                          <a:latin typeface="Arial"/>
                          <a:ea typeface="Arial"/>
                          <a:cs typeface="Arial"/>
                        </a:rPr>
                        <a:t>Dense baseline và Recall@5 ban đầu</a:t>
                      </a:r>
                    </a:p>
                  </a:txBody>
                  <a:tcPr marL="91440" marR="91440" marT="45720" marB="45720">
                    <a:solidFill>
                      <a:srgbClr val="19282D"/>
                    </a:solidFill>
                  </a:tcPr>
                </a:tc>
              </a:tr>
              <a:tr h="642938">
                <a:tc>
                  <a:txBody>
                    <a:bodyPr/>
                    <a:lstStyle/>
                    <a:p>
                      <a:r>
                        <a:rPr sz="1800" b="0">
                          <a:solidFill>
                            <a:srgbClr val="F1EBDD"/>
                          </a:solidFill>
                          <a:latin typeface="Arial"/>
                          <a:ea typeface="Arial"/>
                          <a:cs typeface="Arial"/>
                        </a:rPr>
                        <a:t>4</a:t>
                      </a:r>
                    </a:p>
                  </a:txBody>
                  <a:tcPr marL="91440" marR="91440" marT="45720" marB="45720">
                    <a:solidFill>
                      <a:srgbClr val="203237"/>
                    </a:solidFill>
                  </a:tcPr>
                </a:tc>
                <a:tc>
                  <a:txBody>
                    <a:bodyPr/>
                    <a:lstStyle/>
                    <a:p>
                      <a:r>
                        <a:rPr sz="1800" b="0">
                          <a:solidFill>
                            <a:srgbClr val="F1EBDD"/>
                          </a:solidFill>
                          <a:latin typeface="Arial"/>
                          <a:ea typeface="Arial"/>
                          <a:cs typeface="Arial"/>
                        </a:rPr>
                        <a:t>09–15/11</a:t>
                      </a:r>
                    </a:p>
                  </a:txBody>
                  <a:tcPr marL="91440" marR="91440" marT="45720" marB="45720">
                    <a:solidFill>
                      <a:srgbClr val="203237"/>
                    </a:solidFill>
                  </a:tcPr>
                </a:tc>
                <a:tc>
                  <a:txBody>
                    <a:bodyPr/>
                    <a:lstStyle/>
                    <a:p>
                      <a:r>
                        <a:rPr sz="1800" b="0">
                          <a:solidFill>
                            <a:srgbClr val="F1EBDD"/>
                          </a:solidFill>
                          <a:latin typeface="Arial"/>
                          <a:ea typeface="Arial"/>
                          <a:cs typeface="Arial"/>
                        </a:rPr>
                        <a:t>BM25, hybrid và rerank</a:t>
                      </a:r>
                    </a:p>
                  </a:txBody>
                  <a:tcPr marL="91440" marR="91440" marT="45720" marB="45720">
                    <a:solidFill>
                      <a:srgbClr val="203237"/>
                    </a:solidFill>
                  </a:tcPr>
                </a:tc>
                <a:tc>
                  <a:txBody>
                    <a:bodyPr/>
                    <a:lstStyle/>
                    <a:p>
                      <a:r>
                        <a:rPr sz="1800" b="0">
                          <a:solidFill>
                            <a:srgbClr val="F1EBDD"/>
                          </a:solidFill>
                          <a:latin typeface="Arial"/>
                          <a:ea typeface="Arial"/>
                          <a:cs typeface="Arial"/>
                        </a:rPr>
                        <a:t>Bảng so sánh retrieval trên tập dev</a:t>
                      </a:r>
                    </a:p>
                  </a:txBody>
                  <a:tcPr marL="91440" marR="91440" marT="45720" marB="45720">
                    <a:solidFill>
                      <a:srgbClr val="203237"/>
                    </a:solidFill>
                  </a:tcPr>
                </a:tc>
              </a:tr>
              <a:tr h="642938">
                <a:tc>
                  <a:txBody>
                    <a:bodyPr/>
                    <a:lstStyle/>
                    <a:p>
                      <a:r>
                        <a:rPr sz="1800" b="0">
                          <a:solidFill>
                            <a:srgbClr val="F1EBDD"/>
                          </a:solidFill>
                          <a:latin typeface="Arial"/>
                          <a:ea typeface="Arial"/>
                          <a:cs typeface="Arial"/>
                        </a:rPr>
                        <a:t>5</a:t>
                      </a:r>
                    </a:p>
                  </a:txBody>
                  <a:tcPr marL="91440" marR="91440" marT="45720" marB="45720">
                    <a:solidFill>
                      <a:srgbClr val="19282D"/>
                    </a:solidFill>
                  </a:tcPr>
                </a:tc>
                <a:tc>
                  <a:txBody>
                    <a:bodyPr/>
                    <a:lstStyle/>
                    <a:p>
                      <a:r>
                        <a:rPr sz="1800" b="0">
                          <a:solidFill>
                            <a:srgbClr val="F1EBDD"/>
                          </a:solidFill>
                          <a:latin typeface="Arial"/>
                          <a:ea typeface="Arial"/>
                          <a:cs typeface="Arial"/>
                        </a:rPr>
                        <a:t>16–22/11</a:t>
                      </a:r>
                    </a:p>
                  </a:txBody>
                  <a:tcPr marL="91440" marR="91440" marT="45720" marB="45720">
                    <a:solidFill>
                      <a:srgbClr val="19282D"/>
                    </a:solidFill>
                  </a:tcPr>
                </a:tc>
                <a:tc>
                  <a:txBody>
                    <a:bodyPr/>
                    <a:lstStyle/>
                    <a:p>
                      <a:r>
                        <a:rPr sz="1800" b="0">
                          <a:solidFill>
                            <a:srgbClr val="F1EBDD"/>
                          </a:solidFill>
                          <a:latin typeface="Arial"/>
                          <a:ea typeface="Arial"/>
                          <a:cs typeface="Arial"/>
                        </a:rPr>
                        <a:t>Generation và API dùng chung</a:t>
                      </a:r>
                    </a:p>
                  </a:txBody>
                  <a:tcPr marL="91440" marR="91440" marT="45720" marB="45720">
                    <a:solidFill>
                      <a:srgbClr val="19282D"/>
                    </a:solidFill>
                  </a:tcPr>
                </a:tc>
                <a:tc>
                  <a:txBody>
                    <a:bodyPr/>
                    <a:lstStyle/>
                    <a:p>
                      <a:r>
                        <a:rPr sz="1800" b="0">
                          <a:solidFill>
                            <a:srgbClr val="F1EBDD"/>
                          </a:solidFill>
                          <a:latin typeface="Arial"/>
                          <a:ea typeface="Arial"/>
                          <a:cs typeface="Arial"/>
                        </a:rPr>
                        <a:t>Câu trả lời có nguồn, lưu hội thoại</a:t>
                      </a:r>
                    </a:p>
                  </a:txBody>
                  <a:tcPr marL="91440" marR="91440" marT="45720" marB="45720">
                    <a:solidFill>
                      <a:srgbClr val="19282D"/>
                    </a:solidFill>
                  </a:tcPr>
                </a:tc>
              </a:tr>
            </a:tbl>
          </a:graphicData>
        </a:graphic>
      </p:graphicFrame>
      <p:sp>
        <p:nvSpPr>
          <p:cNvPr id="4" name="">
            <a:extLst xmlns:a="http://schemas.openxmlformats.org/drawingml/2006/main">
              <a:ext uri="{FF2B5EF4-FFF2-40B4-BE49-F238E27FC236}">
                <a16:creationId xmlns:a16="http://schemas.microsoft.com/office/drawing/2014/main" id="{A1B6F825-0D39-4CC2-ABD0-B24D08D468D9}"/>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10</a:t>
            </a:r>
          </a:p>
        </p:txBody>
      </p:sp>
    </p:spTree>
    <p:extLst>
      <p:ext uri="{BB962C8B-B14F-4D97-AF65-F5344CB8AC3E}">
        <p14:creationId xmlns:p14="http://schemas.microsoft.com/office/powerpoint/2010/main" val="1289453126"/>
      </p:ext>
    </p:extLst>
  </p:cSld>
</p:sld>
</file>

<file path=ppt/slides/slide11.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552AEC2-1594-45CC-9F9E-B4719C2008F1}"/>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2627D972-FAF2-4084-B6DD-9B63EE408B45}"/>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Tích hợp và hoàn thành</a:t>
            </a:r>
          </a:p>
        </p:txBody>
      </p:sp>
      <p:graphicFrame>
        <p:nvGraphicFramePr>
          <p:cNvPr id="3" name="">
            <a:extLst xmlns:a="http://schemas.openxmlformats.org/drawingml/2006/main">
              <a:ext uri="{FF2B5EF4-FFF2-40B4-BE49-F238E27FC236}">
                <a16:creationId xmlns:a16="http://schemas.microsoft.com/office/drawing/2014/main" id="{5B2EF316-97D2-464A-AB7F-413203DD97C2}"/>
              </a:ext>
            </a:extLst>
          </p:cNvPr>
          <p:cNvGraphicFramePr/>
          <p:nvPr/>
        </p:nvGraphicFramePr>
        <p:xfrm>
          <a:off xmlns:a="http://schemas.openxmlformats.org/drawingml/2006/main" x="609600" y="1952625"/>
          <a:ext xmlns:a="http://schemas.openxmlformats.org/drawingml/2006/main" cx="10972800" cy="3619500"/>
        </p:xfrm>
        <a:graphic xmlns:a="http://schemas.openxmlformats.org/drawingml/2006/main">
          <a:graphicData uri="http://schemas.openxmlformats.org/drawingml/2006/table">
            <a:tbl>
              <a:tblPr/>
              <a:tblGrid>
                <a:gridCol w="762000"/>
                <a:gridCol w="1809750"/>
                <a:gridCol w="4000500"/>
                <a:gridCol w="4400550"/>
              </a:tblGrid>
              <a:tr h="723900">
                <a:tc>
                  <a:txBody>
                    <a:bodyPr/>
                    <a:lstStyle/>
                    <a:p>
                      <a:r>
                        <a:rPr sz="1800" b="1">
                          <a:solidFill>
                            <a:srgbClr val="D3B777"/>
                          </a:solidFill>
                          <a:latin typeface="Arial"/>
                          <a:ea typeface="Arial"/>
                          <a:cs typeface="Arial"/>
                        </a:rPr>
                        <a:t>Tuần</a:t>
                      </a:r>
                    </a:p>
                  </a:txBody>
                  <a:tcPr marL="91440" marR="91440" marT="45720" marB="45720">
                    <a:solidFill>
                      <a:srgbClr val="344344"/>
                    </a:solidFill>
                  </a:tcPr>
                </a:tc>
                <a:tc>
                  <a:txBody>
                    <a:bodyPr/>
                    <a:lstStyle/>
                    <a:p>
                      <a:r>
                        <a:rPr sz="1800" b="1">
                          <a:solidFill>
                            <a:srgbClr val="D3B777"/>
                          </a:solidFill>
                          <a:latin typeface="Arial"/>
                          <a:ea typeface="Arial"/>
                          <a:cs typeface="Arial"/>
                        </a:rPr>
                        <a:t>Thời gian</a:t>
                      </a:r>
                    </a:p>
                  </a:txBody>
                  <a:tcPr marL="91440" marR="91440" marT="45720" marB="45720">
                    <a:solidFill>
                      <a:srgbClr val="344344"/>
                    </a:solidFill>
                  </a:tcPr>
                </a:tc>
                <a:tc>
                  <a:txBody>
                    <a:bodyPr/>
                    <a:lstStyle/>
                    <a:p>
                      <a:r>
                        <a:rPr sz="1800" b="1">
                          <a:solidFill>
                            <a:srgbClr val="D3B777"/>
                          </a:solidFill>
                          <a:latin typeface="Arial"/>
                          <a:ea typeface="Arial"/>
                          <a:cs typeface="Arial"/>
                        </a:rPr>
                        <a:t>Trọng tâm</a:t>
                      </a:r>
                    </a:p>
                  </a:txBody>
                  <a:tcPr marL="91440" marR="91440" marT="45720" marB="45720">
                    <a:solidFill>
                      <a:srgbClr val="344344"/>
                    </a:solidFill>
                  </a:tcPr>
                </a:tc>
                <a:tc>
                  <a:txBody>
                    <a:bodyPr/>
                    <a:lstStyle/>
                    <a:p>
                      <a:r>
                        <a:rPr sz="1800" b="1">
                          <a:solidFill>
                            <a:srgbClr val="D3B777"/>
                          </a:solidFill>
                          <a:latin typeface="Arial"/>
                          <a:ea typeface="Arial"/>
                          <a:cs typeface="Arial"/>
                        </a:rPr>
                        <a:t>Đầu ra</a:t>
                      </a:r>
                    </a:p>
                  </a:txBody>
                  <a:tcPr marL="91440" marR="91440" marT="45720" marB="45720">
                    <a:solidFill>
                      <a:srgbClr val="344344"/>
                    </a:solidFill>
                  </a:tcPr>
                </a:tc>
              </a:tr>
              <a:tr h="723900">
                <a:tc>
                  <a:txBody>
                    <a:bodyPr/>
                    <a:lstStyle/>
                    <a:p>
                      <a:r>
                        <a:rPr sz="1800" b="0">
                          <a:solidFill>
                            <a:srgbClr val="F1EBDD"/>
                          </a:solidFill>
                          <a:latin typeface="Arial"/>
                          <a:ea typeface="Arial"/>
                          <a:cs typeface="Arial"/>
                        </a:rPr>
                        <a:t>6</a:t>
                      </a:r>
                    </a:p>
                  </a:txBody>
                  <a:tcPr marL="91440" marR="91440" marT="45720" marB="45720">
                    <a:solidFill>
                      <a:srgbClr val="19282D"/>
                    </a:solidFill>
                  </a:tcPr>
                </a:tc>
                <a:tc>
                  <a:txBody>
                    <a:bodyPr/>
                    <a:lstStyle/>
                    <a:p>
                      <a:r>
                        <a:rPr sz="1800" b="0">
                          <a:solidFill>
                            <a:srgbClr val="F1EBDD"/>
                          </a:solidFill>
                          <a:latin typeface="Arial"/>
                          <a:ea typeface="Arial"/>
                          <a:cs typeface="Arial"/>
                        </a:rPr>
                        <a:t>23–29/11</a:t>
                      </a:r>
                    </a:p>
                  </a:txBody>
                  <a:tcPr marL="91440" marR="91440" marT="45720" marB="45720">
                    <a:solidFill>
                      <a:srgbClr val="19282D"/>
                    </a:solidFill>
                  </a:tcPr>
                </a:tc>
                <a:tc>
                  <a:txBody>
                    <a:bodyPr/>
                    <a:lstStyle/>
                    <a:p>
                      <a:r>
                        <a:rPr sz="1800" b="0">
                          <a:solidFill>
                            <a:srgbClr val="F1EBDD"/>
                          </a:solidFill>
                          <a:latin typeface="Arial"/>
                          <a:ea typeface="Arial"/>
                          <a:cs typeface="Arial"/>
                        </a:rPr>
                        <a:t>Tích hợp web và Discord</a:t>
                      </a:r>
                    </a:p>
                  </a:txBody>
                  <a:tcPr marL="91440" marR="91440" marT="45720" marB="45720">
                    <a:solidFill>
                      <a:srgbClr val="19282D"/>
                    </a:solidFill>
                  </a:tcPr>
                </a:tc>
                <a:tc>
                  <a:txBody>
                    <a:bodyPr/>
                    <a:lstStyle/>
                    <a:p>
                      <a:r>
                        <a:rPr sz="1800" b="0">
                          <a:solidFill>
                            <a:srgbClr val="F1EBDD"/>
                          </a:solidFill>
                          <a:latin typeface="Arial"/>
                          <a:ea typeface="Arial"/>
                          <a:cs typeface="Arial"/>
                        </a:rPr>
                        <a:t>MVP chạy được trên cả hai kênh</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7</a:t>
                      </a:r>
                    </a:p>
                  </a:txBody>
                  <a:tcPr marL="91440" marR="91440" marT="45720" marB="45720">
                    <a:solidFill>
                      <a:srgbClr val="203237"/>
                    </a:solidFill>
                  </a:tcPr>
                </a:tc>
                <a:tc>
                  <a:txBody>
                    <a:bodyPr/>
                    <a:lstStyle/>
                    <a:p>
                      <a:r>
                        <a:rPr sz="1800" b="0">
                          <a:solidFill>
                            <a:srgbClr val="F1EBDD"/>
                          </a:solidFill>
                          <a:latin typeface="Arial"/>
                          <a:ea typeface="Arial"/>
                          <a:cs typeface="Arial"/>
                        </a:rPr>
                        <a:t>30/11–06/12</a:t>
                      </a:r>
                    </a:p>
                  </a:txBody>
                  <a:tcPr marL="91440" marR="91440" marT="45720" marB="45720">
                    <a:solidFill>
                      <a:srgbClr val="203237"/>
                    </a:solidFill>
                  </a:tcPr>
                </a:tc>
                <a:tc>
                  <a:txBody>
                    <a:bodyPr/>
                    <a:lstStyle/>
                    <a:p>
                      <a:r>
                        <a:rPr sz="1800" b="0">
                          <a:solidFill>
                            <a:srgbClr val="F1EBDD"/>
                          </a:solidFill>
                          <a:latin typeface="Arial"/>
                          <a:ea typeface="Arial"/>
                          <a:cs typeface="Arial"/>
                        </a:rPr>
                        <a:t>Đánh giá, phân tích lỗi</a:t>
                      </a:r>
                    </a:p>
                  </a:txBody>
                  <a:tcPr marL="91440" marR="91440" marT="45720" marB="45720">
                    <a:solidFill>
                      <a:srgbClr val="203237"/>
                    </a:solidFill>
                  </a:tcPr>
                </a:tc>
                <a:tc>
                  <a:txBody>
                    <a:bodyPr/>
                    <a:lstStyle/>
                    <a:p>
                      <a:r>
                        <a:rPr sz="1800" b="0">
                          <a:solidFill>
                            <a:srgbClr val="F1EBDD"/>
                          </a:solidFill>
                          <a:latin typeface="Arial"/>
                          <a:ea typeface="Arial"/>
                          <a:cs typeface="Arial"/>
                        </a:rPr>
                        <a:t>Bảng thí nghiệm, sửa lỗi theo nhóm</a:t>
                      </a:r>
                    </a:p>
                  </a:txBody>
                  <a:tcPr marL="91440" marR="91440" marT="45720" marB="45720">
                    <a:solidFill>
                      <a:srgbClr val="203237"/>
                    </a:solidFill>
                  </a:tcPr>
                </a:tc>
              </a:tr>
              <a:tr h="723900">
                <a:tc>
                  <a:txBody>
                    <a:bodyPr/>
                    <a:lstStyle/>
                    <a:p>
                      <a:r>
                        <a:rPr sz="1800" b="0">
                          <a:solidFill>
                            <a:srgbClr val="F1EBDD"/>
                          </a:solidFill>
                          <a:latin typeface="Arial"/>
                          <a:ea typeface="Arial"/>
                          <a:cs typeface="Arial"/>
                        </a:rPr>
                        <a:t>8</a:t>
                      </a:r>
                    </a:p>
                  </a:txBody>
                  <a:tcPr marL="91440" marR="91440" marT="45720" marB="45720">
                    <a:solidFill>
                      <a:srgbClr val="19282D"/>
                    </a:solidFill>
                  </a:tcPr>
                </a:tc>
                <a:tc>
                  <a:txBody>
                    <a:bodyPr/>
                    <a:lstStyle/>
                    <a:p>
                      <a:r>
                        <a:rPr sz="1800" b="0">
                          <a:solidFill>
                            <a:srgbClr val="F1EBDD"/>
                          </a:solidFill>
                          <a:latin typeface="Arial"/>
                          <a:ea typeface="Arial"/>
                          <a:cs typeface="Arial"/>
                        </a:rPr>
                        <a:t>07–13/12</a:t>
                      </a:r>
                    </a:p>
                  </a:txBody>
                  <a:tcPr marL="91440" marR="91440" marT="45720" marB="45720">
                    <a:solidFill>
                      <a:srgbClr val="19282D"/>
                    </a:solidFill>
                  </a:tcPr>
                </a:tc>
                <a:tc>
                  <a:txBody>
                    <a:bodyPr/>
                    <a:lstStyle/>
                    <a:p>
                      <a:r>
                        <a:rPr sz="1800" b="0">
                          <a:solidFill>
                            <a:srgbClr val="F1EBDD"/>
                          </a:solidFill>
                          <a:latin typeface="Arial"/>
                          <a:ea typeface="Arial"/>
                          <a:cs typeface="Arial"/>
                        </a:rPr>
                        <a:t>Docker deploy và kiểm thử người dùng</a:t>
                      </a:r>
                    </a:p>
                  </a:txBody>
                  <a:tcPr marL="91440" marR="91440" marT="45720" marB="45720">
                    <a:solidFill>
                      <a:srgbClr val="19282D"/>
                    </a:solidFill>
                  </a:tcPr>
                </a:tc>
                <a:tc>
                  <a:txBody>
                    <a:bodyPr/>
                    <a:lstStyle/>
                    <a:p>
                      <a:r>
                        <a:rPr sz="1800" b="0">
                          <a:solidFill>
                            <a:srgbClr val="F1EBDD"/>
                          </a:solidFill>
                          <a:latin typeface="Arial"/>
                          <a:ea typeface="Arial"/>
                          <a:cs typeface="Arial"/>
                        </a:rPr>
                        <a:t>Bản demo, feedback, bản sao lưu</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9</a:t>
                      </a:r>
                    </a:p>
                  </a:txBody>
                  <a:tcPr marL="91440" marR="91440" marT="45720" marB="45720">
                    <a:solidFill>
                      <a:srgbClr val="203237"/>
                    </a:solidFill>
                  </a:tcPr>
                </a:tc>
                <a:tc>
                  <a:txBody>
                    <a:bodyPr/>
                    <a:lstStyle/>
                    <a:p>
                      <a:r>
                        <a:rPr sz="1800" b="0">
                          <a:solidFill>
                            <a:srgbClr val="F1EBDD"/>
                          </a:solidFill>
                          <a:latin typeface="Arial"/>
                          <a:ea typeface="Arial"/>
                          <a:cs typeface="Arial"/>
                        </a:rPr>
                        <a:t>14–20/12</a:t>
                      </a:r>
                    </a:p>
                  </a:txBody>
                  <a:tcPr marL="91440" marR="91440" marT="45720" marB="45720">
                    <a:solidFill>
                      <a:srgbClr val="203237"/>
                    </a:solidFill>
                  </a:tcPr>
                </a:tc>
                <a:tc>
                  <a:txBody>
                    <a:bodyPr/>
                    <a:lstStyle/>
                    <a:p>
                      <a:r>
                        <a:rPr sz="1800" b="0">
                          <a:solidFill>
                            <a:srgbClr val="F1EBDD"/>
                          </a:solidFill>
                          <a:latin typeface="Arial"/>
                          <a:ea typeface="Arial"/>
                          <a:cs typeface="Arial"/>
                        </a:rPr>
                        <a:t>Ổn định và báo cáo cuối</a:t>
                      </a:r>
                    </a:p>
                  </a:txBody>
                  <a:tcPr marL="91440" marR="91440" marT="45720" marB="45720">
                    <a:solidFill>
                      <a:srgbClr val="203237"/>
                    </a:solidFill>
                  </a:tcPr>
                </a:tc>
                <a:tc>
                  <a:txBody>
                    <a:bodyPr/>
                    <a:lstStyle/>
                    <a:p>
                      <a:r>
                        <a:rPr sz="1800" b="0">
                          <a:solidFill>
                            <a:srgbClr val="F1EBDD"/>
                          </a:solidFill>
                          <a:latin typeface="Arial"/>
                          <a:ea typeface="Arial"/>
                          <a:cs typeface="Arial"/>
                        </a:rPr>
                        <a:t>Release, báo cáo, slide và video demo</a:t>
                      </a:r>
                    </a:p>
                  </a:txBody>
                  <a:tcPr marL="91440" marR="91440" marT="45720" marB="45720">
                    <a:solidFill>
                      <a:srgbClr val="203237"/>
                    </a:solidFill>
                  </a:tcPr>
                </a:tc>
              </a:tr>
            </a:tbl>
          </a:graphicData>
        </a:graphic>
      </p:graphicFrame>
      <p:sp>
        <p:nvSpPr>
          <p:cNvPr id="4" name="">
            <a:extLst xmlns:a="http://schemas.openxmlformats.org/drawingml/2006/main">
              <a:ext uri="{FF2B5EF4-FFF2-40B4-BE49-F238E27FC236}">
                <a16:creationId xmlns:a16="http://schemas.microsoft.com/office/drawing/2014/main" id="{4137960E-DF94-44B7-BE6E-66F890446CF4}"/>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11</a:t>
            </a:r>
          </a:p>
        </p:txBody>
      </p:sp>
    </p:spTree>
    <p:extLst>
      <p:ext uri="{BB962C8B-B14F-4D97-AF65-F5344CB8AC3E}">
        <p14:creationId xmlns:p14="http://schemas.microsoft.com/office/powerpoint/2010/main" val="1433897666"/>
      </p:ext>
    </p:extLst>
  </p:cSld>
</p:sld>
</file>

<file path=ppt/slides/slide12.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5F322CB-3AAC-4F1F-860C-8B02E01A9035}"/>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ED73ABC0-33D4-4391-BFCE-083B7AAC5637}"/>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Phân công nhóm 4 Hollows</a:t>
            </a:r>
          </a:p>
        </p:txBody>
      </p:sp>
      <p:graphicFrame>
        <p:nvGraphicFramePr>
          <p:cNvPr id="3" name="">
            <a:extLst xmlns:a="http://schemas.openxmlformats.org/drawingml/2006/main">
              <a:ext uri="{FF2B5EF4-FFF2-40B4-BE49-F238E27FC236}">
                <a16:creationId xmlns:a16="http://schemas.microsoft.com/office/drawing/2014/main" id="{BC6C4C68-4681-4714-8C9F-C633CBF25FC1}"/>
              </a:ext>
            </a:extLst>
          </p:cNvPr>
          <p:cNvGraphicFramePr/>
          <p:nvPr/>
        </p:nvGraphicFramePr>
        <p:xfrm>
          <a:off xmlns:a="http://schemas.openxmlformats.org/drawingml/2006/main" x="609600" y="1952625"/>
          <a:ext xmlns:a="http://schemas.openxmlformats.org/drawingml/2006/main" cx="10972800" cy="3619500"/>
        </p:xfrm>
        <a:graphic xmlns:a="http://schemas.openxmlformats.org/drawingml/2006/main">
          <a:graphicData uri="http://schemas.openxmlformats.org/drawingml/2006/table">
            <a:tbl>
              <a:tblPr/>
              <a:tblGrid>
                <a:gridCol w="2286000"/>
                <a:gridCol w="4191000"/>
                <a:gridCol w="4495800"/>
              </a:tblGrid>
              <a:tr h="723900">
                <a:tc>
                  <a:txBody>
                    <a:bodyPr/>
                    <a:lstStyle/>
                    <a:p>
                      <a:r>
                        <a:rPr sz="1800" b="1">
                          <a:solidFill>
                            <a:srgbClr val="D3B777"/>
                          </a:solidFill>
                          <a:latin typeface="Arial"/>
                          <a:ea typeface="Arial"/>
                          <a:cs typeface="Arial"/>
                        </a:rPr>
                        <a:t>Thành viên</a:t>
                      </a:r>
                    </a:p>
                  </a:txBody>
                  <a:tcPr marL="91440" marR="91440" marT="45720" marB="45720">
                    <a:solidFill>
                      <a:srgbClr val="344344"/>
                    </a:solidFill>
                  </a:tcPr>
                </a:tc>
                <a:tc>
                  <a:txBody>
                    <a:bodyPr/>
                    <a:lstStyle/>
                    <a:p>
                      <a:r>
                        <a:rPr sz="1800" b="1">
                          <a:solidFill>
                            <a:srgbClr val="D3B777"/>
                          </a:solidFill>
                          <a:latin typeface="Arial"/>
                          <a:ea typeface="Arial"/>
                          <a:cs typeface="Arial"/>
                        </a:rPr>
                        <a:t>Phụ trách chính</a:t>
                      </a:r>
                    </a:p>
                  </a:txBody>
                  <a:tcPr marL="91440" marR="91440" marT="45720" marB="45720">
                    <a:solidFill>
                      <a:srgbClr val="344344"/>
                    </a:solidFill>
                  </a:tcPr>
                </a:tc>
                <a:tc>
                  <a:txBody>
                    <a:bodyPr/>
                    <a:lstStyle/>
                    <a:p>
                      <a:r>
                        <a:rPr sz="1800" b="1">
                          <a:solidFill>
                            <a:srgbClr val="D3B777"/>
                          </a:solidFill>
                          <a:latin typeface="Arial"/>
                          <a:ea typeface="Arial"/>
                          <a:cs typeface="Arial"/>
                        </a:rPr>
                        <a:t>Đầu ra chịu trách nhiệm</a:t>
                      </a:r>
                    </a:p>
                  </a:txBody>
                  <a:tcPr marL="91440" marR="91440" marT="45720" marB="45720">
                    <a:solidFill>
                      <a:srgbClr val="344344"/>
                    </a:solidFill>
                  </a:tcPr>
                </a:tc>
              </a:tr>
              <a:tr h="723900">
                <a:tc>
                  <a:txBody>
                    <a:bodyPr/>
                    <a:lstStyle/>
                    <a:p>
                      <a:r>
                        <a:rPr sz="1800" b="0">
                          <a:solidFill>
                            <a:srgbClr val="F1EBDD"/>
                          </a:solidFill>
                          <a:latin typeface="Arial"/>
                          <a:ea typeface="Arial"/>
                          <a:cs typeface="Arial"/>
                        </a:rPr>
                        <a:t>TV1</a:t>
                      </a:r>
                    </a:p>
                    <a:p>
                      <a:r>
                        <a:rPr sz="1800" b="0">
                          <a:solidFill>
                            <a:srgbClr val="F1EBDD"/>
                          </a:solidFill>
                          <a:latin typeface="Arial"/>
                          <a:ea typeface="Arial"/>
                          <a:cs typeface="Arial"/>
                        </a:rPr>
                        <a:t>Hoanbucon</a:t>
                      </a:r>
                    </a:p>
                  </a:txBody>
                  <a:tcPr marL="91440" marR="91440" marT="45720" marB="45720">
                    <a:solidFill>
                      <a:srgbClr val="19282D"/>
                    </a:solidFill>
                  </a:tcPr>
                </a:tc>
                <a:tc>
                  <a:txBody>
                    <a:bodyPr/>
                    <a:lstStyle/>
                    <a:p>
                      <a:r>
                        <a:rPr sz="1800" b="0">
                          <a:solidFill>
                            <a:srgbClr val="F1EBDD"/>
                          </a:solidFill>
                          <a:latin typeface="Arial"/>
                          <a:ea typeface="Arial"/>
                          <a:cs typeface="Arial"/>
                        </a:rPr>
                        <a:t>Lead, backend, DevOps</a:t>
                      </a:r>
                    </a:p>
                  </a:txBody>
                  <a:tcPr marL="91440" marR="91440" marT="45720" marB="45720">
                    <a:solidFill>
                      <a:srgbClr val="19282D"/>
                    </a:solidFill>
                  </a:tcPr>
                </a:tc>
                <a:tc>
                  <a:txBody>
                    <a:bodyPr/>
                    <a:lstStyle/>
                    <a:p>
                      <a:r>
                        <a:rPr sz="1800" b="0">
                          <a:solidFill>
                            <a:srgbClr val="F1EBDD"/>
                          </a:solidFill>
                          <a:latin typeface="Arial"/>
                          <a:ea typeface="Arial"/>
                          <a:cs typeface="Arial"/>
                        </a:rPr>
                        <a:t>API, DB, Docker, tích hợp và deploy</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TV2</a:t>
                      </a:r>
                    </a:p>
                    <a:p>
                      <a:r>
                        <a:rPr sz="1800" b="0">
                          <a:solidFill>
                            <a:srgbClr val="F1EBDD"/>
                          </a:solidFill>
                          <a:latin typeface="Arial"/>
                          <a:ea typeface="Arial"/>
                          <a:cs typeface="Arial"/>
                        </a:rPr>
                        <a:t>UncleThing</a:t>
                      </a:r>
                    </a:p>
                  </a:txBody>
                  <a:tcPr marL="91440" marR="91440" marT="45720" marB="45720">
                    <a:solidFill>
                      <a:srgbClr val="203237"/>
                    </a:solidFill>
                  </a:tcPr>
                </a:tc>
                <a:tc>
                  <a:txBody>
                    <a:bodyPr/>
                    <a:lstStyle/>
                    <a:p>
                      <a:r>
                        <a:rPr sz="1800" b="0">
                          <a:solidFill>
                            <a:srgbClr val="F1EBDD"/>
                          </a:solidFill>
                          <a:latin typeface="Arial"/>
                          <a:ea typeface="Arial"/>
                          <a:cs typeface="Arial"/>
                        </a:rPr>
                        <a:t>Dữ liệu</a:t>
                      </a:r>
                    </a:p>
                  </a:txBody>
                  <a:tcPr marL="91440" marR="91440" marT="45720" marB="45720">
                    <a:solidFill>
                      <a:srgbClr val="203237"/>
                    </a:solidFill>
                  </a:tcPr>
                </a:tc>
                <a:tc>
                  <a:txBody>
                    <a:bodyPr/>
                    <a:lstStyle/>
                    <a:p>
                      <a:r>
                        <a:rPr sz="1800" b="0">
                          <a:solidFill>
                            <a:srgbClr val="F1EBDD"/>
                          </a:solidFill>
                          <a:latin typeface="Arial"/>
                          <a:ea typeface="Arial"/>
                          <a:cs typeface="Arial"/>
                        </a:rPr>
                        <a:t>Khảo sát nguồn, crawler, corpus sạch</a:t>
                      </a:r>
                    </a:p>
                  </a:txBody>
                  <a:tcPr marL="91440" marR="91440" marT="45720" marB="45720">
                    <a:solidFill>
                      <a:srgbClr val="203237"/>
                    </a:solidFill>
                  </a:tcPr>
                </a:tc>
              </a:tr>
              <a:tr h="723900">
                <a:tc>
                  <a:txBody>
                    <a:bodyPr/>
                    <a:lstStyle/>
                    <a:p>
                      <a:r>
                        <a:rPr sz="1800" b="0">
                          <a:solidFill>
                            <a:srgbClr val="F1EBDD"/>
                          </a:solidFill>
                          <a:latin typeface="Arial"/>
                          <a:ea typeface="Arial"/>
                          <a:cs typeface="Arial"/>
                        </a:rPr>
                        <a:t>TV3</a:t>
                      </a:r>
                    </a:p>
                    <a:p>
                      <a:r>
                        <a:rPr sz="1800" b="0">
                          <a:solidFill>
                            <a:srgbClr val="F1EBDD"/>
                          </a:solidFill>
                          <a:latin typeface="Arial"/>
                          <a:ea typeface="Arial"/>
                          <a:cs typeface="Arial"/>
                        </a:rPr>
                        <a:t>MinhMuc</a:t>
                      </a:r>
                    </a:p>
                  </a:txBody>
                  <a:tcPr marL="91440" marR="91440" marT="45720" marB="45720">
                    <a:solidFill>
                      <a:srgbClr val="19282D"/>
                    </a:solidFill>
                  </a:tcPr>
                </a:tc>
                <a:tc>
                  <a:txBody>
                    <a:bodyPr/>
                    <a:lstStyle/>
                    <a:p>
                      <a:r>
                        <a:rPr sz="1800" b="0">
                          <a:solidFill>
                            <a:srgbClr val="F1EBDD"/>
                          </a:solidFill>
                          <a:latin typeface="Arial"/>
                          <a:ea typeface="Arial"/>
                          <a:cs typeface="Arial"/>
                        </a:rPr>
                        <a:t>RAG và đánh giá</a:t>
                      </a:r>
                    </a:p>
                  </a:txBody>
                  <a:tcPr marL="91440" marR="91440" marT="45720" marB="45720">
                    <a:solidFill>
                      <a:srgbClr val="19282D"/>
                    </a:solidFill>
                  </a:tcPr>
                </a:tc>
                <a:tc>
                  <a:txBody>
                    <a:bodyPr/>
                    <a:lstStyle/>
                    <a:p>
                      <a:r>
                        <a:rPr sz="1800" b="0">
                          <a:solidFill>
                            <a:srgbClr val="F1EBDD"/>
                          </a:solidFill>
                          <a:latin typeface="Arial"/>
                          <a:ea typeface="Arial"/>
                          <a:cs typeface="Arial"/>
                        </a:rPr>
                        <a:t>Retrieval, generation, thí nghiệm</a:t>
                      </a:r>
                    </a:p>
                  </a:txBody>
                  <a:tcPr marL="91440" marR="91440" marT="45720" marB="45720">
                    <a:solidFill>
                      <a:srgbClr val="19282D"/>
                    </a:solidFill>
                  </a:tcPr>
                </a:tc>
              </a:tr>
              <a:tr h="723900">
                <a:tc>
                  <a:txBody>
                    <a:bodyPr/>
                    <a:lstStyle/>
                    <a:p>
                      <a:r>
                        <a:rPr sz="1800" b="0">
                          <a:solidFill>
                            <a:srgbClr val="F1EBDD"/>
                          </a:solidFill>
                          <a:latin typeface="Arial"/>
                          <a:ea typeface="Arial"/>
                          <a:cs typeface="Arial"/>
                        </a:rPr>
                        <a:t>TV4</a:t>
                      </a:r>
                    </a:p>
                    <a:p>
                      <a:r>
                        <a:rPr sz="1800" b="0">
                          <a:solidFill>
                            <a:srgbClr val="F1EBDD"/>
                          </a:solidFill>
                          <a:latin typeface="Arial"/>
                          <a:ea typeface="Arial"/>
                          <a:cs typeface="Arial"/>
                        </a:rPr>
                        <a:t>QuyVuiVe</a:t>
                      </a:r>
                    </a:p>
                  </a:txBody>
                  <a:tcPr marL="91440" marR="91440" marT="45720" marB="45720">
                    <a:solidFill>
                      <a:srgbClr val="203237"/>
                    </a:solidFill>
                  </a:tcPr>
                </a:tc>
                <a:tc>
                  <a:txBody>
                    <a:bodyPr/>
                    <a:lstStyle/>
                    <a:p>
                      <a:r>
                        <a:rPr sz="1800" b="0">
                          <a:solidFill>
                            <a:srgbClr val="F1EBDD"/>
                          </a:solidFill>
                          <a:latin typeface="Arial"/>
                          <a:ea typeface="Arial"/>
                          <a:cs typeface="Arial"/>
                        </a:rPr>
                        <a:t>Web và Discord</a:t>
                      </a:r>
                    </a:p>
                  </a:txBody>
                  <a:tcPr marL="91440" marR="91440" marT="45720" marB="45720">
                    <a:solidFill>
                      <a:srgbClr val="203237"/>
                    </a:solidFill>
                  </a:tcPr>
                </a:tc>
                <a:tc>
                  <a:txBody>
                    <a:bodyPr/>
                    <a:lstStyle/>
                    <a:p>
                      <a:r>
                        <a:rPr sz="1800" b="0">
                          <a:solidFill>
                            <a:srgbClr val="F1EBDD"/>
                          </a:solidFill>
                          <a:latin typeface="Arial"/>
                          <a:ea typeface="Arial"/>
                          <a:cs typeface="Arial"/>
                        </a:rPr>
                        <a:t>Giao diện, /ask, phản hồi người dùng</a:t>
                      </a:r>
                    </a:p>
                  </a:txBody>
                  <a:tcPr marL="91440" marR="91440" marT="45720" marB="45720">
                    <a:solidFill>
                      <a:srgbClr val="203237"/>
                    </a:solidFill>
                  </a:tcPr>
                </a:tc>
              </a:tr>
            </a:tbl>
          </a:graphicData>
        </a:graphic>
      </p:graphicFrame>
      <p:sp>
        <p:nvSpPr>
          <p:cNvPr id="4" name="">
            <a:extLst xmlns:a="http://schemas.openxmlformats.org/drawingml/2006/main">
              <a:ext uri="{FF2B5EF4-FFF2-40B4-BE49-F238E27FC236}">
                <a16:creationId xmlns:a16="http://schemas.microsoft.com/office/drawing/2014/main" id="{C1304FF8-584C-4EE7-9AF0-BF77EFA51F0C}"/>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12</a:t>
            </a:r>
          </a:p>
        </p:txBody>
      </p:sp>
    </p:spTree>
    <p:extLst>
      <p:ext uri="{BB962C8B-B14F-4D97-AF65-F5344CB8AC3E}">
        <p14:creationId xmlns:p14="http://schemas.microsoft.com/office/powerpoint/2010/main" val="847833429"/>
      </p:ext>
    </p:extLst>
  </p:cSld>
</p:sld>
</file>

<file path=ppt/slides/slide13.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BE08717-7767-4A01-9B50-441AA49AF552}"/>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6862EE38-66C6-4523-8569-F60F07B5D87C}"/>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Đầu ra cần hoàn tất tuần này</a:t>
            </a:r>
          </a:p>
        </p:txBody>
      </p:sp>
      <p:sp>
        <p:nvSpPr>
          <p:cNvPr id="3" name="">
            <a:extLst xmlns:a="http://schemas.openxmlformats.org/drawingml/2006/main">
              <a:ext uri="{FF2B5EF4-FFF2-40B4-BE49-F238E27FC236}">
                <a16:creationId xmlns:a16="http://schemas.microsoft.com/office/drawing/2014/main" id="{9DEA777D-F153-45B4-8A52-E67DD40331E4}"/>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1A04FCAF-2ABE-402E-AF5F-F482BA1EFB38}"/>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Hoanbucon (TV1): phiếu đăng ký, đề cương bài toán, repo và bảng phân công.</a:t>
            </a:r>
          </a:p>
        </p:txBody>
      </p:sp>
      <p:sp>
        <p:nvSpPr>
          <p:cNvPr id="5" name="">
            <a:extLst xmlns:a="http://schemas.openxmlformats.org/drawingml/2006/main">
              <a:ext uri="{FF2B5EF4-FFF2-40B4-BE49-F238E27FC236}">
                <a16:creationId xmlns:a16="http://schemas.microsoft.com/office/drawing/2014/main" id="{DA4639BE-5160-45C5-96CB-2AD3631CF995}"/>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493D96B6-BB76-4C6A-89B9-954F998A9A4A}"/>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UncleThing (TV2): bảng nguồn dữ liệu, 20–30 trang mẫu, báo cáo truy cập và giấy phép.</a:t>
            </a:r>
          </a:p>
        </p:txBody>
      </p:sp>
      <p:sp>
        <p:nvSpPr>
          <p:cNvPr id="7" name="">
            <a:extLst xmlns:a="http://schemas.openxmlformats.org/drawingml/2006/main">
              <a:ext uri="{FF2B5EF4-FFF2-40B4-BE49-F238E27FC236}">
                <a16:creationId xmlns:a16="http://schemas.microsoft.com/office/drawing/2014/main" id="{F69D8163-8E88-4850-9513-A97D4571BD0F}"/>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AFC983CA-00F1-418C-96FE-D6DD72335EF9}"/>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MinhMuc (TV3): bảng survey, 30 câu hỏi mẫu, thiết kế baseline và metric.</a:t>
            </a:r>
          </a:p>
        </p:txBody>
      </p:sp>
      <p:sp>
        <p:nvSpPr>
          <p:cNvPr id="9" name="">
            <a:extLst xmlns:a="http://schemas.openxmlformats.org/drawingml/2006/main">
              <a:ext uri="{FF2B5EF4-FFF2-40B4-BE49-F238E27FC236}">
                <a16:creationId xmlns:a16="http://schemas.microsoft.com/office/drawing/2014/main" id="{39C16FCB-7B25-43FA-867B-06ACBEF8672E}"/>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BB8919AF-079E-4B68-8C4D-C22D2746CD02}"/>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QuyVuiVe (TV4): wireframe web, luồng /ask, tổng hợp slide và kịch bản demo.</a:t>
            </a:r>
          </a:p>
        </p:txBody>
      </p:sp>
      <p:sp>
        <p:nvSpPr>
          <p:cNvPr id="11" name="">
            <a:extLst xmlns:a="http://schemas.openxmlformats.org/drawingml/2006/main">
              <a:ext uri="{FF2B5EF4-FFF2-40B4-BE49-F238E27FC236}">
                <a16:creationId xmlns:a16="http://schemas.microsoft.com/office/drawing/2014/main" id="{94DAAB6B-1429-45EF-B874-0379D7C56413}"/>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13</a:t>
            </a:r>
          </a:p>
        </p:txBody>
      </p:sp>
    </p:spTree>
    <p:extLst>
      <p:ext uri="{BB962C8B-B14F-4D97-AF65-F5344CB8AC3E}">
        <p14:creationId xmlns:p14="http://schemas.microsoft.com/office/powerpoint/2010/main" val="1440004451"/>
      </p:ext>
    </p:extLst>
  </p:cSld>
</p:sld>
</file>

<file path=ppt/slides/slide14.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678C4BD-E924-4CE2-82F0-121456ED6DD6}"/>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29A93A1B-845F-4598-BE5F-BA32E87EA7F7}"/>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Rủi ro và tiêu chí hoàn thành</a:t>
            </a:r>
          </a:p>
        </p:txBody>
      </p:sp>
      <p:sp>
        <p:nvSpPr>
          <p:cNvPr id="3" name="">
            <a:extLst xmlns:a="http://schemas.openxmlformats.org/drawingml/2006/main">
              <a:ext uri="{FF2B5EF4-FFF2-40B4-BE49-F238E27FC236}">
                <a16:creationId xmlns:a16="http://schemas.microsoft.com/office/drawing/2014/main" id="{F1C0BE80-AABF-484F-81DE-25A1C4DDA61F}"/>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E8DC5FB6-F87B-46C1-9378-A555D7E5A4BC}"/>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Nguồn khó truy cập: dùng corpus mẫu đã được phép và lưu bản thô có nguồn.</a:t>
            </a:r>
          </a:p>
        </p:txBody>
      </p:sp>
      <p:sp>
        <p:nvSpPr>
          <p:cNvPr id="5" name="">
            <a:extLst xmlns:a="http://schemas.openxmlformats.org/drawingml/2006/main">
              <a:ext uri="{FF2B5EF4-FFF2-40B4-BE49-F238E27FC236}">
                <a16:creationId xmlns:a16="http://schemas.microsoft.com/office/drawing/2014/main" id="{AE08F1E7-BC64-4D64-9BC3-45E4749F72A6}"/>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0FF8EC62-8550-409C-889B-4FDC024DE3EC}"/>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Retrieval yếu: kiểm tra dữ liệu, chunk và lỗi truy vấn trước khi tăng độ phức tạp.</a:t>
            </a:r>
          </a:p>
        </p:txBody>
      </p:sp>
      <p:sp>
        <p:nvSpPr>
          <p:cNvPr id="7" name="">
            <a:extLst xmlns:a="http://schemas.openxmlformats.org/drawingml/2006/main">
              <a:ext uri="{FF2B5EF4-FFF2-40B4-BE49-F238E27FC236}">
                <a16:creationId xmlns:a16="http://schemas.microsoft.com/office/drawing/2014/main" id="{5FCE11D2-6730-4CFB-A8EB-C3FD49EA26D8}"/>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4776540A-79D6-4F32-8367-078B95A107CE}"/>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Model chậm hoặc tốn phí: giảm ngữ cảnh, đo token và chọn cấu hình phù hợp.</a:t>
            </a:r>
          </a:p>
        </p:txBody>
      </p:sp>
      <p:sp>
        <p:nvSpPr>
          <p:cNvPr id="9" name="">
            <a:extLst xmlns:a="http://schemas.openxmlformats.org/drawingml/2006/main">
              <a:ext uri="{FF2B5EF4-FFF2-40B4-BE49-F238E27FC236}">
                <a16:creationId xmlns:a16="http://schemas.microsoft.com/office/drawing/2014/main" id="{44F71D08-AAEB-43C6-8951-9AF3F716C025}"/>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0920B903-4DCD-497B-9228-3B1A280A28D3}"/>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Hoàn thành: demo hai kênh, có nguồn kiểm chứng và báo cáo so sánh tái lập được.</a:t>
            </a:r>
          </a:p>
        </p:txBody>
      </p:sp>
      <p:sp>
        <p:nvSpPr>
          <p:cNvPr id="11" name="">
            <a:extLst xmlns:a="http://schemas.openxmlformats.org/drawingml/2006/main">
              <a:ext uri="{FF2B5EF4-FFF2-40B4-BE49-F238E27FC236}">
                <a16:creationId xmlns:a16="http://schemas.microsoft.com/office/drawing/2014/main" id="{B4E18AD3-8254-4C16-A50D-7529C0ACAAF2}"/>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14</a:t>
            </a:r>
          </a:p>
        </p:txBody>
      </p:sp>
    </p:spTree>
    <p:extLst>
      <p:ext uri="{BB962C8B-B14F-4D97-AF65-F5344CB8AC3E}">
        <p14:creationId xmlns:p14="http://schemas.microsoft.com/office/powerpoint/2010/main" val="395431649"/>
      </p:ext>
    </p:extLst>
  </p:cSld>
</p:sld>
</file>

<file path=ppt/slides/slide15.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03E0EC-3D14-4614-8CA9-5EC259BE8199}"/>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65580B24-E26F-430A-B97F-D6647E4D4727}"/>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Phụ lục khảo sát và nguồn đọc</a:t>
            </a:r>
          </a:p>
        </p:txBody>
      </p:sp>
      <p:sp>
        <p:nvSpPr>
          <p:cNvPr id="3" name="">
            <a:extLst xmlns:a="http://schemas.openxmlformats.org/drawingml/2006/main">
              <a:ext uri="{FF2B5EF4-FFF2-40B4-BE49-F238E27FC236}">
                <a16:creationId xmlns:a16="http://schemas.microsoft.com/office/drawing/2014/main" id="{4F75B56A-1892-4DB4-9196-805C0F51553A}"/>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535333D9-C9AC-469E-AA2C-550254065CBF}"/>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Lewis et al. (2020): RAG và đối chứng với mô hình chỉ dùng tham số.</a:t>
            </a:r>
          </a:p>
        </p:txBody>
      </p:sp>
      <p:sp>
        <p:nvSpPr>
          <p:cNvPr id="5" name="">
            <a:extLst xmlns:a="http://schemas.openxmlformats.org/drawingml/2006/main">
              <a:ext uri="{FF2B5EF4-FFF2-40B4-BE49-F238E27FC236}">
                <a16:creationId xmlns:a16="http://schemas.microsoft.com/office/drawing/2014/main" id="{AD42C09F-5361-4BBF-8FF5-35A210B96A72}"/>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B7F7F059-1AF4-4A86-8EFA-44AD78BAFC08}"/>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Multilingual E5: embedding đa ngôn ngữ, cách chuẩn bị query và passage.</a:t>
            </a:r>
          </a:p>
        </p:txBody>
      </p:sp>
      <p:sp>
        <p:nvSpPr>
          <p:cNvPr id="7" name="">
            <a:extLst xmlns:a="http://schemas.openxmlformats.org/drawingml/2006/main">
              <a:ext uri="{FF2B5EF4-FFF2-40B4-BE49-F238E27FC236}">
                <a16:creationId xmlns:a16="http://schemas.microsoft.com/office/drawing/2014/main" id="{CB8D08F2-391F-46D3-90B0-E2A0DED6D183}"/>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E1F56719-BD4C-40F3-9570-7FE8998306AC}"/>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Qdrant Query API: hybrid, fusion và cách đánh chỉ mục.</a:t>
            </a:r>
          </a:p>
        </p:txBody>
      </p:sp>
      <p:sp>
        <p:nvSpPr>
          <p:cNvPr id="9" name="">
            <a:extLst xmlns:a="http://schemas.openxmlformats.org/drawingml/2006/main">
              <a:ext uri="{FF2B5EF4-FFF2-40B4-BE49-F238E27FC236}">
                <a16:creationId xmlns:a16="http://schemas.microsoft.com/office/drawing/2014/main" id="{301E31BC-A197-49ED-9525-42AE5EA026ED}"/>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E177E418-0115-41D1-A135-D7E8A6BABB11}"/>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Mẫu survey: nguồn, bài toán, phương pháp, dữ liệu, metric, hạn chế, cách áp dụng.</a:t>
            </a:r>
          </a:p>
        </p:txBody>
      </p:sp>
      <p:sp>
        <p:nvSpPr>
          <p:cNvPr id="11" name="">
            <a:extLst xmlns:a="http://schemas.openxmlformats.org/drawingml/2006/main">
              <a:ext uri="{FF2B5EF4-FFF2-40B4-BE49-F238E27FC236}">
                <a16:creationId xmlns:a16="http://schemas.microsoft.com/office/drawing/2014/main" id="{9E1FD3B1-AB8B-4840-8D9D-D919E0E903B7}"/>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15</a:t>
            </a:r>
          </a:p>
        </p:txBody>
      </p:sp>
    </p:spTree>
    <p:extLst>
      <p:ext uri="{BB962C8B-B14F-4D97-AF65-F5344CB8AC3E}">
        <p14:creationId xmlns:p14="http://schemas.microsoft.com/office/powerpoint/2010/main" val="417022901"/>
      </p:ext>
    </p:extLst>
  </p:cSld>
</p:sld>
</file>

<file path=ppt/slides/slide16.xml><?xml version="1.0" encoding="utf-8"?>
<p:sld xmlns:p="http://schemas.openxmlformats.org/presentationml/2006/main">
  <p:cSld>
    <p:bg>
      <p:bgPr>
        <a:solidFill xmlns:a="http://schemas.openxmlformats.org/drawingml/2006/main">
          <a:srgbClr val="111C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5FE1A99-359B-41C3-9EAD-091CC95CBE46}"/>
              </a:ext>
            </a:extLst>
          </p:cNvPr>
          <p:cNvSpPr>
            <a:spLocks xmlns:a="http://schemas.openxmlformats.org/drawingml/2006/main" noGrp="1"/>
          </p:cNvSpPr>
          <p:nvPr/>
        </p:nvSpPr>
        <p:spPr>
          <a:xfrm xmlns:a="http://schemas.openxmlformats.org/drawingml/2006/main">
            <a:off x="609600" y="285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D3B777"/>
                </a:solidFill>
                <a:latin typeface="Arial"/>
                <a:ea typeface="Arial"/>
                <a:cs typeface="Arial"/>
              </a:defRPr>
            </a:defPPr>
            <a:lvl1pPr>
              <a:defRPr sz="1350" b="0">
                <a:solidFill>
                  <a:srgbClr val="D3B777"/>
                </a:solidFill>
                <a:latin typeface="Arial"/>
                <a:ea typeface="Arial"/>
                <a:cs typeface="Arial"/>
              </a:defRPr>
            </a:lvl1pPr>
            <a:lvl2pPr>
              <a:defRPr sz="1350" b="0">
                <a:solidFill>
                  <a:srgbClr val="D3B777"/>
                </a:solidFill>
                <a:latin typeface="Arial"/>
                <a:ea typeface="Arial"/>
                <a:cs typeface="Arial"/>
              </a:defRPr>
            </a:lvl2pPr>
            <a:lvl3pPr>
              <a:defRPr sz="1350" b="0">
                <a:solidFill>
                  <a:srgbClr val="D3B777"/>
                </a:solidFill>
                <a:latin typeface="Arial"/>
                <a:ea typeface="Arial"/>
                <a:cs typeface="Arial"/>
              </a:defRPr>
            </a:lvl3pPr>
            <a:lvl4pPr>
              <a:defRPr sz="1350" b="0">
                <a:solidFill>
                  <a:srgbClr val="D3B777"/>
                </a:solidFill>
                <a:latin typeface="Arial"/>
                <a:ea typeface="Arial"/>
                <a:cs typeface="Arial"/>
              </a:defRPr>
            </a:lvl4pPr>
            <a:lvl5pPr>
              <a:defRPr sz="1350" b="0">
                <a:solidFill>
                  <a:srgbClr val="D3B777"/>
                </a:solidFill>
                <a:latin typeface="Arial"/>
                <a:ea typeface="Arial"/>
                <a:cs typeface="Arial"/>
              </a:defRPr>
            </a:lvl5pPr>
            <a:lvl6pPr>
              <a:defRPr sz="1350" b="0">
                <a:solidFill>
                  <a:srgbClr val="D3B777"/>
                </a:solidFill>
                <a:latin typeface="Arial"/>
                <a:ea typeface="Arial"/>
                <a:cs typeface="Arial"/>
              </a:defRPr>
            </a:lvl6pPr>
            <a:lvl7pPr>
              <a:defRPr sz="1350" b="0">
                <a:solidFill>
                  <a:srgbClr val="D3B777"/>
                </a:solidFill>
                <a:latin typeface="Arial"/>
                <a:ea typeface="Arial"/>
                <a:cs typeface="Arial"/>
              </a:defRPr>
            </a:lvl7pPr>
            <a:lvl8pPr>
              <a:defRPr sz="1350" b="0">
                <a:solidFill>
                  <a:srgbClr val="D3B777"/>
                </a:solidFill>
                <a:latin typeface="Arial"/>
                <a:ea typeface="Arial"/>
                <a:cs typeface="Arial"/>
              </a:defRPr>
            </a:lvl8pPr>
            <a:lvl9pPr>
              <a:defRPr sz="1350" b="0">
                <a:solidFill>
                  <a:srgbClr val="D3B777"/>
                </a:solidFill>
                <a:latin typeface="Arial"/>
                <a:ea typeface="Arial"/>
                <a:cs typeface="Arial"/>
              </a:defRPr>
            </a:lvl9pPr>
          </a:lstStyle>
          <a:p xmlns:a="http://schemas.openxmlformats.org/drawingml/2006/main">
            <a:pPr>
              <a:defRPr sz="1350" b="0">
                <a:solidFill>
                  <a:srgbClr val="D3B777"/>
                </a:solidFill>
                <a:latin typeface="Arial"/>
                <a:ea typeface="Arial"/>
                <a:cs typeface="Arial"/>
              </a:defRPr>
            </a:pPr>
            <a:r>
              <a:rPr sz="1350" b="0">
                <a:solidFill>
                  <a:srgbClr val="D3B777"/>
                </a:solidFill>
                <a:latin typeface="Arial"/>
                <a:ea typeface="Arial"/>
                <a:cs typeface="Arial"/>
              </a:rPr>
              <a:t>4 HOLLOWS   /   NLP</a:t>
            </a:r>
          </a:p>
        </p:txBody>
      </p:sp>
      <p:sp>
        <p:nvSpPr>
          <p:cNvPr id="2" name="">
            <a:extLst xmlns:a="http://schemas.openxmlformats.org/drawingml/2006/main">
              <a:ext uri="{FF2B5EF4-FFF2-40B4-BE49-F238E27FC236}">
                <a16:creationId xmlns:a16="http://schemas.microsoft.com/office/drawing/2014/main" id="{EE4538A9-97A7-4BA0-B5C6-6C3A2514F18D}"/>
              </a:ext>
            </a:extLst>
          </p:cNvPr>
          <p:cNvSpPr>
            <a:spLocks xmlns:a="http://schemas.openxmlformats.org/drawingml/2006/main" noGrp="1"/>
          </p:cNvSpPr>
          <p:nvPr/>
        </p:nvSpPr>
        <p:spPr>
          <a:xfrm xmlns:a="http://schemas.openxmlformats.org/drawingml/2006/main">
            <a:off x="609600" y="80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1EBDD"/>
                </a:solidFill>
                <a:latin typeface="Arial"/>
                <a:ea typeface="Arial"/>
                <a:cs typeface="Arial"/>
              </a:defRPr>
            </a:defPPr>
            <a:lvl1pPr>
              <a:defRPr sz="3300" b="1">
                <a:solidFill>
                  <a:srgbClr val="F1EBDD"/>
                </a:solidFill>
                <a:latin typeface="Arial"/>
                <a:ea typeface="Arial"/>
                <a:cs typeface="Arial"/>
              </a:defRPr>
            </a:lvl1pPr>
            <a:lvl2pPr>
              <a:defRPr sz="3300" b="1">
                <a:solidFill>
                  <a:srgbClr val="F1EBDD"/>
                </a:solidFill>
                <a:latin typeface="Arial"/>
                <a:ea typeface="Arial"/>
                <a:cs typeface="Arial"/>
              </a:defRPr>
            </a:lvl2pPr>
            <a:lvl3pPr>
              <a:defRPr sz="3300" b="1">
                <a:solidFill>
                  <a:srgbClr val="F1EBDD"/>
                </a:solidFill>
                <a:latin typeface="Arial"/>
                <a:ea typeface="Arial"/>
                <a:cs typeface="Arial"/>
              </a:defRPr>
            </a:lvl3pPr>
            <a:lvl4pPr>
              <a:defRPr sz="3300" b="1">
                <a:solidFill>
                  <a:srgbClr val="F1EBDD"/>
                </a:solidFill>
                <a:latin typeface="Arial"/>
                <a:ea typeface="Arial"/>
                <a:cs typeface="Arial"/>
              </a:defRPr>
            </a:lvl4pPr>
            <a:lvl5pPr>
              <a:defRPr sz="3300" b="1">
                <a:solidFill>
                  <a:srgbClr val="F1EBDD"/>
                </a:solidFill>
                <a:latin typeface="Arial"/>
                <a:ea typeface="Arial"/>
                <a:cs typeface="Arial"/>
              </a:defRPr>
            </a:lvl5pPr>
            <a:lvl6pPr>
              <a:defRPr sz="3300" b="1">
                <a:solidFill>
                  <a:srgbClr val="F1EBDD"/>
                </a:solidFill>
                <a:latin typeface="Arial"/>
                <a:ea typeface="Arial"/>
                <a:cs typeface="Arial"/>
              </a:defRPr>
            </a:lvl6pPr>
            <a:lvl7pPr>
              <a:defRPr sz="3300" b="1">
                <a:solidFill>
                  <a:srgbClr val="F1EBDD"/>
                </a:solidFill>
                <a:latin typeface="Arial"/>
                <a:ea typeface="Arial"/>
                <a:cs typeface="Arial"/>
              </a:defRPr>
            </a:lvl7pPr>
            <a:lvl8pPr>
              <a:defRPr sz="3300" b="1">
                <a:solidFill>
                  <a:srgbClr val="F1EBDD"/>
                </a:solidFill>
                <a:latin typeface="Arial"/>
                <a:ea typeface="Arial"/>
                <a:cs typeface="Arial"/>
              </a:defRPr>
            </a:lvl8pPr>
            <a:lvl9pPr>
              <a:defRPr sz="3300" b="1">
                <a:solidFill>
                  <a:srgbClr val="F1EBDD"/>
                </a:solidFill>
                <a:latin typeface="Arial"/>
                <a:ea typeface="Arial"/>
                <a:cs typeface="Arial"/>
              </a:defRPr>
            </a:lvl9pPr>
          </a:lstStyle>
          <a:p xmlns:a="http://schemas.openxmlformats.org/drawingml/2006/main">
            <a:pPr>
              <a:defRPr sz="3300" b="1">
                <a:solidFill>
                  <a:srgbClr val="F1EBDD"/>
                </a:solidFill>
                <a:latin typeface="Arial"/>
                <a:ea typeface="Arial"/>
                <a:cs typeface="Arial"/>
              </a:defRPr>
            </a:pPr>
            <a:r>
              <a:rPr sz="3300" b="1">
                <a:solidFill>
                  <a:srgbClr val="F1EBDD"/>
                </a:solidFill>
                <a:latin typeface="Arial"/>
                <a:ea typeface="Arial"/>
                <a:cs typeface="Arial"/>
              </a:rPr>
              <a:t>Phụ lục hỏi đáp với giảng viên</a:t>
            </a:r>
          </a:p>
        </p:txBody>
      </p:sp>
      <p:sp>
        <p:nvSpPr>
          <p:cNvPr id="3" name="">
            <a:extLst xmlns:a="http://schemas.openxmlformats.org/drawingml/2006/main">
              <a:ext uri="{FF2B5EF4-FFF2-40B4-BE49-F238E27FC236}">
                <a16:creationId xmlns:a16="http://schemas.microsoft.com/office/drawing/2014/main" id="{211E8FCD-797D-4F2C-AC83-40CADB6A3315}"/>
              </a:ext>
            </a:extLst>
          </p:cNvPr>
          <p:cNvSpPr>
            <a:spLocks xmlns:a="http://schemas.openxmlformats.org/drawingml/2006/main" noGrp="1"/>
          </p:cNvSpPr>
          <p:nvPr/>
        </p:nvSpPr>
        <p:spPr>
          <a:xfrm xmlns:a="http://schemas.openxmlformats.org/drawingml/2006/main">
            <a:off x="609600" y="20478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6D177A75-5605-46F6-87FC-AEC009DDCCEA}"/>
              </a:ext>
            </a:extLst>
          </p:cNvPr>
          <p:cNvSpPr>
            <a:spLocks xmlns:a="http://schemas.openxmlformats.org/drawingml/2006/main" noGrp="1"/>
          </p:cNvSpPr>
          <p:nvPr/>
        </p:nvSpPr>
        <p:spPr>
          <a:xfrm xmlns:a="http://schemas.openxmlformats.org/drawingml/2006/main">
            <a:off x="1285875" y="200025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“Điểm NLP nằm ở đâu?” Ở retrieval đa ngôn ngữ, chunking và thí nghiệm đối chứng.</a:t>
            </a:r>
          </a:p>
        </p:txBody>
      </p:sp>
      <p:sp>
        <p:nvSpPr>
          <p:cNvPr id="5" name="">
            <a:extLst xmlns:a="http://schemas.openxmlformats.org/drawingml/2006/main">
              <a:ext uri="{FF2B5EF4-FFF2-40B4-BE49-F238E27FC236}">
                <a16:creationId xmlns:a16="http://schemas.microsoft.com/office/drawing/2014/main" id="{EB8DB549-2179-49EC-B51A-1A7D7DC35498}"/>
              </a:ext>
            </a:extLst>
          </p:cNvPr>
          <p:cNvSpPr>
            <a:spLocks xmlns:a="http://schemas.openxmlformats.org/drawingml/2006/main" noGrp="1"/>
          </p:cNvSpPr>
          <p:nvPr/>
        </p:nvSpPr>
        <p:spPr>
          <a:xfrm xmlns:a="http://schemas.openxmlformats.org/drawingml/2006/main">
            <a:off x="609600" y="304800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440345E1-BCC3-4038-A0F6-D68C538D9F2E}"/>
              </a:ext>
            </a:extLst>
          </p:cNvPr>
          <p:cNvSpPr>
            <a:spLocks xmlns:a="http://schemas.openxmlformats.org/drawingml/2006/main" noGrp="1"/>
          </p:cNvSpPr>
          <p:nvPr/>
        </p:nvSpPr>
        <p:spPr>
          <a:xfrm xmlns:a="http://schemas.openxmlformats.org/drawingml/2006/main">
            <a:off x="1285875" y="300037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“Sao không chỉ dùng LLM?” Nhóm đo thêm khả năng bám nguồn và kiểm chứng câu trả lời.</a:t>
            </a:r>
          </a:p>
        </p:txBody>
      </p:sp>
      <p:sp>
        <p:nvSpPr>
          <p:cNvPr id="7" name="">
            <a:extLst xmlns:a="http://schemas.openxmlformats.org/drawingml/2006/main">
              <a:ext uri="{FF2B5EF4-FFF2-40B4-BE49-F238E27FC236}">
                <a16:creationId xmlns:a16="http://schemas.microsoft.com/office/drawing/2014/main" id="{9C28A200-A268-423E-9DD4-6390D0C70D40}"/>
              </a:ext>
            </a:extLst>
          </p:cNvPr>
          <p:cNvSpPr>
            <a:spLocks xmlns:a="http://schemas.openxmlformats.org/drawingml/2006/main" noGrp="1"/>
          </p:cNvSpPr>
          <p:nvPr/>
        </p:nvSpPr>
        <p:spPr>
          <a:xfrm xmlns:a="http://schemas.openxmlformats.org/drawingml/2006/main">
            <a:off x="609600" y="40481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8227B27E-11BD-4F58-A34B-039712A35BA6}"/>
              </a:ext>
            </a:extLst>
          </p:cNvPr>
          <p:cNvSpPr>
            <a:spLocks xmlns:a="http://schemas.openxmlformats.org/drawingml/2006/main" noGrp="1"/>
          </p:cNvSpPr>
          <p:nvPr/>
        </p:nvSpPr>
        <p:spPr>
          <a:xfrm xmlns:a="http://schemas.openxmlformats.org/drawingml/2006/main">
            <a:off x="1285875" y="4000500"/>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“Dữ liệu đã có chưa?” Đang khảo sát, tuần 1 bàn giao mẫu cùng thông tin nguồn.</a:t>
            </a:r>
          </a:p>
        </p:txBody>
      </p:sp>
      <p:sp>
        <p:nvSpPr>
          <p:cNvPr id="9" name="">
            <a:extLst xmlns:a="http://schemas.openxmlformats.org/drawingml/2006/main">
              <a:ext uri="{FF2B5EF4-FFF2-40B4-BE49-F238E27FC236}">
                <a16:creationId xmlns:a16="http://schemas.microsoft.com/office/drawing/2014/main" id="{5EA84567-6AAE-4204-95BE-B446DBE3054F}"/>
              </a:ext>
            </a:extLst>
          </p:cNvPr>
          <p:cNvSpPr>
            <a:spLocks xmlns:a="http://schemas.openxmlformats.org/drawingml/2006/main" noGrp="1"/>
          </p:cNvSpPr>
          <p:nvPr/>
        </p:nvSpPr>
        <p:spPr>
          <a:xfrm xmlns:a="http://schemas.openxmlformats.org/drawingml/2006/main">
            <a:off x="609600" y="5048250"/>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3B777"/>
                </a:solidFill>
                <a:latin typeface="Arial"/>
                <a:ea typeface="Arial"/>
                <a:cs typeface="Arial"/>
              </a:defRPr>
            </a:defPPr>
            <a:lvl1pPr>
              <a:defRPr sz="1800" b="1">
                <a:solidFill>
                  <a:srgbClr val="D3B777"/>
                </a:solidFill>
                <a:latin typeface="Arial"/>
                <a:ea typeface="Arial"/>
                <a:cs typeface="Arial"/>
              </a:defRPr>
            </a:lvl1pPr>
            <a:lvl2pPr>
              <a:defRPr sz="1800" b="1">
                <a:solidFill>
                  <a:srgbClr val="D3B777"/>
                </a:solidFill>
                <a:latin typeface="Arial"/>
                <a:ea typeface="Arial"/>
                <a:cs typeface="Arial"/>
              </a:defRPr>
            </a:lvl2pPr>
            <a:lvl3pPr>
              <a:defRPr sz="1800" b="1">
                <a:solidFill>
                  <a:srgbClr val="D3B777"/>
                </a:solidFill>
                <a:latin typeface="Arial"/>
                <a:ea typeface="Arial"/>
                <a:cs typeface="Arial"/>
              </a:defRPr>
            </a:lvl3pPr>
            <a:lvl4pPr>
              <a:defRPr sz="1800" b="1">
                <a:solidFill>
                  <a:srgbClr val="D3B777"/>
                </a:solidFill>
                <a:latin typeface="Arial"/>
                <a:ea typeface="Arial"/>
                <a:cs typeface="Arial"/>
              </a:defRPr>
            </a:lvl4pPr>
            <a:lvl5pPr>
              <a:defRPr sz="1800" b="1">
                <a:solidFill>
                  <a:srgbClr val="D3B777"/>
                </a:solidFill>
                <a:latin typeface="Arial"/>
                <a:ea typeface="Arial"/>
                <a:cs typeface="Arial"/>
              </a:defRPr>
            </a:lvl5pPr>
            <a:lvl6pPr>
              <a:defRPr sz="1800" b="1">
                <a:solidFill>
                  <a:srgbClr val="D3B777"/>
                </a:solidFill>
                <a:latin typeface="Arial"/>
                <a:ea typeface="Arial"/>
                <a:cs typeface="Arial"/>
              </a:defRPr>
            </a:lvl6pPr>
            <a:lvl7pPr>
              <a:defRPr sz="1800" b="1">
                <a:solidFill>
                  <a:srgbClr val="D3B777"/>
                </a:solidFill>
                <a:latin typeface="Arial"/>
                <a:ea typeface="Arial"/>
                <a:cs typeface="Arial"/>
              </a:defRPr>
            </a:lvl7pPr>
            <a:lvl8pPr>
              <a:defRPr sz="1800" b="1">
                <a:solidFill>
                  <a:srgbClr val="D3B777"/>
                </a:solidFill>
                <a:latin typeface="Arial"/>
                <a:ea typeface="Arial"/>
                <a:cs typeface="Arial"/>
              </a:defRPr>
            </a:lvl8pPr>
            <a:lvl9pPr>
              <a:defRPr sz="1800" b="1">
                <a:solidFill>
                  <a:srgbClr val="D3B777"/>
                </a:solidFill>
                <a:latin typeface="Arial"/>
                <a:ea typeface="Arial"/>
                <a:cs typeface="Arial"/>
              </a:defRPr>
            </a:lvl9pPr>
          </a:lstStyle>
          <a:p xmlns:a="http://schemas.openxmlformats.org/drawingml/2006/main">
            <a:pPr>
              <a:defRPr sz="1800" b="1">
                <a:solidFill>
                  <a:srgbClr val="D3B777"/>
                </a:solidFill>
                <a:latin typeface="Arial"/>
                <a:ea typeface="Arial"/>
                <a:cs typeface="Arial"/>
              </a:defRPr>
            </a:pPr>
            <a:r>
              <a:rPr sz="1800" b="1">
                <a:solidFill>
                  <a:srgbClr val="D3B777"/>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6878FE4F-F3C8-484A-BC75-EAE2EFC298B1}"/>
              </a:ext>
            </a:extLst>
          </p:cNvPr>
          <p:cNvSpPr>
            <a:spLocks xmlns:a="http://schemas.openxmlformats.org/drawingml/2006/main" noGrp="1"/>
          </p:cNvSpPr>
          <p:nvPr/>
        </p:nvSpPr>
        <p:spPr>
          <a:xfrm xmlns:a="http://schemas.openxmlformats.org/drawingml/2006/main">
            <a:off x="1285875" y="5000625"/>
            <a:ext cx="1009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1EBDD"/>
                </a:solidFill>
                <a:latin typeface="Arial"/>
                <a:ea typeface="Arial"/>
                <a:cs typeface="Arial"/>
              </a:defRPr>
            </a:defPPr>
            <a:lvl1pPr>
              <a:defRPr sz="2175" b="0">
                <a:solidFill>
                  <a:srgbClr val="F1EBDD"/>
                </a:solidFill>
                <a:latin typeface="Arial"/>
                <a:ea typeface="Arial"/>
                <a:cs typeface="Arial"/>
              </a:defRPr>
            </a:lvl1pPr>
            <a:lvl2pPr>
              <a:defRPr sz="2175" b="0">
                <a:solidFill>
                  <a:srgbClr val="F1EBDD"/>
                </a:solidFill>
                <a:latin typeface="Arial"/>
                <a:ea typeface="Arial"/>
                <a:cs typeface="Arial"/>
              </a:defRPr>
            </a:lvl2pPr>
            <a:lvl3pPr>
              <a:defRPr sz="2175" b="0">
                <a:solidFill>
                  <a:srgbClr val="F1EBDD"/>
                </a:solidFill>
                <a:latin typeface="Arial"/>
                <a:ea typeface="Arial"/>
                <a:cs typeface="Arial"/>
              </a:defRPr>
            </a:lvl3pPr>
            <a:lvl4pPr>
              <a:defRPr sz="2175" b="0">
                <a:solidFill>
                  <a:srgbClr val="F1EBDD"/>
                </a:solidFill>
                <a:latin typeface="Arial"/>
                <a:ea typeface="Arial"/>
                <a:cs typeface="Arial"/>
              </a:defRPr>
            </a:lvl4pPr>
            <a:lvl5pPr>
              <a:defRPr sz="2175" b="0">
                <a:solidFill>
                  <a:srgbClr val="F1EBDD"/>
                </a:solidFill>
                <a:latin typeface="Arial"/>
                <a:ea typeface="Arial"/>
                <a:cs typeface="Arial"/>
              </a:defRPr>
            </a:lvl5pPr>
            <a:lvl6pPr>
              <a:defRPr sz="2175" b="0">
                <a:solidFill>
                  <a:srgbClr val="F1EBDD"/>
                </a:solidFill>
                <a:latin typeface="Arial"/>
                <a:ea typeface="Arial"/>
                <a:cs typeface="Arial"/>
              </a:defRPr>
            </a:lvl6pPr>
            <a:lvl7pPr>
              <a:defRPr sz="2175" b="0">
                <a:solidFill>
                  <a:srgbClr val="F1EBDD"/>
                </a:solidFill>
                <a:latin typeface="Arial"/>
                <a:ea typeface="Arial"/>
                <a:cs typeface="Arial"/>
              </a:defRPr>
            </a:lvl7pPr>
            <a:lvl8pPr>
              <a:defRPr sz="2175" b="0">
                <a:solidFill>
                  <a:srgbClr val="F1EBDD"/>
                </a:solidFill>
                <a:latin typeface="Arial"/>
                <a:ea typeface="Arial"/>
                <a:cs typeface="Arial"/>
              </a:defRPr>
            </a:lvl8pPr>
            <a:lvl9pPr>
              <a:defRPr sz="2175" b="0">
                <a:solidFill>
                  <a:srgbClr val="F1EBDD"/>
                </a:solidFill>
                <a:latin typeface="Arial"/>
                <a:ea typeface="Arial"/>
                <a:cs typeface="Arial"/>
              </a:defRPr>
            </a:lvl9pPr>
          </a:lstStyle>
          <a:p xmlns:a="http://schemas.openxmlformats.org/drawingml/2006/main">
            <a:pPr>
              <a:defRPr sz="2175" b="0">
                <a:solidFill>
                  <a:srgbClr val="F1EBDD"/>
                </a:solidFill>
                <a:latin typeface="Arial"/>
                <a:ea typeface="Arial"/>
                <a:cs typeface="Arial"/>
              </a:defRPr>
            </a:pPr>
            <a:r>
              <a:rPr sz="2175" b="0">
                <a:solidFill>
                  <a:srgbClr val="F1EBDD"/>
                </a:solidFill>
                <a:latin typeface="Arial"/>
                <a:ea typeface="Arial"/>
                <a:cs typeface="Arial"/>
              </a:rPr>
              <a:t>“Có kịp 9 tuần?” Baseline tuần 3, MVP tuần 6, dành 3 tuần cho đánh giá và hoàn thiện.</a:t>
            </a:r>
          </a:p>
        </p:txBody>
      </p:sp>
      <p:sp>
        <p:nvSpPr>
          <p:cNvPr id="11" name="">
            <a:extLst xmlns:a="http://schemas.openxmlformats.org/drawingml/2006/main">
              <a:ext uri="{FF2B5EF4-FFF2-40B4-BE49-F238E27FC236}">
                <a16:creationId xmlns:a16="http://schemas.microsoft.com/office/drawing/2014/main" id="{0D9950CB-56E2-4A82-B7CF-83251C3A28E5}"/>
              </a:ext>
            </a:extLst>
          </p:cNvPr>
          <p:cNvSpPr>
            <a:spLocks xmlns:a="http://schemas.openxmlformats.org/drawingml/2006/main" noGrp="1"/>
          </p:cNvSpPr>
          <p:nvPr/>
        </p:nvSpPr>
        <p:spPr>
          <a:xfrm xmlns:a="http://schemas.openxmlformats.org/drawingml/2006/main">
            <a:off x="609600" y="6438900"/>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C7C5"/>
                </a:solidFill>
                <a:latin typeface="Arial"/>
                <a:ea typeface="Arial"/>
                <a:cs typeface="Arial"/>
              </a:defRPr>
            </a:defPPr>
            <a:lvl1pPr>
              <a:defRPr sz="1200" b="0">
                <a:solidFill>
                  <a:srgbClr val="BDC7C5"/>
                </a:solidFill>
                <a:latin typeface="Arial"/>
                <a:ea typeface="Arial"/>
                <a:cs typeface="Arial"/>
              </a:defRPr>
            </a:lvl1pPr>
            <a:lvl2pPr>
              <a:defRPr sz="1200" b="0">
                <a:solidFill>
                  <a:srgbClr val="BDC7C5"/>
                </a:solidFill>
                <a:latin typeface="Arial"/>
                <a:ea typeface="Arial"/>
                <a:cs typeface="Arial"/>
              </a:defRPr>
            </a:lvl2pPr>
            <a:lvl3pPr>
              <a:defRPr sz="1200" b="0">
                <a:solidFill>
                  <a:srgbClr val="BDC7C5"/>
                </a:solidFill>
                <a:latin typeface="Arial"/>
                <a:ea typeface="Arial"/>
                <a:cs typeface="Arial"/>
              </a:defRPr>
            </a:lvl3pPr>
            <a:lvl4pPr>
              <a:defRPr sz="1200" b="0">
                <a:solidFill>
                  <a:srgbClr val="BDC7C5"/>
                </a:solidFill>
                <a:latin typeface="Arial"/>
                <a:ea typeface="Arial"/>
                <a:cs typeface="Arial"/>
              </a:defRPr>
            </a:lvl4pPr>
            <a:lvl5pPr>
              <a:defRPr sz="1200" b="0">
                <a:solidFill>
                  <a:srgbClr val="BDC7C5"/>
                </a:solidFill>
                <a:latin typeface="Arial"/>
                <a:ea typeface="Arial"/>
                <a:cs typeface="Arial"/>
              </a:defRPr>
            </a:lvl5pPr>
            <a:lvl6pPr>
              <a:defRPr sz="1200" b="0">
                <a:solidFill>
                  <a:srgbClr val="BDC7C5"/>
                </a:solidFill>
                <a:latin typeface="Arial"/>
                <a:ea typeface="Arial"/>
                <a:cs typeface="Arial"/>
              </a:defRPr>
            </a:lvl6pPr>
            <a:lvl7pPr>
              <a:defRPr sz="1200" b="0">
                <a:solidFill>
                  <a:srgbClr val="BDC7C5"/>
                </a:solidFill>
                <a:latin typeface="Arial"/>
                <a:ea typeface="Arial"/>
                <a:cs typeface="Arial"/>
              </a:defRPr>
            </a:lvl7pPr>
            <a:lvl8pPr>
              <a:defRPr sz="1200" b="0">
                <a:solidFill>
                  <a:srgbClr val="BDC7C5"/>
                </a:solidFill>
                <a:latin typeface="Arial"/>
                <a:ea typeface="Arial"/>
                <a:cs typeface="Arial"/>
              </a:defRPr>
            </a:lvl8pPr>
            <a:lvl9pPr>
              <a:defRPr sz="1200" b="0">
                <a:solidFill>
                  <a:srgbClr val="BDC7C5"/>
                </a:solidFill>
                <a:latin typeface="Arial"/>
                <a:ea typeface="Arial"/>
                <a:cs typeface="Arial"/>
              </a:defRPr>
            </a:lvl9pPr>
          </a:lstStyle>
          <a:p xmlns:a="http://schemas.openxmlformats.org/drawingml/2006/main">
            <a:pPr>
              <a:defRPr sz="1200" b="0">
                <a:solidFill>
                  <a:srgbClr val="BDC7C5"/>
                </a:solidFill>
                <a:latin typeface="Arial"/>
                <a:ea typeface="Arial"/>
                <a:cs typeface="Arial"/>
              </a:defRPr>
            </a:pPr>
            <a:r>
              <a:rPr sz="1200" b="0">
                <a:solidFill>
                  <a:srgbClr val="BDC7C5"/>
                </a:solidFill>
                <a:latin typeface="Arial"/>
                <a:ea typeface="Arial"/>
                <a:cs typeface="Arial"/>
              </a:rPr>
              <a:t>16</a:t>
            </a:r>
          </a:p>
        </p:txBody>
      </p:sp>
    </p:spTree>
    <p:extLst>
      <p:ext uri="{BB962C8B-B14F-4D97-AF65-F5344CB8AC3E}">
        <p14:creationId xmlns:p14="http://schemas.microsoft.com/office/powerpoint/2010/main" val="10187972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2026-10-19T13:59:48.3580000Z</dcterms:created>
  <dcterms:modified xsi:type="dcterms:W3CDTF">2026-10-19T13:59:48.3580000Z</dcterms:modified>
</coreProperties>
</file>